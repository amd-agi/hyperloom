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b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128016"/>
            <a:ext cx="10241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E9EDF2"/>
                </a:solidFill>
                <a:latin typeface="Microsoft YaHei"/>
                <a:ea typeface="Microsoft YaHei"/>
              </a:rPr>
              <a:t>Enablement · 成本审计 — 为「让模型能启动」反复付费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475488"/>
            <a:ext cx="11274552" cy="18288"/>
          </a:xfrm>
          <a:prstGeom prst="rect">
            <a:avLst/>
          </a:prstGeom>
          <a:solidFill>
            <a:srgbClr val="2A33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502920"/>
            <a:ext cx="10058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D8A66A"/>
                </a:solidFill>
                <a:latin typeface="Consolas"/>
                <a:ea typeface="Microsoft YaHei"/>
              </a:rPr>
              <a:t>42/151 会话动用 enablement</a:t>
            </a:r>
            <a:r>
              <a:rPr sz="900" b="1">
                <a:solidFill>
                  <a:srgbClr val="7A8497"/>
                </a:solidFill>
                <a:latin typeface="Consolas"/>
                <a:ea typeface="Microsoft YaHei"/>
              </a:rPr>
              <a:t>  ·  </a:t>
            </a:r>
            <a:r>
              <a:rPr sz="900" b="1">
                <a:solidFill>
                  <a:srgbClr val="E9EDF2"/>
                </a:solidFill>
                <a:latin typeface="Consolas"/>
                <a:ea typeface="Microsoft YaHei"/>
              </a:rPr>
              <a:t>域内 $1,956 · 155 次运行</a:t>
            </a:r>
            <a:r>
              <a:rPr sz="900" b="1">
                <a:solidFill>
                  <a:srgbClr val="7A8497"/>
                </a:solidFill>
                <a:latin typeface="Consolas"/>
                <a:ea typeface="Microsoft YaHei"/>
              </a:rPr>
              <a:t>  ·  </a:t>
            </a:r>
            <a:r>
              <a:rPr sz="900" b="1">
                <a:solidFill>
                  <a:srgbClr val="D8A66A"/>
                </a:solidFill>
                <a:latin typeface="Consolas"/>
                <a:ea typeface="Microsoft YaHei"/>
              </a:rPr>
              <a:t>连带 20 个会话 $1,768 零增益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2560" y="91440"/>
            <a:ext cx="267919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0">
                <a:solidFill>
                  <a:srgbClr val="7A8497"/>
                </a:solidFill>
                <a:latin typeface="Consolas"/>
                <a:ea typeface="Microsoft YaHei"/>
              </a:rPr>
              <a:t>sbd 99417–99735 · 153 ready · MI355X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786384"/>
            <a:ext cx="5532120" cy="1316736"/>
          </a:xfrm>
          <a:prstGeom prst="roundRect">
            <a:avLst>
              <a:gd name="adj" fmla="val 4166"/>
            </a:avLst>
          </a:prstGeom>
          <a:solidFill>
            <a:srgbClr val="0E141E"/>
          </a:solidFill>
          <a:ln w="9525">
            <a:solidFill>
              <a:srgbClr val="1E28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905256"/>
            <a:ext cx="5166359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80" b="1">
                <a:solidFill>
                  <a:srgbClr val="D8A66A"/>
                </a:solidFill>
                <a:latin typeface="Consolas"/>
                <a:ea typeface="Microsoft YaHei"/>
              </a:rPr>
              <a:t>触发面 · COVERAGE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097280"/>
            <a:ext cx="27432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>
                <a:solidFill>
                  <a:srgbClr val="D8A66A"/>
                </a:solidFill>
                <a:latin typeface="Consolas"/>
                <a:ea typeface="Microsoft YaHei"/>
              </a:rPr>
              <a:t>42</a:t>
            </a:r>
            <a:r>
              <a:rPr sz="1500" b="1">
                <a:solidFill>
                  <a:srgbClr val="7A8497"/>
                </a:solidFill>
                <a:latin typeface="Consolas"/>
                <a:ea typeface="Microsoft YaHei"/>
              </a:rPr>
              <a:t> / 151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29000" y="1133856"/>
            <a:ext cx="2377439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>
                <a:solidFill>
                  <a:srgbClr val="C7D0DC"/>
                </a:solidFill>
                <a:latin typeface="Microsoft YaHei"/>
                <a:ea typeface="Microsoft YaHei"/>
              </a:rPr>
              <a:t>27.8% 的会话动用了 enablement。它不做性能优化,只负责让模型先能启动 —— 而这本应是镜像与默认配置的职责。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1719072"/>
            <a:ext cx="5166359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0">
                <a:solidFill>
                  <a:srgbClr val="7A8497"/>
                </a:solidFill>
                <a:latin typeface="Microsoft YaHei"/>
                <a:ea typeface="Microsoft YaHei"/>
              </a:rPr>
              <a:t>10 个独立信号取并集;强证据(真的派发过轮次或跑过 specialist)35 个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99632" y="786384"/>
            <a:ext cx="5532120" cy="1316736"/>
          </a:xfrm>
          <a:prstGeom prst="roundRect">
            <a:avLst>
              <a:gd name="adj" fmla="val 4166"/>
            </a:avLst>
          </a:prstGeom>
          <a:solidFill>
            <a:srgbClr val="0E141E"/>
          </a:solidFill>
          <a:ln w="9525">
            <a:solidFill>
              <a:srgbClr val="1E28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82512" y="905256"/>
            <a:ext cx="5166359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80" b="1">
                <a:solidFill>
                  <a:srgbClr val="D8A66A"/>
                </a:solidFill>
                <a:latin typeface="Consolas"/>
                <a:ea typeface="Microsoft YaHei"/>
              </a:rPr>
              <a:t>代价 · COST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82512" y="1097280"/>
            <a:ext cx="24688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D8A66A"/>
                </a:solidFill>
                <a:latin typeface="Consolas"/>
                <a:ea typeface="Microsoft YaHei"/>
              </a:rPr>
              <a:t>$1,956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42832" y="1097280"/>
            <a:ext cx="26517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D8A66A"/>
                </a:solidFill>
                <a:latin typeface="Consolas"/>
                <a:ea typeface="Microsoft YaHei"/>
              </a:rPr>
              <a:t>+ $1,768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82512" y="1609344"/>
            <a:ext cx="246888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00" b="0">
                <a:solidFill>
                  <a:srgbClr val="7A8497"/>
                </a:solidFill>
                <a:latin typeface="Microsoft YaHei"/>
                <a:ea typeface="Microsoft YaHei"/>
              </a:rPr>
              <a:t>enablement 域自身花费</a:t>
            </a:r>
          </a:p>
          <a:p>
            <a:pPr algn="l">
              <a:lnSpc>
                <a:spcPct val="115000"/>
              </a:lnSpc>
            </a:pPr>
            <a:r>
              <a:rPr sz="700" b="0">
                <a:solidFill>
                  <a:srgbClr val="7A8497"/>
                </a:solidFill>
                <a:latin typeface="Consolas"/>
                <a:ea typeface="Microsoft YaHei"/>
              </a:rPr>
              <a:t>155 次运行 · 281 个提案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42832" y="1609344"/>
            <a:ext cx="265176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00" b="0">
                <a:solidFill>
                  <a:srgbClr val="7A8497"/>
                </a:solidFill>
                <a:latin typeface="Microsoft YaHei"/>
                <a:ea typeface="Microsoft YaHei"/>
              </a:rPr>
              <a:t>被它拖住的 20 个会话</a:t>
            </a:r>
          </a:p>
          <a:p>
            <a:pPr algn="l">
              <a:lnSpc>
                <a:spcPct val="115000"/>
              </a:lnSpc>
            </a:pPr>
            <a:r>
              <a:rPr sz="700" b="1">
                <a:solidFill>
                  <a:srgbClr val="D8A66A"/>
                </a:solidFill>
                <a:latin typeface="Consolas"/>
                <a:ea typeface="Microsoft YaHei"/>
              </a:rPr>
              <a:t>变体 0 · 增益 0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2231136"/>
            <a:ext cx="11274552" cy="1554480"/>
          </a:xfrm>
          <a:prstGeom prst="roundRect">
            <a:avLst>
              <a:gd name="adj" fmla="val 3529"/>
            </a:avLst>
          </a:prstGeom>
          <a:solidFill>
            <a:srgbClr val="0E141E"/>
          </a:solidFill>
          <a:ln w="9525">
            <a:solidFill>
              <a:srgbClr val="1E28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2331720"/>
            <a:ext cx="5486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80" b="1">
                <a:solidFill>
                  <a:srgbClr val="8FBFE0"/>
                </a:solidFill>
                <a:latin typeface="Consolas"/>
                <a:ea typeface="Microsoft YaHei"/>
              </a:rPr>
              <a:t>SPECIALIST 支出构成</a:t>
            </a:r>
            <a:r>
              <a:rPr sz="680" b="0">
                <a:solidFill>
                  <a:srgbClr val="7A8497"/>
                </a:solidFill>
                <a:latin typeface="Consolas"/>
                <a:ea typeface="Microsoft YaHei"/>
              </a:rPr>
              <a:t>    8 个域 · 合计 $10,163 · enablement 占 19.2%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2615184"/>
            <a:ext cx="2857345" cy="566928"/>
          </a:xfrm>
          <a:prstGeom prst="roundRect">
            <a:avLst>
              <a:gd name="adj" fmla="val 6451"/>
            </a:avLst>
          </a:prstGeom>
          <a:solidFill>
            <a:srgbClr val="6E95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2752344"/>
            <a:ext cx="2857345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0A0F18"/>
                </a:solidFill>
                <a:latin typeface="Consolas"/>
                <a:ea typeface="Microsoft YaHei"/>
              </a:rPr>
              <a:t>$2,662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2916936"/>
            <a:ext cx="2857345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660" b="1">
                <a:solidFill>
                  <a:srgbClr val="0A0F18"/>
                </a:solidFill>
                <a:latin typeface="Consolas"/>
                <a:ea typeface="Microsoft YaHei"/>
              </a:rPr>
              <a:t>serving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497425" y="2615184"/>
            <a:ext cx="2099537" cy="566928"/>
          </a:xfrm>
          <a:prstGeom prst="roundRect">
            <a:avLst>
              <a:gd name="adj" fmla="val 6451"/>
            </a:avLst>
          </a:prstGeom>
          <a:solidFill>
            <a:srgbClr val="D8A66A"/>
          </a:solidFill>
          <a:ln w="12700">
            <a:solidFill>
              <a:srgbClr val="0A0F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497425" y="2752344"/>
            <a:ext cx="2099537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0A0F18"/>
                </a:solidFill>
                <a:latin typeface="Consolas"/>
                <a:ea typeface="Microsoft YaHei"/>
              </a:rPr>
              <a:t>$1,956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497425" y="2916936"/>
            <a:ext cx="2099537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660" b="1">
                <a:solidFill>
                  <a:srgbClr val="0A0F18"/>
                </a:solidFill>
                <a:latin typeface="Consolas"/>
                <a:ea typeface="Microsoft YaHei"/>
              </a:rPr>
              <a:t>enablement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596962" y="2615184"/>
            <a:ext cx="1681991" cy="566928"/>
          </a:xfrm>
          <a:prstGeom prst="roundRect">
            <a:avLst>
              <a:gd name="adj" fmla="val 6451"/>
            </a:avLst>
          </a:prstGeom>
          <a:solidFill>
            <a:srgbClr val="86B7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596962" y="2752344"/>
            <a:ext cx="1681991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0A0F18"/>
                </a:solidFill>
                <a:latin typeface="Consolas"/>
                <a:ea typeface="Microsoft YaHei"/>
              </a:rPr>
              <a:t>$1,567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596962" y="2916936"/>
            <a:ext cx="1681991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660" b="1">
                <a:solidFill>
                  <a:srgbClr val="0A0F18"/>
                </a:solidFill>
                <a:latin typeface="Consolas"/>
                <a:ea typeface="Microsoft YaHei"/>
              </a:rPr>
              <a:t>framework_rw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278954" y="2615184"/>
            <a:ext cx="1643349" cy="566928"/>
          </a:xfrm>
          <a:prstGeom prst="roundRect">
            <a:avLst>
              <a:gd name="adj" fmla="val 6451"/>
            </a:avLst>
          </a:prstGeom>
          <a:solidFill>
            <a:srgbClr val="5E7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278954" y="2752344"/>
            <a:ext cx="164334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0A0F18"/>
                </a:solidFill>
                <a:latin typeface="Consolas"/>
                <a:ea typeface="Microsoft YaHei"/>
              </a:rPr>
              <a:t>$1,531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278954" y="2916936"/>
            <a:ext cx="1643349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660" b="1">
                <a:solidFill>
                  <a:srgbClr val="0A0F18"/>
                </a:solidFill>
                <a:latin typeface="Consolas"/>
                <a:ea typeface="Microsoft YaHei"/>
              </a:rPr>
              <a:t>freeform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922303" y="2615184"/>
            <a:ext cx="990732" cy="566928"/>
          </a:xfrm>
          <a:prstGeom prst="roundRect">
            <a:avLst>
              <a:gd name="adj" fmla="val 6451"/>
            </a:avLst>
          </a:prstGeom>
          <a:solidFill>
            <a:srgbClr val="6E95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922303" y="2752344"/>
            <a:ext cx="99073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0A0F18"/>
                </a:solidFill>
                <a:latin typeface="Consolas"/>
                <a:ea typeface="Microsoft YaHei"/>
              </a:rPr>
              <a:t>$923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922303" y="2916936"/>
            <a:ext cx="99073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660" b="1">
                <a:solidFill>
                  <a:srgbClr val="0A0F18"/>
                </a:solidFill>
                <a:latin typeface="Consolas"/>
                <a:ea typeface="Microsoft YaHei"/>
              </a:rPr>
              <a:t>kernel_switch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913036" y="2615184"/>
            <a:ext cx="944577" cy="566928"/>
          </a:xfrm>
          <a:prstGeom prst="roundRect">
            <a:avLst>
              <a:gd name="adj" fmla="val 6451"/>
            </a:avLst>
          </a:prstGeom>
          <a:solidFill>
            <a:srgbClr val="8FE0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913036" y="2752344"/>
            <a:ext cx="944577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0A0F18"/>
                </a:solidFill>
                <a:latin typeface="Consolas"/>
                <a:ea typeface="Microsoft YaHei"/>
              </a:rPr>
              <a:t>$880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913036" y="2916936"/>
            <a:ext cx="944577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660" b="1">
                <a:solidFill>
                  <a:srgbClr val="0A0F18"/>
                </a:solidFill>
                <a:latin typeface="Consolas"/>
                <a:ea typeface="Microsoft YaHei"/>
              </a:rPr>
              <a:t>research_scout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10857613" y="2615184"/>
            <a:ext cx="372463" cy="566928"/>
          </a:xfrm>
          <a:prstGeom prst="roundRect">
            <a:avLst>
              <a:gd name="adj" fmla="val 9820"/>
            </a:avLst>
          </a:prstGeom>
          <a:solidFill>
            <a:srgbClr val="4E6B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11230077" y="2615184"/>
            <a:ext cx="110558" cy="566928"/>
          </a:xfrm>
          <a:prstGeom prst="roundRect">
            <a:avLst>
              <a:gd name="adj" fmla="val 33082"/>
            </a:avLst>
          </a:prstGeom>
          <a:solidFill>
            <a:srgbClr val="3E55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40080" y="3291840"/>
            <a:ext cx="10908792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>
                <a:solidFill>
                  <a:srgbClr val="C7D0DC"/>
                </a:solidFill>
                <a:latin typeface="Microsoft YaHei"/>
                <a:ea typeface="Microsoft YaHei"/>
              </a:rPr>
              <a:t>enablement 只贡献 281 个提案(全域 5.8%),却吃掉 19.2% 的 specialist 支出 —— 它是唯一一个「花费占比远高于产出占比」的域。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457200" y="3913632"/>
            <a:ext cx="3611880" cy="1737360"/>
          </a:xfrm>
          <a:prstGeom prst="roundRect">
            <a:avLst>
              <a:gd name="adj" fmla="val 3157"/>
            </a:avLst>
          </a:prstGeom>
          <a:solidFill>
            <a:srgbClr val="0E141E"/>
          </a:solidFill>
          <a:ln w="9525">
            <a:solidFill>
              <a:srgbClr val="1E28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40080" y="4032504"/>
            <a:ext cx="32461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80" b="1">
                <a:solidFill>
                  <a:srgbClr val="D8A66A"/>
                </a:solidFill>
                <a:latin typeface="Consolas"/>
                <a:ea typeface="Microsoft YaHei"/>
              </a:rPr>
              <a:t>单位成本最差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40080" y="4242816"/>
            <a:ext cx="324612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D8A66A"/>
                </a:solidFill>
                <a:latin typeface="Consolas"/>
                <a:ea typeface="Microsoft YaHei"/>
              </a:rPr>
              <a:t>$6.96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40080" y="4645152"/>
            <a:ext cx="32461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80" b="0">
                <a:solidFill>
                  <a:srgbClr val="7A8497"/>
                </a:solidFill>
                <a:latin typeface="Consolas"/>
                <a:ea typeface="Microsoft YaHei"/>
              </a:rPr>
              <a:t>每提案 — 主流域是 $0.88–$2.29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40080" y="4882896"/>
            <a:ext cx="32461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720" b="0">
                <a:solidFill>
                  <a:srgbClr val="C7D0DC"/>
                </a:solidFill>
                <a:latin typeface="Microsoft YaHei"/>
                <a:ea typeface="Microsoft YaHei"/>
              </a:rPr>
              <a:t>103.5 轮/次是全域最多,却只换来 1.8 个提案/次。成本随轮次累积,所以轮次最多的域必然最贵。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4270248" y="3913632"/>
            <a:ext cx="3611880" cy="1737360"/>
          </a:xfrm>
          <a:prstGeom prst="roundRect">
            <a:avLst>
              <a:gd name="adj" fmla="val 3157"/>
            </a:avLst>
          </a:prstGeom>
          <a:solidFill>
            <a:srgbClr val="0E141E"/>
          </a:solidFill>
          <a:ln w="9525">
            <a:solidFill>
              <a:srgbClr val="1E28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453128" y="4032504"/>
            <a:ext cx="32461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80" b="1">
                <a:solidFill>
                  <a:srgbClr val="D8A66A"/>
                </a:solidFill>
                <a:latin typeface="Consolas"/>
                <a:ea typeface="Microsoft YaHei"/>
              </a:rPr>
              <a:t>近三成空转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453128" y="4242816"/>
            <a:ext cx="324612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D8A66A"/>
                </a:solidFill>
                <a:latin typeface="Consolas"/>
                <a:ea typeface="Microsoft YaHei"/>
              </a:rPr>
              <a:t>28.4%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453128" y="4645152"/>
            <a:ext cx="32461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80" b="0">
                <a:solidFill>
                  <a:srgbClr val="7A8497"/>
                </a:solidFill>
                <a:latin typeface="Consolas"/>
                <a:ea typeface="Microsoft YaHei"/>
              </a:rPr>
              <a:t>44 / 155 次运行返回 empty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453128" y="4882896"/>
            <a:ext cx="32461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720" b="0">
                <a:solidFill>
                  <a:srgbClr val="C7D0DC"/>
                </a:solidFill>
                <a:latin typeface="Microsoft YaHei"/>
                <a:ea typeface="Microsoft YaHei"/>
              </a:rPr>
              <a:t>空手运行中位 46 轮(非空 52 轮)—— 做了几乎同等的工作量、跑满同样的预算,产出为零。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8083296" y="3913632"/>
            <a:ext cx="3611880" cy="1737360"/>
          </a:xfrm>
          <a:prstGeom prst="roundRect">
            <a:avLst>
              <a:gd name="adj" fmla="val 3157"/>
            </a:avLst>
          </a:prstGeom>
          <a:solidFill>
            <a:srgbClr val="0E141E"/>
          </a:solidFill>
          <a:ln w="9525">
            <a:solidFill>
              <a:srgbClr val="1E28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266175" y="4032504"/>
            <a:ext cx="32461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80" b="1">
                <a:solidFill>
                  <a:srgbClr val="D8A66A"/>
                </a:solidFill>
                <a:latin typeface="Consolas"/>
                <a:ea typeface="Microsoft YaHei"/>
              </a:rPr>
              <a:t>阻塞全部下游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266175" y="4242816"/>
            <a:ext cx="324612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D8A66A"/>
                </a:solidFill>
                <a:latin typeface="Consolas"/>
                <a:ea typeface="Microsoft YaHei"/>
              </a:rPr>
              <a:t>0 / 20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266175" y="4645152"/>
            <a:ext cx="32461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80" b="0">
                <a:solidFill>
                  <a:srgbClr val="7A8497"/>
                </a:solidFill>
                <a:latin typeface="Consolas"/>
                <a:ea typeface="Microsoft YaHei"/>
              </a:rPr>
              <a:t>20 个会话 baseline 无一成功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266175" y="4882896"/>
            <a:ext cx="32461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720" b="0">
                <a:solidFill>
                  <a:srgbClr val="C7D0DC"/>
                </a:solidFill>
                <a:latin typeface="Microsoft YaHei"/>
                <a:ea typeface="Microsoft YaHei"/>
              </a:rPr>
              <a:t>baseline_tput &lt;= 0 时 explore 被 dispatcher 以 rule=execution_order 硬拒,变体搜索在结构上不可能发生。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457200" y="6053328"/>
            <a:ext cx="11274552" cy="420624"/>
          </a:xfrm>
          <a:prstGeom prst="roundRect">
            <a:avLst>
              <a:gd name="adj" fmla="val 13043"/>
            </a:avLst>
          </a:prstGeom>
          <a:solidFill>
            <a:srgbClr val="0E141E"/>
          </a:solidFill>
          <a:ln w="9525">
            <a:solidFill>
              <a:srgbClr val="86B7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40080" y="6153912"/>
            <a:ext cx="109728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>
                <a:solidFill>
                  <a:srgbClr val="86B7D6"/>
                </a:solidFill>
                <a:latin typeface="Consolas"/>
                <a:ea typeface="Microsoft YaHei"/>
              </a:rPr>
              <a:t>结论    </a:t>
            </a:r>
            <a:r>
              <a:rPr sz="960" b="1">
                <a:solidFill>
                  <a:srgbClr val="8FE0AE"/>
                </a:solidFill>
                <a:latin typeface="Microsoft YaHei"/>
                <a:ea typeface="Microsoft YaHei"/>
              </a:rPr>
              <a:t>enablement 是 42/151 个会话的隐性成本中心 —— </a:t>
            </a:r>
            <a:r>
              <a:rPr sz="960" b="0">
                <a:solidFill>
                  <a:srgbClr val="C7D0DC"/>
                </a:solidFill>
                <a:latin typeface="Microsoft YaHei"/>
                <a:ea typeface="Microsoft YaHei"/>
              </a:rPr>
              <a:t>自身 $1,956,并连带让 20 个会话的 $1,768 优化产出彻底归零。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57200" y="6620256"/>
            <a:ext cx="1127455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50" b="0">
                <a:solidFill>
                  <a:srgbClr val="3B4760"/>
                </a:solidFill>
                <a:latin typeface="Consolas"/>
                <a:ea typeface="Microsoft YaHei"/>
              </a:rPr>
              <a:t>数据来源:151 个归档 session_breakdown.json(enablement.* / specialist_runs / capability_summary)· coordinator.db tasks · reports/trace/llm_calls.jsonl 按 task_id 归因 · session-money.csv 账本口径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b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128016"/>
            <a:ext cx="10241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E9EDF2"/>
                </a:solidFill>
                <a:latin typeface="Microsoft YaHei"/>
                <a:ea typeface="Microsoft YaHei"/>
              </a:rPr>
              <a:t>Enablement · 成本画像 — 主流域可控,它是唯一的离群点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475488"/>
            <a:ext cx="11274552" cy="18288"/>
          </a:xfrm>
          <a:prstGeom prst="rect">
            <a:avLst/>
          </a:prstGeom>
          <a:solidFill>
            <a:srgbClr val="2A33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502920"/>
            <a:ext cx="10058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D8A66A"/>
                </a:solidFill>
                <a:latin typeface="Consolas"/>
                <a:ea typeface="Microsoft YaHei"/>
              </a:rPr>
              <a:t>每提案 $6.96</a:t>
            </a:r>
            <a:r>
              <a:rPr sz="900" b="1">
                <a:solidFill>
                  <a:srgbClr val="7A8497"/>
                </a:solidFill>
                <a:latin typeface="Consolas"/>
                <a:ea typeface="Microsoft YaHei"/>
              </a:rPr>
              <a:t>  ·  </a:t>
            </a:r>
            <a:r>
              <a:rPr sz="900" b="1">
                <a:solidFill>
                  <a:srgbClr val="8FE0AE"/>
                </a:solidFill>
                <a:latin typeface="Consolas"/>
                <a:ea typeface="Microsoft YaHei"/>
              </a:rPr>
              <a:t>主流域 $0.88–$2.29</a:t>
            </a:r>
            <a:r>
              <a:rPr sz="900" b="1">
                <a:solidFill>
                  <a:srgbClr val="7A8497"/>
                </a:solidFill>
                <a:latin typeface="Consolas"/>
                <a:ea typeface="Microsoft YaHei"/>
              </a:rPr>
              <a:t>  ·  </a:t>
            </a:r>
            <a:r>
              <a:rPr sz="900" b="1">
                <a:solidFill>
                  <a:srgbClr val="D8A66A"/>
                </a:solidFill>
                <a:latin typeface="Consolas"/>
                <a:ea typeface="Microsoft YaHei"/>
              </a:rPr>
              <a:t>次高者的 3.0 倍 · 最优者的 7.9 倍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2560" y="91440"/>
            <a:ext cx="267919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0">
                <a:solidFill>
                  <a:srgbClr val="7A8497"/>
                </a:solidFill>
                <a:latin typeface="Consolas"/>
                <a:ea typeface="Microsoft YaHei"/>
              </a:rPr>
              <a:t>1,319 / 1,344 次运行成功归因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786384"/>
            <a:ext cx="6903720" cy="3931920"/>
          </a:xfrm>
          <a:prstGeom prst="roundRect">
            <a:avLst>
              <a:gd name="adj" fmla="val 1395"/>
            </a:avLst>
          </a:prstGeom>
          <a:solidFill>
            <a:srgbClr val="0E141E"/>
          </a:solidFill>
          <a:ln w="9525">
            <a:solidFill>
              <a:srgbClr val="1E28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886968"/>
            <a:ext cx="64008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80" b="1">
                <a:solidFill>
                  <a:srgbClr val="D8A66A"/>
                </a:solidFill>
                <a:latin typeface="Consolas"/>
                <a:ea typeface="Microsoft YaHei"/>
              </a:rPr>
              <a:t>每提案成本 · $ / PROPOSAL</a:t>
            </a:r>
            <a:r>
              <a:rPr sz="680" b="0">
                <a:solidFill>
                  <a:srgbClr val="7A8497"/>
                </a:solidFill>
                <a:latin typeface="Consolas"/>
                <a:ea typeface="Microsoft YaHei"/>
              </a:rPr>
              <a:t>    按 task_id 把 llm_calls 归因到域</a:t>
            </a:r>
          </a:p>
        </p:txBody>
      </p:sp>
      <p:sp>
        <p:nvSpPr>
          <p:cNvPr id="10" name="Rectangle 9"/>
          <p:cNvSpPr/>
          <p:nvPr/>
        </p:nvSpPr>
        <p:spPr>
          <a:xfrm>
            <a:off x="2514600" y="1243584"/>
            <a:ext cx="1186586" cy="3035808"/>
          </a:xfrm>
          <a:prstGeom prst="rect">
            <a:avLst/>
          </a:prstGeom>
          <a:solidFill>
            <a:srgbClr val="1221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701186" y="1243584"/>
            <a:ext cx="10972" cy="3035808"/>
          </a:xfrm>
          <a:prstGeom prst="rect">
            <a:avLst/>
          </a:prstGeom>
          <a:solidFill>
            <a:srgbClr val="8FE0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14600" y="1042415"/>
            <a:ext cx="2377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40" b="1">
                <a:solidFill>
                  <a:srgbClr val="8FE0AE"/>
                </a:solidFill>
                <a:latin typeface="Consolas"/>
                <a:ea typeface="Microsoft YaHei"/>
              </a:rPr>
              <a:t>主流域可控区间 ≤ $2.29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514600" y="1280160"/>
            <a:ext cx="7315" cy="2980944"/>
          </a:xfrm>
          <a:prstGeom prst="rect">
            <a:avLst/>
          </a:prstGeom>
          <a:solidFill>
            <a:srgbClr val="2A33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194560" y="4288536"/>
            <a:ext cx="64008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630" b="0">
                <a:solidFill>
                  <a:srgbClr val="3B4760"/>
                </a:solidFill>
                <a:latin typeface="Consolas"/>
                <a:ea typeface="Microsoft YaHei"/>
              </a:rPr>
              <a:t>0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91840" y="1280160"/>
            <a:ext cx="7315" cy="2980944"/>
          </a:xfrm>
          <a:prstGeom prst="rect">
            <a:avLst/>
          </a:prstGeom>
          <a:solidFill>
            <a:srgbClr val="2A33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971800" y="4288536"/>
            <a:ext cx="64008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630" b="0">
                <a:solidFill>
                  <a:srgbClr val="3B4760"/>
                </a:solidFill>
                <a:latin typeface="Consolas"/>
                <a:ea typeface="Microsoft YaHei"/>
              </a:rPr>
              <a:t>1.5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069080" y="1280160"/>
            <a:ext cx="7315" cy="2980944"/>
          </a:xfrm>
          <a:prstGeom prst="rect">
            <a:avLst/>
          </a:prstGeom>
          <a:solidFill>
            <a:srgbClr val="2A33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749040" y="4288536"/>
            <a:ext cx="64008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630" b="0">
                <a:solidFill>
                  <a:srgbClr val="3B4760"/>
                </a:solidFill>
                <a:latin typeface="Consolas"/>
                <a:ea typeface="Microsoft YaHei"/>
              </a:rPr>
              <a:t>3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846320" y="1280160"/>
            <a:ext cx="7315" cy="2980944"/>
          </a:xfrm>
          <a:prstGeom prst="rect">
            <a:avLst/>
          </a:prstGeom>
          <a:solidFill>
            <a:srgbClr val="2A33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26280" y="4288536"/>
            <a:ext cx="64008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630" b="0">
                <a:solidFill>
                  <a:srgbClr val="3B4760"/>
                </a:solidFill>
                <a:latin typeface="Consolas"/>
                <a:ea typeface="Microsoft YaHei"/>
              </a:rPr>
              <a:t>4.5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623560" y="1280160"/>
            <a:ext cx="7315" cy="2980944"/>
          </a:xfrm>
          <a:prstGeom prst="rect">
            <a:avLst/>
          </a:prstGeom>
          <a:solidFill>
            <a:srgbClr val="2A33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303520" y="4288536"/>
            <a:ext cx="64008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630" b="0">
                <a:solidFill>
                  <a:srgbClr val="3B4760"/>
                </a:solidFill>
                <a:latin typeface="Consolas"/>
                <a:ea typeface="Microsoft YaHei"/>
              </a:rPr>
              <a:t>6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00800" y="1280160"/>
            <a:ext cx="7315" cy="2980944"/>
          </a:xfrm>
          <a:prstGeom prst="rect">
            <a:avLst/>
          </a:prstGeom>
          <a:solidFill>
            <a:srgbClr val="2A33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080760" y="4288536"/>
            <a:ext cx="64008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630" b="0">
                <a:solidFill>
                  <a:srgbClr val="3B4760"/>
                </a:solidFill>
                <a:latin typeface="Consolas"/>
                <a:ea typeface="Microsoft YaHei"/>
              </a:rPr>
              <a:t>7.5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514600" y="1381887"/>
            <a:ext cx="3606393" cy="169164"/>
          </a:xfrm>
          <a:prstGeom prst="roundRect">
            <a:avLst>
              <a:gd name="adj" fmla="val 16216"/>
            </a:avLst>
          </a:prstGeom>
          <a:solidFill>
            <a:srgbClr val="D8A6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" y="1363599"/>
            <a:ext cx="1783079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720" b="1">
                <a:solidFill>
                  <a:srgbClr val="D8A66A"/>
                </a:solidFill>
                <a:latin typeface="Consolas"/>
                <a:ea typeface="Microsoft YaHei"/>
              </a:rPr>
              <a:t>enablement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73952" y="1363599"/>
            <a:ext cx="7772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1">
                <a:solidFill>
                  <a:srgbClr val="D8A66A"/>
                </a:solidFill>
                <a:latin typeface="Consolas"/>
                <a:ea typeface="Microsoft YaHei"/>
              </a:rPr>
              <a:t>$6.96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2514600" y="1754505"/>
            <a:ext cx="1186586" cy="169164"/>
          </a:xfrm>
          <a:prstGeom prst="roundRect">
            <a:avLst>
              <a:gd name="adj" fmla="val 16216"/>
            </a:avLst>
          </a:prstGeom>
          <a:solidFill>
            <a:srgbClr val="6E95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080" y="1736217"/>
            <a:ext cx="1783079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720" b="0">
                <a:solidFill>
                  <a:srgbClr val="6E95AB"/>
                </a:solidFill>
                <a:latin typeface="Consolas"/>
                <a:ea typeface="Microsoft YaHei"/>
              </a:rPr>
              <a:t>freeform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73952" y="1736217"/>
            <a:ext cx="7772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1">
                <a:solidFill>
                  <a:srgbClr val="6E95AB"/>
                </a:solidFill>
                <a:latin typeface="Consolas"/>
                <a:ea typeface="Microsoft YaHei"/>
              </a:rPr>
              <a:t>$2.29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2514600" y="2127123"/>
            <a:ext cx="1134770" cy="169164"/>
          </a:xfrm>
          <a:prstGeom prst="roundRect">
            <a:avLst>
              <a:gd name="adj" fmla="val 16216"/>
            </a:avLst>
          </a:prstGeom>
          <a:solidFill>
            <a:srgbClr val="6E95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0080" y="2108835"/>
            <a:ext cx="1783079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720" b="0">
                <a:solidFill>
                  <a:srgbClr val="6E95AB"/>
                </a:solidFill>
                <a:latin typeface="Consolas"/>
                <a:ea typeface="Microsoft YaHei"/>
              </a:rPr>
              <a:t>framework_rewrite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73952" y="2108835"/>
            <a:ext cx="7772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1">
                <a:solidFill>
                  <a:srgbClr val="6E95AB"/>
                </a:solidFill>
                <a:latin typeface="Consolas"/>
                <a:ea typeface="Microsoft YaHei"/>
              </a:rPr>
              <a:t>$2.19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2514600" y="2499740"/>
            <a:ext cx="1119225" cy="169164"/>
          </a:xfrm>
          <a:prstGeom prst="roundRect">
            <a:avLst>
              <a:gd name="adj" fmla="val 16216"/>
            </a:avLst>
          </a:prstGeom>
          <a:solidFill>
            <a:srgbClr val="6E95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0080" y="2481452"/>
            <a:ext cx="1783079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720" b="0">
                <a:solidFill>
                  <a:srgbClr val="6E95AB"/>
                </a:solidFill>
                <a:latin typeface="Consolas"/>
                <a:ea typeface="Microsoft YaHei"/>
              </a:rPr>
              <a:t>kernel_switch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73952" y="2481452"/>
            <a:ext cx="7772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1">
                <a:solidFill>
                  <a:srgbClr val="6E95AB"/>
                </a:solidFill>
                <a:latin typeface="Consolas"/>
                <a:ea typeface="Microsoft YaHei"/>
              </a:rPr>
              <a:t>$2.16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2514600" y="2872359"/>
            <a:ext cx="989685" cy="169164"/>
          </a:xfrm>
          <a:prstGeom prst="roundRect">
            <a:avLst>
              <a:gd name="adj" fmla="val 16216"/>
            </a:avLst>
          </a:prstGeom>
          <a:solidFill>
            <a:srgbClr val="6E95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0080" y="2854071"/>
            <a:ext cx="1783079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720" b="0">
                <a:solidFill>
                  <a:srgbClr val="6E95AB"/>
                </a:solidFill>
                <a:latin typeface="Consolas"/>
                <a:ea typeface="Microsoft YaHei"/>
              </a:rPr>
              <a:t>serving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73952" y="2854071"/>
            <a:ext cx="7772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1">
                <a:solidFill>
                  <a:srgbClr val="6E95AB"/>
                </a:solidFill>
                <a:latin typeface="Consolas"/>
                <a:ea typeface="Microsoft YaHei"/>
              </a:rPr>
              <a:t>$1.91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2514600" y="3244976"/>
            <a:ext cx="595884" cy="169164"/>
          </a:xfrm>
          <a:prstGeom prst="roundRect">
            <a:avLst>
              <a:gd name="adj" fmla="val 16216"/>
            </a:avLst>
          </a:prstGeom>
          <a:solidFill>
            <a:srgbClr val="8FE0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40080" y="3226688"/>
            <a:ext cx="1783079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720" b="0">
                <a:solidFill>
                  <a:srgbClr val="8FE0AE"/>
                </a:solidFill>
                <a:latin typeface="Consolas"/>
                <a:ea typeface="Microsoft YaHei"/>
              </a:rPr>
              <a:t>static_recon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473952" y="3226688"/>
            <a:ext cx="7772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1">
                <a:solidFill>
                  <a:srgbClr val="8FE0AE"/>
                </a:solidFill>
                <a:latin typeface="Consolas"/>
                <a:ea typeface="Microsoft YaHei"/>
              </a:rPr>
              <a:t>$1.15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2514600" y="3617595"/>
            <a:ext cx="492252" cy="169164"/>
          </a:xfrm>
          <a:prstGeom prst="roundRect">
            <a:avLst>
              <a:gd name="adj" fmla="val 16216"/>
            </a:avLst>
          </a:prstGeom>
          <a:solidFill>
            <a:srgbClr val="8FE0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40080" y="3599307"/>
            <a:ext cx="1783079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720" b="0">
                <a:solidFill>
                  <a:srgbClr val="8FE0AE"/>
                </a:solidFill>
                <a:latin typeface="Consolas"/>
                <a:ea typeface="Microsoft YaHei"/>
              </a:rPr>
              <a:t>research_scout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473952" y="3599307"/>
            <a:ext cx="7772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1">
                <a:solidFill>
                  <a:srgbClr val="8FE0AE"/>
                </a:solidFill>
                <a:latin typeface="Consolas"/>
                <a:ea typeface="Microsoft YaHei"/>
              </a:rPr>
              <a:t>$0.95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2514600" y="3990212"/>
            <a:ext cx="455980" cy="169164"/>
          </a:xfrm>
          <a:prstGeom prst="roundRect">
            <a:avLst>
              <a:gd name="adj" fmla="val 16216"/>
            </a:avLst>
          </a:prstGeom>
          <a:solidFill>
            <a:srgbClr val="8FE0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40080" y="3971925"/>
            <a:ext cx="1783079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720" b="0">
                <a:solidFill>
                  <a:srgbClr val="8FE0AE"/>
                </a:solidFill>
                <a:latin typeface="Consolas"/>
                <a:ea typeface="Microsoft YaHei"/>
              </a:rPr>
              <a:t>system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473952" y="3971925"/>
            <a:ext cx="7772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1">
                <a:solidFill>
                  <a:srgbClr val="8FE0AE"/>
                </a:solidFill>
                <a:latin typeface="Consolas"/>
                <a:ea typeface="Microsoft YaHei"/>
              </a:rPr>
              <a:t>$0.88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40080" y="4407408"/>
            <a:ext cx="65379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0">
                <a:solidFill>
                  <a:srgbClr val="7A8497"/>
                </a:solidFill>
                <a:latin typeface="Microsoft YaHei"/>
                <a:ea typeface="Microsoft YaHei"/>
              </a:rPr>
              <a:t>绿色带 = 主流七域落在 $0.88–$2.29 的窄区间内;enablement 冲出上限 3 倍。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7571231" y="786384"/>
            <a:ext cx="4160520" cy="3931920"/>
          </a:xfrm>
          <a:prstGeom prst="roundRect">
            <a:avLst>
              <a:gd name="adj" fmla="val 1395"/>
            </a:avLst>
          </a:prstGeom>
          <a:solidFill>
            <a:srgbClr val="0E141E"/>
          </a:solidFill>
          <a:ln w="9525">
            <a:solidFill>
              <a:srgbClr val="1E28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754111" y="905256"/>
            <a:ext cx="3794759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80" b="1">
                <a:solidFill>
                  <a:srgbClr val="D8A66A"/>
                </a:solidFill>
                <a:latin typeface="Consolas"/>
                <a:ea typeface="Microsoft YaHei"/>
              </a:rPr>
              <a:t>为什么它这么贵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754111" y="1152144"/>
            <a:ext cx="379475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60" b="1">
                <a:solidFill>
                  <a:srgbClr val="E9EDF2"/>
                </a:solidFill>
                <a:latin typeface="Microsoft YaHei"/>
                <a:ea typeface="Microsoft YaHei"/>
              </a:rPr>
              <a:t>轮次 / 次</a:t>
            </a:r>
            <a:r>
              <a:rPr sz="640" b="0">
                <a:solidFill>
                  <a:srgbClr val="7A8497"/>
                </a:solidFill>
                <a:latin typeface="Consolas"/>
                <a:ea typeface="Microsoft YaHei"/>
              </a:rPr>
              <a:t>      enablement  vs  research_scout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7754111" y="1408176"/>
            <a:ext cx="2479728" cy="173736"/>
          </a:xfrm>
          <a:prstGeom prst="roundRect">
            <a:avLst>
              <a:gd name="adj" fmla="val 15789"/>
            </a:avLst>
          </a:prstGeom>
          <a:solidFill>
            <a:srgbClr val="D8A6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10306992" y="1389888"/>
            <a:ext cx="8229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60" b="1">
                <a:solidFill>
                  <a:srgbClr val="D8A66A"/>
                </a:solidFill>
                <a:latin typeface="Consolas"/>
                <a:ea typeface="Microsoft YaHei"/>
              </a:rPr>
              <a:t>103.5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7754111" y="1636776"/>
            <a:ext cx="924807" cy="173736"/>
          </a:xfrm>
          <a:prstGeom prst="roundRect">
            <a:avLst>
              <a:gd name="adj" fmla="val 15789"/>
            </a:avLst>
          </a:prstGeom>
          <a:solidFill>
            <a:srgbClr val="8FE0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8752071" y="1618488"/>
            <a:ext cx="8229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60" b="1">
                <a:solidFill>
                  <a:srgbClr val="8FE0AE"/>
                </a:solidFill>
                <a:latin typeface="Consolas"/>
                <a:ea typeface="Microsoft YaHei"/>
              </a:rPr>
              <a:t>38.6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754111" y="1865376"/>
            <a:ext cx="3794759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80" b="0">
                <a:solidFill>
                  <a:srgbClr val="C7D0DC"/>
                </a:solidFill>
                <a:latin typeface="Microsoft YaHei"/>
                <a:ea typeface="Microsoft YaHei"/>
              </a:rPr>
              <a:t>全域最多 — 是 research_scout 的 2.7 倍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754111" y="2231136"/>
            <a:ext cx="379475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60" b="1">
                <a:solidFill>
                  <a:srgbClr val="E9EDF2"/>
                </a:solidFill>
                <a:latin typeface="Microsoft YaHei"/>
                <a:ea typeface="Microsoft YaHei"/>
              </a:rPr>
              <a:t>提案 / 次</a:t>
            </a:r>
            <a:r>
              <a:rPr sz="640" b="0">
                <a:solidFill>
                  <a:srgbClr val="7A8497"/>
                </a:solidFill>
                <a:latin typeface="Consolas"/>
                <a:ea typeface="Microsoft YaHei"/>
              </a:rPr>
              <a:t>      enablement  vs  research_scout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7754111" y="2487168"/>
            <a:ext cx="949683" cy="173736"/>
          </a:xfrm>
          <a:prstGeom prst="roundRect">
            <a:avLst>
              <a:gd name="adj" fmla="val 15789"/>
            </a:avLst>
          </a:prstGeom>
          <a:solidFill>
            <a:srgbClr val="D8A6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8776947" y="2468880"/>
            <a:ext cx="8229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60" b="1">
                <a:solidFill>
                  <a:srgbClr val="D8A66A"/>
                </a:solidFill>
                <a:latin typeface="Consolas"/>
                <a:ea typeface="Microsoft YaHei"/>
              </a:rPr>
              <a:t>1.8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7754111" y="2715768"/>
            <a:ext cx="2479728" cy="173736"/>
          </a:xfrm>
          <a:prstGeom prst="roundRect">
            <a:avLst>
              <a:gd name="adj" fmla="val 15789"/>
            </a:avLst>
          </a:prstGeom>
          <a:solidFill>
            <a:srgbClr val="8FE0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10306992" y="2697480"/>
            <a:ext cx="8229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60" b="1">
                <a:solidFill>
                  <a:srgbClr val="8FE0AE"/>
                </a:solidFill>
                <a:latin typeface="Consolas"/>
                <a:ea typeface="Microsoft YaHei"/>
              </a:rPr>
              <a:t>4.7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7754111" y="2944368"/>
            <a:ext cx="3794759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80" b="0">
                <a:solidFill>
                  <a:srgbClr val="C7D0DC"/>
                </a:solidFill>
                <a:latin typeface="Microsoft YaHei"/>
                <a:ea typeface="Microsoft YaHei"/>
              </a:rPr>
              <a:t>全域最少 — 用最多的轮次换最少的产出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7754111" y="3310128"/>
            <a:ext cx="379475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60" b="1">
                <a:solidFill>
                  <a:srgbClr val="E9EDF2"/>
                </a:solidFill>
                <a:latin typeface="Microsoft YaHei"/>
                <a:ea typeface="Microsoft YaHei"/>
              </a:rPr>
              <a:t>空手率</a:t>
            </a:r>
            <a:r>
              <a:rPr sz="640" b="0">
                <a:solidFill>
                  <a:srgbClr val="7A8497"/>
                </a:solidFill>
                <a:latin typeface="Consolas"/>
                <a:ea typeface="Microsoft YaHei"/>
              </a:rPr>
              <a:t>      enablement  vs  research_scout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7754111" y="3566160"/>
            <a:ext cx="2479728" cy="173736"/>
          </a:xfrm>
          <a:prstGeom prst="roundRect">
            <a:avLst>
              <a:gd name="adj" fmla="val 15789"/>
            </a:avLst>
          </a:prstGeom>
          <a:solidFill>
            <a:srgbClr val="D8A6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10306992" y="3547872"/>
            <a:ext cx="8229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60" b="1">
                <a:solidFill>
                  <a:srgbClr val="D8A66A"/>
                </a:solidFill>
                <a:latin typeface="Consolas"/>
                <a:ea typeface="Microsoft YaHei"/>
              </a:rPr>
              <a:t>28.4%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7754111" y="3794760"/>
            <a:ext cx="672320" cy="173736"/>
          </a:xfrm>
          <a:prstGeom prst="roundRect">
            <a:avLst>
              <a:gd name="adj" fmla="val 15789"/>
            </a:avLst>
          </a:prstGeom>
          <a:solidFill>
            <a:srgbClr val="8FE0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8499584" y="3776472"/>
            <a:ext cx="8229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60" b="1">
                <a:solidFill>
                  <a:srgbClr val="8FE0AE"/>
                </a:solidFill>
                <a:latin typeface="Consolas"/>
                <a:ea typeface="Microsoft YaHei"/>
              </a:rPr>
              <a:t>7.7%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7754111" y="4023360"/>
            <a:ext cx="3794759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80" b="0">
                <a:solidFill>
                  <a:srgbClr val="C7D0DC"/>
                </a:solidFill>
                <a:latin typeface="Microsoft YaHei"/>
                <a:ea typeface="Microsoft YaHei"/>
              </a:rPr>
              <a:t>全域最高 — 近三成运行零提案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457200" y="4864608"/>
            <a:ext cx="5532120" cy="1060704"/>
          </a:xfrm>
          <a:prstGeom prst="roundRect">
            <a:avLst>
              <a:gd name="adj" fmla="val 5172"/>
            </a:avLst>
          </a:prstGeom>
          <a:solidFill>
            <a:srgbClr val="0E141E"/>
          </a:solidFill>
          <a:ln w="9525">
            <a:solidFill>
              <a:srgbClr val="1E28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640080" y="4956048"/>
            <a:ext cx="5166359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19" b="1">
                <a:solidFill>
                  <a:srgbClr val="E9EDF2"/>
                </a:solidFill>
                <a:latin typeface="Microsoft YaHei"/>
                <a:ea typeface="Microsoft YaHei"/>
              </a:rPr>
              <a:t>成本驱动因子</a:t>
            </a:r>
            <a:r>
              <a:rPr sz="680" b="0">
                <a:solidFill>
                  <a:srgbClr val="7A8497"/>
                </a:solidFill>
                <a:latin typeface="Consolas"/>
                <a:ea typeface="Microsoft YaHei"/>
              </a:rPr>
              <a:t>    对 1,319 次运行做相关性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658368" y="5193792"/>
            <a:ext cx="2377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60" b="1">
                <a:solidFill>
                  <a:srgbClr val="E9EDF2"/>
                </a:solidFill>
                <a:latin typeface="Microsoft YaHei"/>
                <a:ea typeface="Microsoft YaHei"/>
              </a:rPr>
              <a:t>› 成本 ~ 轮次数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3090672" y="5193792"/>
            <a:ext cx="17373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0">
                <a:solidFill>
                  <a:srgbClr val="6E95AB"/>
                </a:solidFill>
                <a:latin typeface="Consolas"/>
                <a:ea typeface="Microsoft YaHei"/>
              </a:rPr>
              <a:t>r = +0.259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4846320" y="5193792"/>
            <a:ext cx="10972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60" b="1">
                <a:solidFill>
                  <a:srgbClr val="D8A66A"/>
                </a:solidFill>
                <a:latin typeface="Consolas"/>
                <a:ea typeface="Microsoft YaHei"/>
              </a:rPr>
              <a:t>正相关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58368" y="5422392"/>
            <a:ext cx="2377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60" b="1">
                <a:solidFill>
                  <a:srgbClr val="E9EDF2"/>
                </a:solidFill>
                <a:latin typeface="Microsoft YaHei"/>
                <a:ea typeface="Microsoft YaHei"/>
              </a:rPr>
              <a:t>› 成本 ~ 提案数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3090672" y="5422392"/>
            <a:ext cx="17373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0">
                <a:solidFill>
                  <a:srgbClr val="6E95AB"/>
                </a:solidFill>
                <a:latin typeface="Consolas"/>
                <a:ea typeface="Microsoft YaHei"/>
              </a:rPr>
              <a:t>r = −0.168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4846320" y="5422392"/>
            <a:ext cx="10972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60" b="1">
                <a:solidFill>
                  <a:srgbClr val="8FE0AE"/>
                </a:solidFill>
                <a:latin typeface="Consolas"/>
                <a:ea typeface="Microsoft YaHei"/>
              </a:rPr>
              <a:t>负相关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658368" y="5650992"/>
            <a:ext cx="2377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60" b="1">
                <a:solidFill>
                  <a:srgbClr val="E9EDF2"/>
                </a:solidFill>
                <a:latin typeface="Microsoft YaHei"/>
                <a:ea typeface="Microsoft YaHei"/>
              </a:rPr>
              <a:t>› 每轮上下文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3090672" y="5650992"/>
            <a:ext cx="17373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0">
                <a:solidFill>
                  <a:srgbClr val="6E95AB"/>
                </a:solidFill>
                <a:latin typeface="Consolas"/>
                <a:ea typeface="Microsoft YaHei"/>
              </a:rPr>
              <a:t>2.75万 → 10.13万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4846320" y="5650992"/>
            <a:ext cx="10972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60" b="1">
                <a:solidFill>
                  <a:srgbClr val="6E95AB"/>
                </a:solidFill>
                <a:latin typeface="Consolas"/>
                <a:ea typeface="Microsoft YaHei"/>
              </a:rPr>
              <a:t>第 1→60 轮</a:t>
            </a:r>
          </a:p>
        </p:txBody>
      </p:sp>
      <p:sp>
        <p:nvSpPr>
          <p:cNvPr id="81" name="Rounded Rectangle 80"/>
          <p:cNvSpPr/>
          <p:nvPr/>
        </p:nvSpPr>
        <p:spPr>
          <a:xfrm>
            <a:off x="6199632" y="4864608"/>
            <a:ext cx="5532120" cy="1060704"/>
          </a:xfrm>
          <a:prstGeom prst="roundRect">
            <a:avLst>
              <a:gd name="adj" fmla="val 5172"/>
            </a:avLst>
          </a:prstGeom>
          <a:solidFill>
            <a:srgbClr val="0E141E"/>
          </a:solidFill>
          <a:ln w="9525">
            <a:solidFill>
              <a:srgbClr val="1E28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6382512" y="4956048"/>
            <a:ext cx="5166359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19" b="1">
                <a:solidFill>
                  <a:srgbClr val="E9EDF2"/>
                </a:solidFill>
                <a:latin typeface="Microsoft YaHei"/>
                <a:ea typeface="Microsoft YaHei"/>
              </a:rPr>
              <a:t>所以杠杆不在削减提案</a:t>
            </a:r>
            <a:r>
              <a:rPr sz="680" b="0">
                <a:solidFill>
                  <a:srgbClr val="7A8497"/>
                </a:solidFill>
                <a:latin typeface="Consolas"/>
                <a:ea typeface="Microsoft YaHei"/>
              </a:rPr>
              <a:t>    而在减少轮次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6400800" y="5193792"/>
            <a:ext cx="2377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60" b="1">
                <a:solidFill>
                  <a:srgbClr val="E9EDF2"/>
                </a:solidFill>
                <a:latin typeface="Microsoft YaHei"/>
                <a:ea typeface="Microsoft YaHei"/>
              </a:rPr>
              <a:t>› 提案 6 个的运行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8833104" y="5193792"/>
            <a:ext cx="17373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0">
                <a:solidFill>
                  <a:srgbClr val="6E95AB"/>
                </a:solidFill>
                <a:latin typeface="Consolas"/>
                <a:ea typeface="Microsoft YaHei"/>
              </a:rPr>
              <a:t>中位 $4.46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10588752" y="5193792"/>
            <a:ext cx="10972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60" b="1">
                <a:solidFill>
                  <a:srgbClr val="8FE0AE"/>
                </a:solidFill>
                <a:latin typeface="Consolas"/>
                <a:ea typeface="Microsoft YaHei"/>
              </a:rPr>
              <a:t>更便宜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6400800" y="5422392"/>
            <a:ext cx="2377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60" b="1">
                <a:solidFill>
                  <a:srgbClr val="E9EDF2"/>
                </a:solidFill>
                <a:latin typeface="Microsoft YaHei"/>
                <a:ea typeface="Microsoft YaHei"/>
              </a:rPr>
              <a:t>› 提案 0 个的运行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8833104" y="5422392"/>
            <a:ext cx="17373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0">
                <a:solidFill>
                  <a:srgbClr val="6E95AB"/>
                </a:solidFill>
                <a:latin typeface="Consolas"/>
                <a:ea typeface="Microsoft YaHei"/>
              </a:rPr>
              <a:t>中位 $5.86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10588752" y="5422392"/>
            <a:ext cx="10972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60" b="1">
                <a:solidFill>
                  <a:srgbClr val="D8A66A"/>
                </a:solidFill>
                <a:latin typeface="Consolas"/>
                <a:ea typeface="Microsoft YaHei"/>
              </a:rPr>
              <a:t>更贵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6400800" y="5650992"/>
            <a:ext cx="2377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60" b="1">
                <a:solidFill>
                  <a:srgbClr val="E9EDF2"/>
                </a:solidFill>
                <a:latin typeface="Microsoft YaHei"/>
                <a:ea typeface="Microsoft YaHei"/>
              </a:rPr>
              <a:t>› 结论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8833104" y="5650992"/>
            <a:ext cx="17373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0">
                <a:solidFill>
                  <a:srgbClr val="6E95AB"/>
                </a:solidFill>
                <a:latin typeface="Consolas"/>
                <a:ea typeface="Microsoft YaHei"/>
              </a:rPr>
              <a:t>召回多不推高成本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10588752" y="5650992"/>
            <a:ext cx="10972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60" b="1">
                <a:solidFill>
                  <a:srgbClr val="6E95AB"/>
                </a:solidFill>
                <a:latin typeface="Consolas"/>
                <a:ea typeface="Microsoft YaHei"/>
              </a:rPr>
              <a:t>轮次才是</a:t>
            </a:r>
          </a:p>
        </p:txBody>
      </p:sp>
      <p:sp>
        <p:nvSpPr>
          <p:cNvPr id="92" name="Rounded Rectangle 91"/>
          <p:cNvSpPr/>
          <p:nvPr/>
        </p:nvSpPr>
        <p:spPr>
          <a:xfrm>
            <a:off x="457200" y="6053328"/>
            <a:ext cx="11274552" cy="420624"/>
          </a:xfrm>
          <a:prstGeom prst="roundRect">
            <a:avLst>
              <a:gd name="adj" fmla="val 13043"/>
            </a:avLst>
          </a:prstGeom>
          <a:solidFill>
            <a:srgbClr val="0E141E"/>
          </a:solidFill>
          <a:ln w="9525">
            <a:solidFill>
              <a:srgbClr val="D8A6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640080" y="6153912"/>
            <a:ext cx="109728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>
                <a:solidFill>
                  <a:srgbClr val="D8A66A"/>
                </a:solidFill>
                <a:latin typeface="Consolas"/>
                <a:ea typeface="Microsoft YaHei"/>
              </a:rPr>
              <a:t>结论    </a:t>
            </a:r>
            <a:r>
              <a:rPr sz="960" b="1">
                <a:solidFill>
                  <a:srgbClr val="8FE0AE"/>
                </a:solidFill>
                <a:latin typeface="Microsoft YaHei"/>
                <a:ea typeface="Microsoft YaHei"/>
              </a:rPr>
              <a:t>八个域里七个的单位成本落在 $0.88–$2.29 —— </a:t>
            </a:r>
            <a:r>
              <a:rPr sz="960" b="0">
                <a:solidFill>
                  <a:srgbClr val="C7D0DC"/>
                </a:solidFill>
                <a:latin typeface="Microsoft YaHei"/>
                <a:ea typeface="Microsoft YaHei"/>
              </a:rPr>
              <a:t>enablement 用最多的轮次(103.5)换来最少的提案(1.8),是唯一冲出可控区间的域。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457200" y="6620256"/>
            <a:ext cx="1127455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50" b="0">
                <a:solidFill>
                  <a:srgbClr val="3B4760"/>
                </a:solidFill>
                <a:latin typeface="Consolas"/>
                <a:ea typeface="Microsoft YaHei"/>
              </a:rPr>
              <a:t>口径:$/提案 = 该域 LLM 账本花费 ÷ 该域 proposals_total;费率按 opus 价目表(in $5/M · out $25/M · cache write $6.25/M · cache read $0.5/M)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b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128016"/>
            <a:ext cx="10241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E9EDF2"/>
                </a:solidFill>
                <a:latin typeface="Microsoft YaHei"/>
                <a:ea typeface="Microsoft YaHei"/>
              </a:rPr>
              <a:t>Enablement · 证据 — 10 个独立信号,并集 42 个会话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475488"/>
            <a:ext cx="11274552" cy="18288"/>
          </a:xfrm>
          <a:prstGeom prst="rect">
            <a:avLst/>
          </a:prstGeom>
          <a:solidFill>
            <a:srgbClr val="2A33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502920"/>
            <a:ext cx="10058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E9EDF2"/>
                </a:solidFill>
                <a:latin typeface="Consolas"/>
                <a:ea typeface="Microsoft YaHei"/>
              </a:rPr>
              <a:t>151 个会话有产物</a:t>
            </a:r>
            <a:r>
              <a:rPr sz="900" b="1">
                <a:solidFill>
                  <a:srgbClr val="7A8497"/>
                </a:solidFill>
                <a:latin typeface="Consolas"/>
                <a:ea typeface="Microsoft YaHei"/>
              </a:rPr>
              <a:t>  ·  </a:t>
            </a:r>
            <a:r>
              <a:rPr sz="900" b="1">
                <a:solidFill>
                  <a:srgbClr val="D8A66A"/>
                </a:solidFill>
                <a:latin typeface="Consolas"/>
                <a:ea typeface="Microsoft YaHei"/>
              </a:rPr>
              <a:t>42 个命中(27.8%)</a:t>
            </a:r>
            <a:r>
              <a:rPr sz="900" b="1">
                <a:solidFill>
                  <a:srgbClr val="7A8497"/>
                </a:solidFill>
                <a:latin typeface="Consolas"/>
                <a:ea typeface="Microsoft YaHei"/>
              </a:rPr>
              <a:t>  ·  </a:t>
            </a:r>
            <a:r>
              <a:rPr sz="900" b="1">
                <a:solidFill>
                  <a:srgbClr val="8FBFE0"/>
                </a:solidFill>
                <a:latin typeface="Consolas"/>
                <a:ea typeface="Microsoft YaHei"/>
              </a:rPr>
              <a:t>强证据 35 · 边缘 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2560" y="91440"/>
            <a:ext cx="267919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0">
                <a:solidFill>
                  <a:srgbClr val="7A8497"/>
                </a:solidFill>
                <a:latin typeface="Consolas"/>
                <a:ea typeface="Microsoft YaHei"/>
              </a:rPr>
              <a:t>153 ready · 151 取到 breakdown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786384"/>
            <a:ext cx="5532120" cy="3931920"/>
          </a:xfrm>
          <a:prstGeom prst="roundRect">
            <a:avLst>
              <a:gd name="adj" fmla="val 1395"/>
            </a:avLst>
          </a:prstGeom>
          <a:solidFill>
            <a:srgbClr val="0E141E"/>
          </a:solidFill>
          <a:ln w="9525">
            <a:solidFill>
              <a:srgbClr val="1E28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905256"/>
            <a:ext cx="5166359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80" b="1">
                <a:solidFill>
                  <a:srgbClr val="D8A66A"/>
                </a:solidFill>
                <a:latin typeface="Consolas"/>
                <a:ea typeface="Microsoft YaHei"/>
              </a:rPr>
              <a:t>会话总览 · 每格 = 1 个会话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94944" y="1207008"/>
            <a:ext cx="214884" cy="214884"/>
          </a:xfrm>
          <a:prstGeom prst="roundRect">
            <a:avLst>
              <a:gd name="adj" fmla="val 12765"/>
            </a:avLst>
          </a:prstGeom>
          <a:solidFill>
            <a:srgbClr val="D8A6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950976" y="1207008"/>
            <a:ext cx="214884" cy="214884"/>
          </a:xfrm>
          <a:prstGeom prst="roundRect">
            <a:avLst>
              <a:gd name="adj" fmla="val 12765"/>
            </a:avLst>
          </a:prstGeom>
          <a:solidFill>
            <a:srgbClr val="D8A6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207007" y="1207008"/>
            <a:ext cx="214884" cy="214884"/>
          </a:xfrm>
          <a:prstGeom prst="roundRect">
            <a:avLst>
              <a:gd name="adj" fmla="val 12765"/>
            </a:avLst>
          </a:prstGeom>
          <a:solidFill>
            <a:srgbClr val="D8A6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463039" y="1207008"/>
            <a:ext cx="214884" cy="214884"/>
          </a:xfrm>
          <a:prstGeom prst="roundRect">
            <a:avLst>
              <a:gd name="adj" fmla="val 12765"/>
            </a:avLst>
          </a:prstGeom>
          <a:solidFill>
            <a:srgbClr val="D8A6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1719072" y="1207008"/>
            <a:ext cx="214884" cy="214884"/>
          </a:xfrm>
          <a:prstGeom prst="roundRect">
            <a:avLst>
              <a:gd name="adj" fmla="val 12765"/>
            </a:avLst>
          </a:prstGeom>
          <a:solidFill>
            <a:srgbClr val="D8A6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1975104" y="1207008"/>
            <a:ext cx="214884" cy="214884"/>
          </a:xfrm>
          <a:prstGeom prst="roundRect">
            <a:avLst>
              <a:gd name="adj" fmla="val 12765"/>
            </a:avLst>
          </a:prstGeom>
          <a:solidFill>
            <a:srgbClr val="D8A6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2231135" y="1207008"/>
            <a:ext cx="214884" cy="214884"/>
          </a:xfrm>
          <a:prstGeom prst="roundRect">
            <a:avLst>
              <a:gd name="adj" fmla="val 12765"/>
            </a:avLst>
          </a:prstGeom>
          <a:solidFill>
            <a:srgbClr val="D8A6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2487168" y="1207008"/>
            <a:ext cx="214884" cy="214884"/>
          </a:xfrm>
          <a:prstGeom prst="roundRect">
            <a:avLst>
              <a:gd name="adj" fmla="val 12765"/>
            </a:avLst>
          </a:prstGeom>
          <a:solidFill>
            <a:srgbClr val="D8A6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2743200" y="1207008"/>
            <a:ext cx="214884" cy="214884"/>
          </a:xfrm>
          <a:prstGeom prst="roundRect">
            <a:avLst>
              <a:gd name="adj" fmla="val 12765"/>
            </a:avLst>
          </a:prstGeom>
          <a:solidFill>
            <a:srgbClr val="D8A6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2999231" y="1207008"/>
            <a:ext cx="214884" cy="214884"/>
          </a:xfrm>
          <a:prstGeom prst="roundRect">
            <a:avLst>
              <a:gd name="adj" fmla="val 12765"/>
            </a:avLst>
          </a:prstGeom>
          <a:solidFill>
            <a:srgbClr val="D8A6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3255263" y="1207008"/>
            <a:ext cx="214884" cy="214884"/>
          </a:xfrm>
          <a:prstGeom prst="roundRect">
            <a:avLst>
              <a:gd name="adj" fmla="val 12765"/>
            </a:avLst>
          </a:prstGeom>
          <a:solidFill>
            <a:srgbClr val="D8A6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3511296" y="1207008"/>
            <a:ext cx="214884" cy="214884"/>
          </a:xfrm>
          <a:prstGeom prst="roundRect">
            <a:avLst>
              <a:gd name="adj" fmla="val 12765"/>
            </a:avLst>
          </a:prstGeom>
          <a:solidFill>
            <a:srgbClr val="D8A6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3767327" y="1207008"/>
            <a:ext cx="214884" cy="214884"/>
          </a:xfrm>
          <a:prstGeom prst="roundRect">
            <a:avLst>
              <a:gd name="adj" fmla="val 12765"/>
            </a:avLst>
          </a:prstGeom>
          <a:solidFill>
            <a:srgbClr val="D8A6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4023359" y="1207008"/>
            <a:ext cx="214884" cy="214884"/>
          </a:xfrm>
          <a:prstGeom prst="roundRect">
            <a:avLst>
              <a:gd name="adj" fmla="val 12765"/>
            </a:avLst>
          </a:prstGeom>
          <a:solidFill>
            <a:srgbClr val="D8A6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4279392" y="1207008"/>
            <a:ext cx="214884" cy="214884"/>
          </a:xfrm>
          <a:prstGeom prst="roundRect">
            <a:avLst>
              <a:gd name="adj" fmla="val 12765"/>
            </a:avLst>
          </a:prstGeom>
          <a:solidFill>
            <a:srgbClr val="D8A6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4535423" y="1207008"/>
            <a:ext cx="214884" cy="214884"/>
          </a:xfrm>
          <a:prstGeom prst="roundRect">
            <a:avLst>
              <a:gd name="adj" fmla="val 12765"/>
            </a:avLst>
          </a:prstGeom>
          <a:solidFill>
            <a:srgbClr val="D8A6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94944" y="1463040"/>
            <a:ext cx="214884" cy="214884"/>
          </a:xfrm>
          <a:prstGeom prst="roundRect">
            <a:avLst>
              <a:gd name="adj" fmla="val 12765"/>
            </a:avLst>
          </a:prstGeom>
          <a:solidFill>
            <a:srgbClr val="D8A6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950976" y="1463040"/>
            <a:ext cx="214884" cy="214884"/>
          </a:xfrm>
          <a:prstGeom prst="roundRect">
            <a:avLst>
              <a:gd name="adj" fmla="val 12765"/>
            </a:avLst>
          </a:prstGeom>
          <a:solidFill>
            <a:srgbClr val="D8A6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1207007" y="1463040"/>
            <a:ext cx="214884" cy="214884"/>
          </a:xfrm>
          <a:prstGeom prst="roundRect">
            <a:avLst>
              <a:gd name="adj" fmla="val 12765"/>
            </a:avLst>
          </a:prstGeom>
          <a:solidFill>
            <a:srgbClr val="D8A6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1463039" y="1463040"/>
            <a:ext cx="214884" cy="214884"/>
          </a:xfrm>
          <a:prstGeom prst="roundRect">
            <a:avLst>
              <a:gd name="adj" fmla="val 12765"/>
            </a:avLst>
          </a:prstGeom>
          <a:solidFill>
            <a:srgbClr val="D8A6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1719072" y="1463040"/>
            <a:ext cx="214884" cy="214884"/>
          </a:xfrm>
          <a:prstGeom prst="roundRect">
            <a:avLst>
              <a:gd name="adj" fmla="val 12765"/>
            </a:avLst>
          </a:prstGeom>
          <a:solidFill>
            <a:srgbClr val="D8A6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1975104" y="1463040"/>
            <a:ext cx="214884" cy="214884"/>
          </a:xfrm>
          <a:prstGeom prst="roundRect">
            <a:avLst>
              <a:gd name="adj" fmla="val 12765"/>
            </a:avLst>
          </a:prstGeom>
          <a:solidFill>
            <a:srgbClr val="D8A6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2231135" y="1463040"/>
            <a:ext cx="214884" cy="214884"/>
          </a:xfrm>
          <a:prstGeom prst="roundRect">
            <a:avLst>
              <a:gd name="adj" fmla="val 12765"/>
            </a:avLst>
          </a:prstGeom>
          <a:solidFill>
            <a:srgbClr val="D8A6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2487168" y="1463040"/>
            <a:ext cx="214884" cy="214884"/>
          </a:xfrm>
          <a:prstGeom prst="roundRect">
            <a:avLst>
              <a:gd name="adj" fmla="val 12765"/>
            </a:avLst>
          </a:prstGeom>
          <a:solidFill>
            <a:srgbClr val="D8A6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2743200" y="1463040"/>
            <a:ext cx="214884" cy="214884"/>
          </a:xfrm>
          <a:prstGeom prst="roundRect">
            <a:avLst>
              <a:gd name="adj" fmla="val 12765"/>
            </a:avLst>
          </a:prstGeom>
          <a:solidFill>
            <a:srgbClr val="D8A6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2999231" y="1463040"/>
            <a:ext cx="214884" cy="214884"/>
          </a:xfrm>
          <a:prstGeom prst="roundRect">
            <a:avLst>
              <a:gd name="adj" fmla="val 12765"/>
            </a:avLst>
          </a:prstGeom>
          <a:solidFill>
            <a:srgbClr val="D8A6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3255263" y="1463040"/>
            <a:ext cx="214884" cy="214884"/>
          </a:xfrm>
          <a:prstGeom prst="roundRect">
            <a:avLst>
              <a:gd name="adj" fmla="val 12765"/>
            </a:avLst>
          </a:prstGeom>
          <a:solidFill>
            <a:srgbClr val="D8A6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3511296" y="1463040"/>
            <a:ext cx="214884" cy="214884"/>
          </a:xfrm>
          <a:prstGeom prst="roundRect">
            <a:avLst>
              <a:gd name="adj" fmla="val 12765"/>
            </a:avLst>
          </a:prstGeom>
          <a:solidFill>
            <a:srgbClr val="D8A6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3767327" y="1463040"/>
            <a:ext cx="214884" cy="214884"/>
          </a:xfrm>
          <a:prstGeom prst="roundRect">
            <a:avLst>
              <a:gd name="adj" fmla="val 12765"/>
            </a:avLst>
          </a:prstGeom>
          <a:solidFill>
            <a:srgbClr val="D8A6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4023359" y="1463040"/>
            <a:ext cx="214884" cy="214884"/>
          </a:xfrm>
          <a:prstGeom prst="roundRect">
            <a:avLst>
              <a:gd name="adj" fmla="val 12765"/>
            </a:avLst>
          </a:prstGeom>
          <a:solidFill>
            <a:srgbClr val="D8A6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4279392" y="1463040"/>
            <a:ext cx="214884" cy="214884"/>
          </a:xfrm>
          <a:prstGeom prst="roundRect">
            <a:avLst>
              <a:gd name="adj" fmla="val 12765"/>
            </a:avLst>
          </a:prstGeom>
          <a:solidFill>
            <a:srgbClr val="D8A6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4535423" y="1463040"/>
            <a:ext cx="214884" cy="214884"/>
          </a:xfrm>
          <a:prstGeom prst="roundRect">
            <a:avLst>
              <a:gd name="adj" fmla="val 12765"/>
            </a:avLst>
          </a:prstGeom>
          <a:solidFill>
            <a:srgbClr val="D8A6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694944" y="1719072"/>
            <a:ext cx="214884" cy="214884"/>
          </a:xfrm>
          <a:prstGeom prst="roundRect">
            <a:avLst>
              <a:gd name="adj" fmla="val 12765"/>
            </a:avLst>
          </a:prstGeom>
          <a:solidFill>
            <a:srgbClr val="D8A6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950976" y="1719072"/>
            <a:ext cx="214884" cy="214884"/>
          </a:xfrm>
          <a:prstGeom prst="roundRect">
            <a:avLst>
              <a:gd name="adj" fmla="val 12765"/>
            </a:avLst>
          </a:prstGeom>
          <a:solidFill>
            <a:srgbClr val="D8A6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1207007" y="1719072"/>
            <a:ext cx="214884" cy="214884"/>
          </a:xfrm>
          <a:prstGeom prst="roundRect">
            <a:avLst>
              <a:gd name="adj" fmla="val 12765"/>
            </a:avLst>
          </a:prstGeom>
          <a:solidFill>
            <a:srgbClr val="D8A6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1463039" y="1719072"/>
            <a:ext cx="214884" cy="214884"/>
          </a:xfrm>
          <a:prstGeom prst="roundRect">
            <a:avLst>
              <a:gd name="adj" fmla="val 12765"/>
            </a:avLst>
          </a:prstGeom>
          <a:solidFill>
            <a:srgbClr val="D8A6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1719072" y="1719072"/>
            <a:ext cx="214884" cy="214884"/>
          </a:xfrm>
          <a:prstGeom prst="roundRect">
            <a:avLst>
              <a:gd name="adj" fmla="val 12765"/>
            </a:avLst>
          </a:prstGeom>
          <a:solidFill>
            <a:srgbClr val="D8A6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1975104" y="1719072"/>
            <a:ext cx="214884" cy="214884"/>
          </a:xfrm>
          <a:prstGeom prst="roundRect">
            <a:avLst>
              <a:gd name="adj" fmla="val 12765"/>
            </a:avLst>
          </a:prstGeom>
          <a:solidFill>
            <a:srgbClr val="D8A6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ounded Rectangle 47"/>
          <p:cNvSpPr/>
          <p:nvPr/>
        </p:nvSpPr>
        <p:spPr>
          <a:xfrm>
            <a:off x="2231135" y="1719072"/>
            <a:ext cx="214884" cy="214884"/>
          </a:xfrm>
          <a:prstGeom prst="roundRect">
            <a:avLst>
              <a:gd name="adj" fmla="val 12765"/>
            </a:avLst>
          </a:prstGeom>
          <a:solidFill>
            <a:srgbClr val="D8A6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ounded Rectangle 48"/>
          <p:cNvSpPr/>
          <p:nvPr/>
        </p:nvSpPr>
        <p:spPr>
          <a:xfrm>
            <a:off x="2487168" y="1719072"/>
            <a:ext cx="214884" cy="214884"/>
          </a:xfrm>
          <a:prstGeom prst="roundRect">
            <a:avLst>
              <a:gd name="adj" fmla="val 12765"/>
            </a:avLst>
          </a:prstGeom>
          <a:solidFill>
            <a:srgbClr val="D8A6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ounded Rectangle 49"/>
          <p:cNvSpPr/>
          <p:nvPr/>
        </p:nvSpPr>
        <p:spPr>
          <a:xfrm>
            <a:off x="2743200" y="1719072"/>
            <a:ext cx="214884" cy="214884"/>
          </a:xfrm>
          <a:prstGeom prst="roundRect">
            <a:avLst>
              <a:gd name="adj" fmla="val 12765"/>
            </a:avLst>
          </a:prstGeom>
          <a:solidFill>
            <a:srgbClr val="D8A6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ounded Rectangle 50"/>
          <p:cNvSpPr/>
          <p:nvPr/>
        </p:nvSpPr>
        <p:spPr>
          <a:xfrm>
            <a:off x="2999231" y="1719072"/>
            <a:ext cx="214884" cy="214884"/>
          </a:xfrm>
          <a:prstGeom prst="roundRect">
            <a:avLst>
              <a:gd name="adj" fmla="val 12765"/>
            </a:avLst>
          </a:prstGeom>
          <a:solidFill>
            <a:srgbClr val="D8A6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ounded Rectangle 51"/>
          <p:cNvSpPr/>
          <p:nvPr/>
        </p:nvSpPr>
        <p:spPr>
          <a:xfrm>
            <a:off x="3255263" y="1719072"/>
            <a:ext cx="214884" cy="214884"/>
          </a:xfrm>
          <a:prstGeom prst="roundRect">
            <a:avLst>
              <a:gd name="adj" fmla="val 12765"/>
            </a:avLst>
          </a:prstGeom>
          <a:solidFill>
            <a:srgbClr val="1E28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ounded Rectangle 52"/>
          <p:cNvSpPr/>
          <p:nvPr/>
        </p:nvSpPr>
        <p:spPr>
          <a:xfrm>
            <a:off x="3511296" y="1719072"/>
            <a:ext cx="214884" cy="214884"/>
          </a:xfrm>
          <a:prstGeom prst="roundRect">
            <a:avLst>
              <a:gd name="adj" fmla="val 12765"/>
            </a:avLst>
          </a:prstGeom>
          <a:solidFill>
            <a:srgbClr val="1E28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ounded Rectangle 53"/>
          <p:cNvSpPr/>
          <p:nvPr/>
        </p:nvSpPr>
        <p:spPr>
          <a:xfrm>
            <a:off x="3767327" y="1719072"/>
            <a:ext cx="214884" cy="214884"/>
          </a:xfrm>
          <a:prstGeom prst="roundRect">
            <a:avLst>
              <a:gd name="adj" fmla="val 12765"/>
            </a:avLst>
          </a:prstGeom>
          <a:solidFill>
            <a:srgbClr val="1E28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ounded Rectangle 54"/>
          <p:cNvSpPr/>
          <p:nvPr/>
        </p:nvSpPr>
        <p:spPr>
          <a:xfrm>
            <a:off x="4023359" y="1719072"/>
            <a:ext cx="214884" cy="214884"/>
          </a:xfrm>
          <a:prstGeom prst="roundRect">
            <a:avLst>
              <a:gd name="adj" fmla="val 12765"/>
            </a:avLst>
          </a:prstGeom>
          <a:solidFill>
            <a:srgbClr val="1E28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ounded Rectangle 55"/>
          <p:cNvSpPr/>
          <p:nvPr/>
        </p:nvSpPr>
        <p:spPr>
          <a:xfrm>
            <a:off x="4279392" y="1719072"/>
            <a:ext cx="214884" cy="214884"/>
          </a:xfrm>
          <a:prstGeom prst="roundRect">
            <a:avLst>
              <a:gd name="adj" fmla="val 12765"/>
            </a:avLst>
          </a:prstGeom>
          <a:solidFill>
            <a:srgbClr val="1E28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ounded Rectangle 56"/>
          <p:cNvSpPr/>
          <p:nvPr/>
        </p:nvSpPr>
        <p:spPr>
          <a:xfrm>
            <a:off x="4535423" y="1719072"/>
            <a:ext cx="214884" cy="214884"/>
          </a:xfrm>
          <a:prstGeom prst="roundRect">
            <a:avLst>
              <a:gd name="adj" fmla="val 12765"/>
            </a:avLst>
          </a:prstGeom>
          <a:solidFill>
            <a:srgbClr val="1E28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ounded Rectangle 57"/>
          <p:cNvSpPr/>
          <p:nvPr/>
        </p:nvSpPr>
        <p:spPr>
          <a:xfrm>
            <a:off x="694944" y="1975104"/>
            <a:ext cx="214884" cy="214884"/>
          </a:xfrm>
          <a:prstGeom prst="roundRect">
            <a:avLst>
              <a:gd name="adj" fmla="val 12765"/>
            </a:avLst>
          </a:prstGeom>
          <a:solidFill>
            <a:srgbClr val="1E28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ounded Rectangle 58"/>
          <p:cNvSpPr/>
          <p:nvPr/>
        </p:nvSpPr>
        <p:spPr>
          <a:xfrm>
            <a:off x="950976" y="1975104"/>
            <a:ext cx="214884" cy="214884"/>
          </a:xfrm>
          <a:prstGeom prst="roundRect">
            <a:avLst>
              <a:gd name="adj" fmla="val 12765"/>
            </a:avLst>
          </a:prstGeom>
          <a:solidFill>
            <a:srgbClr val="1E28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ounded Rectangle 59"/>
          <p:cNvSpPr/>
          <p:nvPr/>
        </p:nvSpPr>
        <p:spPr>
          <a:xfrm>
            <a:off x="1207007" y="1975104"/>
            <a:ext cx="214884" cy="214884"/>
          </a:xfrm>
          <a:prstGeom prst="roundRect">
            <a:avLst>
              <a:gd name="adj" fmla="val 12765"/>
            </a:avLst>
          </a:prstGeom>
          <a:solidFill>
            <a:srgbClr val="1E28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ounded Rectangle 60"/>
          <p:cNvSpPr/>
          <p:nvPr/>
        </p:nvSpPr>
        <p:spPr>
          <a:xfrm>
            <a:off x="1463039" y="1975104"/>
            <a:ext cx="214884" cy="214884"/>
          </a:xfrm>
          <a:prstGeom prst="roundRect">
            <a:avLst>
              <a:gd name="adj" fmla="val 12765"/>
            </a:avLst>
          </a:prstGeom>
          <a:solidFill>
            <a:srgbClr val="1E28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ounded Rectangle 61"/>
          <p:cNvSpPr/>
          <p:nvPr/>
        </p:nvSpPr>
        <p:spPr>
          <a:xfrm>
            <a:off x="1719072" y="1975104"/>
            <a:ext cx="214884" cy="214884"/>
          </a:xfrm>
          <a:prstGeom prst="roundRect">
            <a:avLst>
              <a:gd name="adj" fmla="val 12765"/>
            </a:avLst>
          </a:prstGeom>
          <a:solidFill>
            <a:srgbClr val="1E28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ounded Rectangle 62"/>
          <p:cNvSpPr/>
          <p:nvPr/>
        </p:nvSpPr>
        <p:spPr>
          <a:xfrm>
            <a:off x="1975104" y="1975104"/>
            <a:ext cx="214884" cy="214884"/>
          </a:xfrm>
          <a:prstGeom prst="roundRect">
            <a:avLst>
              <a:gd name="adj" fmla="val 12765"/>
            </a:avLst>
          </a:prstGeom>
          <a:solidFill>
            <a:srgbClr val="1E28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ounded Rectangle 63"/>
          <p:cNvSpPr/>
          <p:nvPr/>
        </p:nvSpPr>
        <p:spPr>
          <a:xfrm>
            <a:off x="2231135" y="1975104"/>
            <a:ext cx="214884" cy="214884"/>
          </a:xfrm>
          <a:prstGeom prst="roundRect">
            <a:avLst>
              <a:gd name="adj" fmla="val 12765"/>
            </a:avLst>
          </a:prstGeom>
          <a:solidFill>
            <a:srgbClr val="1E28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ounded Rectangle 64"/>
          <p:cNvSpPr/>
          <p:nvPr/>
        </p:nvSpPr>
        <p:spPr>
          <a:xfrm>
            <a:off x="2487168" y="1975104"/>
            <a:ext cx="214884" cy="214884"/>
          </a:xfrm>
          <a:prstGeom prst="roundRect">
            <a:avLst>
              <a:gd name="adj" fmla="val 12765"/>
            </a:avLst>
          </a:prstGeom>
          <a:solidFill>
            <a:srgbClr val="1E28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ounded Rectangle 65"/>
          <p:cNvSpPr/>
          <p:nvPr/>
        </p:nvSpPr>
        <p:spPr>
          <a:xfrm>
            <a:off x="2743200" y="1975104"/>
            <a:ext cx="214884" cy="214884"/>
          </a:xfrm>
          <a:prstGeom prst="roundRect">
            <a:avLst>
              <a:gd name="adj" fmla="val 12765"/>
            </a:avLst>
          </a:prstGeom>
          <a:solidFill>
            <a:srgbClr val="1E28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ounded Rectangle 66"/>
          <p:cNvSpPr/>
          <p:nvPr/>
        </p:nvSpPr>
        <p:spPr>
          <a:xfrm>
            <a:off x="2999231" y="1975104"/>
            <a:ext cx="214884" cy="214884"/>
          </a:xfrm>
          <a:prstGeom prst="roundRect">
            <a:avLst>
              <a:gd name="adj" fmla="val 12765"/>
            </a:avLst>
          </a:prstGeom>
          <a:solidFill>
            <a:srgbClr val="1E28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ounded Rectangle 67"/>
          <p:cNvSpPr/>
          <p:nvPr/>
        </p:nvSpPr>
        <p:spPr>
          <a:xfrm>
            <a:off x="3255263" y="1975104"/>
            <a:ext cx="214884" cy="214884"/>
          </a:xfrm>
          <a:prstGeom prst="roundRect">
            <a:avLst>
              <a:gd name="adj" fmla="val 12765"/>
            </a:avLst>
          </a:prstGeom>
          <a:solidFill>
            <a:srgbClr val="1E28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ounded Rectangle 68"/>
          <p:cNvSpPr/>
          <p:nvPr/>
        </p:nvSpPr>
        <p:spPr>
          <a:xfrm>
            <a:off x="3511296" y="1975104"/>
            <a:ext cx="214884" cy="214884"/>
          </a:xfrm>
          <a:prstGeom prst="roundRect">
            <a:avLst>
              <a:gd name="adj" fmla="val 12765"/>
            </a:avLst>
          </a:prstGeom>
          <a:solidFill>
            <a:srgbClr val="1E28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ounded Rectangle 69"/>
          <p:cNvSpPr/>
          <p:nvPr/>
        </p:nvSpPr>
        <p:spPr>
          <a:xfrm>
            <a:off x="3767327" y="1975104"/>
            <a:ext cx="214884" cy="214884"/>
          </a:xfrm>
          <a:prstGeom prst="roundRect">
            <a:avLst>
              <a:gd name="adj" fmla="val 12765"/>
            </a:avLst>
          </a:prstGeom>
          <a:solidFill>
            <a:srgbClr val="1E28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ounded Rectangle 70"/>
          <p:cNvSpPr/>
          <p:nvPr/>
        </p:nvSpPr>
        <p:spPr>
          <a:xfrm>
            <a:off x="4023359" y="1975104"/>
            <a:ext cx="214884" cy="214884"/>
          </a:xfrm>
          <a:prstGeom prst="roundRect">
            <a:avLst>
              <a:gd name="adj" fmla="val 12765"/>
            </a:avLst>
          </a:prstGeom>
          <a:solidFill>
            <a:srgbClr val="1E28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ounded Rectangle 71"/>
          <p:cNvSpPr/>
          <p:nvPr/>
        </p:nvSpPr>
        <p:spPr>
          <a:xfrm>
            <a:off x="4279392" y="1975104"/>
            <a:ext cx="214884" cy="214884"/>
          </a:xfrm>
          <a:prstGeom prst="roundRect">
            <a:avLst>
              <a:gd name="adj" fmla="val 12765"/>
            </a:avLst>
          </a:prstGeom>
          <a:solidFill>
            <a:srgbClr val="1E28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ounded Rectangle 72"/>
          <p:cNvSpPr/>
          <p:nvPr/>
        </p:nvSpPr>
        <p:spPr>
          <a:xfrm>
            <a:off x="4535423" y="1975104"/>
            <a:ext cx="214884" cy="214884"/>
          </a:xfrm>
          <a:prstGeom prst="roundRect">
            <a:avLst>
              <a:gd name="adj" fmla="val 12765"/>
            </a:avLst>
          </a:prstGeom>
          <a:solidFill>
            <a:srgbClr val="1E28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ounded Rectangle 73"/>
          <p:cNvSpPr/>
          <p:nvPr/>
        </p:nvSpPr>
        <p:spPr>
          <a:xfrm>
            <a:off x="694944" y="2231136"/>
            <a:ext cx="214884" cy="214884"/>
          </a:xfrm>
          <a:prstGeom prst="roundRect">
            <a:avLst>
              <a:gd name="adj" fmla="val 12765"/>
            </a:avLst>
          </a:prstGeom>
          <a:solidFill>
            <a:srgbClr val="1E28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ounded Rectangle 74"/>
          <p:cNvSpPr/>
          <p:nvPr/>
        </p:nvSpPr>
        <p:spPr>
          <a:xfrm>
            <a:off x="950976" y="2231136"/>
            <a:ext cx="214884" cy="214884"/>
          </a:xfrm>
          <a:prstGeom prst="roundRect">
            <a:avLst>
              <a:gd name="adj" fmla="val 12765"/>
            </a:avLst>
          </a:prstGeom>
          <a:solidFill>
            <a:srgbClr val="1E28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ounded Rectangle 75"/>
          <p:cNvSpPr/>
          <p:nvPr/>
        </p:nvSpPr>
        <p:spPr>
          <a:xfrm>
            <a:off x="1207007" y="2231136"/>
            <a:ext cx="214884" cy="214884"/>
          </a:xfrm>
          <a:prstGeom prst="roundRect">
            <a:avLst>
              <a:gd name="adj" fmla="val 12765"/>
            </a:avLst>
          </a:prstGeom>
          <a:solidFill>
            <a:srgbClr val="1E28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ounded Rectangle 76"/>
          <p:cNvSpPr/>
          <p:nvPr/>
        </p:nvSpPr>
        <p:spPr>
          <a:xfrm>
            <a:off x="1463039" y="2231136"/>
            <a:ext cx="214884" cy="214884"/>
          </a:xfrm>
          <a:prstGeom prst="roundRect">
            <a:avLst>
              <a:gd name="adj" fmla="val 12765"/>
            </a:avLst>
          </a:prstGeom>
          <a:solidFill>
            <a:srgbClr val="1E28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ounded Rectangle 77"/>
          <p:cNvSpPr/>
          <p:nvPr/>
        </p:nvSpPr>
        <p:spPr>
          <a:xfrm>
            <a:off x="1719072" y="2231136"/>
            <a:ext cx="214884" cy="214884"/>
          </a:xfrm>
          <a:prstGeom prst="roundRect">
            <a:avLst>
              <a:gd name="adj" fmla="val 12765"/>
            </a:avLst>
          </a:prstGeom>
          <a:solidFill>
            <a:srgbClr val="1E28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ounded Rectangle 78"/>
          <p:cNvSpPr/>
          <p:nvPr/>
        </p:nvSpPr>
        <p:spPr>
          <a:xfrm>
            <a:off x="1975104" y="2231136"/>
            <a:ext cx="214884" cy="214884"/>
          </a:xfrm>
          <a:prstGeom prst="roundRect">
            <a:avLst>
              <a:gd name="adj" fmla="val 12765"/>
            </a:avLst>
          </a:prstGeom>
          <a:solidFill>
            <a:srgbClr val="1E28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ounded Rectangle 79"/>
          <p:cNvSpPr/>
          <p:nvPr/>
        </p:nvSpPr>
        <p:spPr>
          <a:xfrm>
            <a:off x="2231135" y="2231136"/>
            <a:ext cx="214884" cy="214884"/>
          </a:xfrm>
          <a:prstGeom prst="roundRect">
            <a:avLst>
              <a:gd name="adj" fmla="val 12765"/>
            </a:avLst>
          </a:prstGeom>
          <a:solidFill>
            <a:srgbClr val="1E28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ounded Rectangle 80"/>
          <p:cNvSpPr/>
          <p:nvPr/>
        </p:nvSpPr>
        <p:spPr>
          <a:xfrm>
            <a:off x="2487168" y="2231136"/>
            <a:ext cx="214884" cy="214884"/>
          </a:xfrm>
          <a:prstGeom prst="roundRect">
            <a:avLst>
              <a:gd name="adj" fmla="val 12765"/>
            </a:avLst>
          </a:prstGeom>
          <a:solidFill>
            <a:srgbClr val="1E28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ounded Rectangle 81"/>
          <p:cNvSpPr/>
          <p:nvPr/>
        </p:nvSpPr>
        <p:spPr>
          <a:xfrm>
            <a:off x="2743200" y="2231136"/>
            <a:ext cx="214884" cy="214884"/>
          </a:xfrm>
          <a:prstGeom prst="roundRect">
            <a:avLst>
              <a:gd name="adj" fmla="val 12765"/>
            </a:avLst>
          </a:prstGeom>
          <a:solidFill>
            <a:srgbClr val="1E28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ounded Rectangle 82"/>
          <p:cNvSpPr/>
          <p:nvPr/>
        </p:nvSpPr>
        <p:spPr>
          <a:xfrm>
            <a:off x="2999231" y="2231136"/>
            <a:ext cx="214884" cy="214884"/>
          </a:xfrm>
          <a:prstGeom prst="roundRect">
            <a:avLst>
              <a:gd name="adj" fmla="val 12765"/>
            </a:avLst>
          </a:prstGeom>
          <a:solidFill>
            <a:srgbClr val="1E28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ounded Rectangle 83"/>
          <p:cNvSpPr/>
          <p:nvPr/>
        </p:nvSpPr>
        <p:spPr>
          <a:xfrm>
            <a:off x="3255263" y="2231136"/>
            <a:ext cx="214884" cy="214884"/>
          </a:xfrm>
          <a:prstGeom prst="roundRect">
            <a:avLst>
              <a:gd name="adj" fmla="val 12765"/>
            </a:avLst>
          </a:prstGeom>
          <a:solidFill>
            <a:srgbClr val="1E28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ounded Rectangle 84"/>
          <p:cNvSpPr/>
          <p:nvPr/>
        </p:nvSpPr>
        <p:spPr>
          <a:xfrm>
            <a:off x="3511296" y="2231136"/>
            <a:ext cx="214884" cy="214884"/>
          </a:xfrm>
          <a:prstGeom prst="roundRect">
            <a:avLst>
              <a:gd name="adj" fmla="val 12765"/>
            </a:avLst>
          </a:prstGeom>
          <a:solidFill>
            <a:srgbClr val="1E28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ounded Rectangle 85"/>
          <p:cNvSpPr/>
          <p:nvPr/>
        </p:nvSpPr>
        <p:spPr>
          <a:xfrm>
            <a:off x="3767327" y="2231136"/>
            <a:ext cx="214884" cy="214884"/>
          </a:xfrm>
          <a:prstGeom prst="roundRect">
            <a:avLst>
              <a:gd name="adj" fmla="val 12765"/>
            </a:avLst>
          </a:prstGeom>
          <a:solidFill>
            <a:srgbClr val="1E28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ounded Rectangle 86"/>
          <p:cNvSpPr/>
          <p:nvPr/>
        </p:nvSpPr>
        <p:spPr>
          <a:xfrm>
            <a:off x="4023359" y="2231136"/>
            <a:ext cx="214884" cy="214884"/>
          </a:xfrm>
          <a:prstGeom prst="roundRect">
            <a:avLst>
              <a:gd name="adj" fmla="val 12765"/>
            </a:avLst>
          </a:prstGeom>
          <a:solidFill>
            <a:srgbClr val="1E28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ounded Rectangle 87"/>
          <p:cNvSpPr/>
          <p:nvPr/>
        </p:nvSpPr>
        <p:spPr>
          <a:xfrm>
            <a:off x="4279392" y="2231136"/>
            <a:ext cx="214884" cy="214884"/>
          </a:xfrm>
          <a:prstGeom prst="roundRect">
            <a:avLst>
              <a:gd name="adj" fmla="val 12765"/>
            </a:avLst>
          </a:prstGeom>
          <a:solidFill>
            <a:srgbClr val="1E28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ounded Rectangle 88"/>
          <p:cNvSpPr/>
          <p:nvPr/>
        </p:nvSpPr>
        <p:spPr>
          <a:xfrm>
            <a:off x="4535423" y="2231136"/>
            <a:ext cx="214884" cy="214884"/>
          </a:xfrm>
          <a:prstGeom prst="roundRect">
            <a:avLst>
              <a:gd name="adj" fmla="val 12765"/>
            </a:avLst>
          </a:prstGeom>
          <a:solidFill>
            <a:srgbClr val="1E28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ounded Rectangle 89"/>
          <p:cNvSpPr/>
          <p:nvPr/>
        </p:nvSpPr>
        <p:spPr>
          <a:xfrm>
            <a:off x="694944" y="2487168"/>
            <a:ext cx="214884" cy="214884"/>
          </a:xfrm>
          <a:prstGeom prst="roundRect">
            <a:avLst>
              <a:gd name="adj" fmla="val 12765"/>
            </a:avLst>
          </a:prstGeom>
          <a:solidFill>
            <a:srgbClr val="1E28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ounded Rectangle 90"/>
          <p:cNvSpPr/>
          <p:nvPr/>
        </p:nvSpPr>
        <p:spPr>
          <a:xfrm>
            <a:off x="950976" y="2487168"/>
            <a:ext cx="214884" cy="214884"/>
          </a:xfrm>
          <a:prstGeom prst="roundRect">
            <a:avLst>
              <a:gd name="adj" fmla="val 12765"/>
            </a:avLst>
          </a:prstGeom>
          <a:solidFill>
            <a:srgbClr val="1E28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ounded Rectangle 91"/>
          <p:cNvSpPr/>
          <p:nvPr/>
        </p:nvSpPr>
        <p:spPr>
          <a:xfrm>
            <a:off x="1207007" y="2487168"/>
            <a:ext cx="214884" cy="214884"/>
          </a:xfrm>
          <a:prstGeom prst="roundRect">
            <a:avLst>
              <a:gd name="adj" fmla="val 12765"/>
            </a:avLst>
          </a:prstGeom>
          <a:solidFill>
            <a:srgbClr val="1E28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ounded Rectangle 92"/>
          <p:cNvSpPr/>
          <p:nvPr/>
        </p:nvSpPr>
        <p:spPr>
          <a:xfrm>
            <a:off x="1463039" y="2487168"/>
            <a:ext cx="214884" cy="214884"/>
          </a:xfrm>
          <a:prstGeom prst="roundRect">
            <a:avLst>
              <a:gd name="adj" fmla="val 12765"/>
            </a:avLst>
          </a:prstGeom>
          <a:solidFill>
            <a:srgbClr val="1E28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ounded Rectangle 93"/>
          <p:cNvSpPr/>
          <p:nvPr/>
        </p:nvSpPr>
        <p:spPr>
          <a:xfrm>
            <a:off x="1719072" y="2487168"/>
            <a:ext cx="214884" cy="214884"/>
          </a:xfrm>
          <a:prstGeom prst="roundRect">
            <a:avLst>
              <a:gd name="adj" fmla="val 12765"/>
            </a:avLst>
          </a:prstGeom>
          <a:solidFill>
            <a:srgbClr val="1E28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ounded Rectangle 94"/>
          <p:cNvSpPr/>
          <p:nvPr/>
        </p:nvSpPr>
        <p:spPr>
          <a:xfrm>
            <a:off x="1975104" y="2487168"/>
            <a:ext cx="214884" cy="214884"/>
          </a:xfrm>
          <a:prstGeom prst="roundRect">
            <a:avLst>
              <a:gd name="adj" fmla="val 12765"/>
            </a:avLst>
          </a:prstGeom>
          <a:solidFill>
            <a:srgbClr val="1E28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ounded Rectangle 95"/>
          <p:cNvSpPr/>
          <p:nvPr/>
        </p:nvSpPr>
        <p:spPr>
          <a:xfrm>
            <a:off x="2231135" y="2487168"/>
            <a:ext cx="214884" cy="214884"/>
          </a:xfrm>
          <a:prstGeom prst="roundRect">
            <a:avLst>
              <a:gd name="adj" fmla="val 12765"/>
            </a:avLst>
          </a:prstGeom>
          <a:solidFill>
            <a:srgbClr val="1E28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Rounded Rectangle 96"/>
          <p:cNvSpPr/>
          <p:nvPr/>
        </p:nvSpPr>
        <p:spPr>
          <a:xfrm>
            <a:off x="2487168" y="2487168"/>
            <a:ext cx="214884" cy="214884"/>
          </a:xfrm>
          <a:prstGeom prst="roundRect">
            <a:avLst>
              <a:gd name="adj" fmla="val 12765"/>
            </a:avLst>
          </a:prstGeom>
          <a:solidFill>
            <a:srgbClr val="1E28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Rounded Rectangle 97"/>
          <p:cNvSpPr/>
          <p:nvPr/>
        </p:nvSpPr>
        <p:spPr>
          <a:xfrm>
            <a:off x="2743200" y="2487168"/>
            <a:ext cx="214884" cy="214884"/>
          </a:xfrm>
          <a:prstGeom prst="roundRect">
            <a:avLst>
              <a:gd name="adj" fmla="val 12765"/>
            </a:avLst>
          </a:prstGeom>
          <a:solidFill>
            <a:srgbClr val="1E28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Rounded Rectangle 98"/>
          <p:cNvSpPr/>
          <p:nvPr/>
        </p:nvSpPr>
        <p:spPr>
          <a:xfrm>
            <a:off x="2999231" y="2487168"/>
            <a:ext cx="214884" cy="214884"/>
          </a:xfrm>
          <a:prstGeom prst="roundRect">
            <a:avLst>
              <a:gd name="adj" fmla="val 12765"/>
            </a:avLst>
          </a:prstGeom>
          <a:solidFill>
            <a:srgbClr val="1E28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Rounded Rectangle 99"/>
          <p:cNvSpPr/>
          <p:nvPr/>
        </p:nvSpPr>
        <p:spPr>
          <a:xfrm>
            <a:off x="3255263" y="2487168"/>
            <a:ext cx="214884" cy="214884"/>
          </a:xfrm>
          <a:prstGeom prst="roundRect">
            <a:avLst>
              <a:gd name="adj" fmla="val 12765"/>
            </a:avLst>
          </a:prstGeom>
          <a:solidFill>
            <a:srgbClr val="1E28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ounded Rectangle 100"/>
          <p:cNvSpPr/>
          <p:nvPr/>
        </p:nvSpPr>
        <p:spPr>
          <a:xfrm>
            <a:off x="3511296" y="2487168"/>
            <a:ext cx="214884" cy="214884"/>
          </a:xfrm>
          <a:prstGeom prst="roundRect">
            <a:avLst>
              <a:gd name="adj" fmla="val 12765"/>
            </a:avLst>
          </a:prstGeom>
          <a:solidFill>
            <a:srgbClr val="1E28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ounded Rectangle 101"/>
          <p:cNvSpPr/>
          <p:nvPr/>
        </p:nvSpPr>
        <p:spPr>
          <a:xfrm>
            <a:off x="3767327" y="2487168"/>
            <a:ext cx="214884" cy="214884"/>
          </a:xfrm>
          <a:prstGeom prst="roundRect">
            <a:avLst>
              <a:gd name="adj" fmla="val 12765"/>
            </a:avLst>
          </a:prstGeom>
          <a:solidFill>
            <a:srgbClr val="1E28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ounded Rectangle 102"/>
          <p:cNvSpPr/>
          <p:nvPr/>
        </p:nvSpPr>
        <p:spPr>
          <a:xfrm>
            <a:off x="4023359" y="2487168"/>
            <a:ext cx="214884" cy="214884"/>
          </a:xfrm>
          <a:prstGeom prst="roundRect">
            <a:avLst>
              <a:gd name="adj" fmla="val 12765"/>
            </a:avLst>
          </a:prstGeom>
          <a:solidFill>
            <a:srgbClr val="1E28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Rounded Rectangle 103"/>
          <p:cNvSpPr/>
          <p:nvPr/>
        </p:nvSpPr>
        <p:spPr>
          <a:xfrm>
            <a:off x="4279392" y="2487168"/>
            <a:ext cx="214884" cy="214884"/>
          </a:xfrm>
          <a:prstGeom prst="roundRect">
            <a:avLst>
              <a:gd name="adj" fmla="val 12765"/>
            </a:avLst>
          </a:prstGeom>
          <a:solidFill>
            <a:srgbClr val="1E28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Rounded Rectangle 104"/>
          <p:cNvSpPr/>
          <p:nvPr/>
        </p:nvSpPr>
        <p:spPr>
          <a:xfrm>
            <a:off x="4535423" y="2487168"/>
            <a:ext cx="214884" cy="214884"/>
          </a:xfrm>
          <a:prstGeom prst="roundRect">
            <a:avLst>
              <a:gd name="adj" fmla="val 12765"/>
            </a:avLst>
          </a:prstGeom>
          <a:solidFill>
            <a:srgbClr val="1E28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Rounded Rectangle 105"/>
          <p:cNvSpPr/>
          <p:nvPr/>
        </p:nvSpPr>
        <p:spPr>
          <a:xfrm>
            <a:off x="694944" y="2743200"/>
            <a:ext cx="214884" cy="214884"/>
          </a:xfrm>
          <a:prstGeom prst="roundRect">
            <a:avLst>
              <a:gd name="adj" fmla="val 12765"/>
            </a:avLst>
          </a:prstGeom>
          <a:solidFill>
            <a:srgbClr val="1E28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Rounded Rectangle 106"/>
          <p:cNvSpPr/>
          <p:nvPr/>
        </p:nvSpPr>
        <p:spPr>
          <a:xfrm>
            <a:off x="950976" y="2743200"/>
            <a:ext cx="214884" cy="214884"/>
          </a:xfrm>
          <a:prstGeom prst="roundRect">
            <a:avLst>
              <a:gd name="adj" fmla="val 12765"/>
            </a:avLst>
          </a:prstGeom>
          <a:solidFill>
            <a:srgbClr val="1E28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Rounded Rectangle 107"/>
          <p:cNvSpPr/>
          <p:nvPr/>
        </p:nvSpPr>
        <p:spPr>
          <a:xfrm>
            <a:off x="1207007" y="2743200"/>
            <a:ext cx="214884" cy="214884"/>
          </a:xfrm>
          <a:prstGeom prst="roundRect">
            <a:avLst>
              <a:gd name="adj" fmla="val 12765"/>
            </a:avLst>
          </a:prstGeom>
          <a:solidFill>
            <a:srgbClr val="1E28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Rounded Rectangle 108"/>
          <p:cNvSpPr/>
          <p:nvPr/>
        </p:nvSpPr>
        <p:spPr>
          <a:xfrm>
            <a:off x="1463039" y="2743200"/>
            <a:ext cx="214884" cy="214884"/>
          </a:xfrm>
          <a:prstGeom prst="roundRect">
            <a:avLst>
              <a:gd name="adj" fmla="val 12765"/>
            </a:avLst>
          </a:prstGeom>
          <a:solidFill>
            <a:srgbClr val="1E28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Rounded Rectangle 109"/>
          <p:cNvSpPr/>
          <p:nvPr/>
        </p:nvSpPr>
        <p:spPr>
          <a:xfrm>
            <a:off x="1719072" y="2743200"/>
            <a:ext cx="214884" cy="214884"/>
          </a:xfrm>
          <a:prstGeom prst="roundRect">
            <a:avLst>
              <a:gd name="adj" fmla="val 12765"/>
            </a:avLst>
          </a:prstGeom>
          <a:solidFill>
            <a:srgbClr val="1E28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Rounded Rectangle 110"/>
          <p:cNvSpPr/>
          <p:nvPr/>
        </p:nvSpPr>
        <p:spPr>
          <a:xfrm>
            <a:off x="1975104" y="2743200"/>
            <a:ext cx="214884" cy="214884"/>
          </a:xfrm>
          <a:prstGeom prst="roundRect">
            <a:avLst>
              <a:gd name="adj" fmla="val 12765"/>
            </a:avLst>
          </a:prstGeom>
          <a:solidFill>
            <a:srgbClr val="1E28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Rounded Rectangle 111"/>
          <p:cNvSpPr/>
          <p:nvPr/>
        </p:nvSpPr>
        <p:spPr>
          <a:xfrm>
            <a:off x="2231135" y="2743200"/>
            <a:ext cx="214884" cy="214884"/>
          </a:xfrm>
          <a:prstGeom prst="roundRect">
            <a:avLst>
              <a:gd name="adj" fmla="val 12765"/>
            </a:avLst>
          </a:prstGeom>
          <a:solidFill>
            <a:srgbClr val="1E28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Rounded Rectangle 112"/>
          <p:cNvSpPr/>
          <p:nvPr/>
        </p:nvSpPr>
        <p:spPr>
          <a:xfrm>
            <a:off x="2487168" y="2743200"/>
            <a:ext cx="214884" cy="214884"/>
          </a:xfrm>
          <a:prstGeom prst="roundRect">
            <a:avLst>
              <a:gd name="adj" fmla="val 12765"/>
            </a:avLst>
          </a:prstGeom>
          <a:solidFill>
            <a:srgbClr val="1E28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Rounded Rectangle 113"/>
          <p:cNvSpPr/>
          <p:nvPr/>
        </p:nvSpPr>
        <p:spPr>
          <a:xfrm>
            <a:off x="2743200" y="2743200"/>
            <a:ext cx="214884" cy="214884"/>
          </a:xfrm>
          <a:prstGeom prst="roundRect">
            <a:avLst>
              <a:gd name="adj" fmla="val 12765"/>
            </a:avLst>
          </a:prstGeom>
          <a:solidFill>
            <a:srgbClr val="1E28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Rounded Rectangle 114"/>
          <p:cNvSpPr/>
          <p:nvPr/>
        </p:nvSpPr>
        <p:spPr>
          <a:xfrm>
            <a:off x="2999231" y="2743200"/>
            <a:ext cx="214884" cy="214884"/>
          </a:xfrm>
          <a:prstGeom prst="roundRect">
            <a:avLst>
              <a:gd name="adj" fmla="val 12765"/>
            </a:avLst>
          </a:prstGeom>
          <a:solidFill>
            <a:srgbClr val="1E28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Rounded Rectangle 115"/>
          <p:cNvSpPr/>
          <p:nvPr/>
        </p:nvSpPr>
        <p:spPr>
          <a:xfrm>
            <a:off x="3255263" y="2743200"/>
            <a:ext cx="214884" cy="214884"/>
          </a:xfrm>
          <a:prstGeom prst="roundRect">
            <a:avLst>
              <a:gd name="adj" fmla="val 12765"/>
            </a:avLst>
          </a:prstGeom>
          <a:solidFill>
            <a:srgbClr val="1E28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Rounded Rectangle 116"/>
          <p:cNvSpPr/>
          <p:nvPr/>
        </p:nvSpPr>
        <p:spPr>
          <a:xfrm>
            <a:off x="3511296" y="2743200"/>
            <a:ext cx="214884" cy="214884"/>
          </a:xfrm>
          <a:prstGeom prst="roundRect">
            <a:avLst>
              <a:gd name="adj" fmla="val 12765"/>
            </a:avLst>
          </a:prstGeom>
          <a:solidFill>
            <a:srgbClr val="1E28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Rounded Rectangle 117"/>
          <p:cNvSpPr/>
          <p:nvPr/>
        </p:nvSpPr>
        <p:spPr>
          <a:xfrm>
            <a:off x="3767327" y="2743200"/>
            <a:ext cx="214884" cy="214884"/>
          </a:xfrm>
          <a:prstGeom prst="roundRect">
            <a:avLst>
              <a:gd name="adj" fmla="val 12765"/>
            </a:avLst>
          </a:prstGeom>
          <a:solidFill>
            <a:srgbClr val="1E28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Rounded Rectangle 118"/>
          <p:cNvSpPr/>
          <p:nvPr/>
        </p:nvSpPr>
        <p:spPr>
          <a:xfrm>
            <a:off x="4023359" y="2743200"/>
            <a:ext cx="214884" cy="214884"/>
          </a:xfrm>
          <a:prstGeom prst="roundRect">
            <a:avLst>
              <a:gd name="adj" fmla="val 12765"/>
            </a:avLst>
          </a:prstGeom>
          <a:solidFill>
            <a:srgbClr val="1E28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Rounded Rectangle 119"/>
          <p:cNvSpPr/>
          <p:nvPr/>
        </p:nvSpPr>
        <p:spPr>
          <a:xfrm>
            <a:off x="4279392" y="2743200"/>
            <a:ext cx="214884" cy="214884"/>
          </a:xfrm>
          <a:prstGeom prst="roundRect">
            <a:avLst>
              <a:gd name="adj" fmla="val 12765"/>
            </a:avLst>
          </a:prstGeom>
          <a:solidFill>
            <a:srgbClr val="1E28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Rounded Rectangle 120"/>
          <p:cNvSpPr/>
          <p:nvPr/>
        </p:nvSpPr>
        <p:spPr>
          <a:xfrm>
            <a:off x="4535423" y="2743200"/>
            <a:ext cx="214884" cy="214884"/>
          </a:xfrm>
          <a:prstGeom prst="roundRect">
            <a:avLst>
              <a:gd name="adj" fmla="val 12765"/>
            </a:avLst>
          </a:prstGeom>
          <a:solidFill>
            <a:srgbClr val="1E28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Rounded Rectangle 121"/>
          <p:cNvSpPr/>
          <p:nvPr/>
        </p:nvSpPr>
        <p:spPr>
          <a:xfrm>
            <a:off x="694944" y="2999232"/>
            <a:ext cx="214884" cy="214884"/>
          </a:xfrm>
          <a:prstGeom prst="roundRect">
            <a:avLst>
              <a:gd name="adj" fmla="val 12765"/>
            </a:avLst>
          </a:prstGeom>
          <a:solidFill>
            <a:srgbClr val="1E28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Rounded Rectangle 122"/>
          <p:cNvSpPr/>
          <p:nvPr/>
        </p:nvSpPr>
        <p:spPr>
          <a:xfrm>
            <a:off x="950976" y="2999232"/>
            <a:ext cx="214884" cy="214884"/>
          </a:xfrm>
          <a:prstGeom prst="roundRect">
            <a:avLst>
              <a:gd name="adj" fmla="val 12765"/>
            </a:avLst>
          </a:prstGeom>
          <a:solidFill>
            <a:srgbClr val="1E28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Rounded Rectangle 123"/>
          <p:cNvSpPr/>
          <p:nvPr/>
        </p:nvSpPr>
        <p:spPr>
          <a:xfrm>
            <a:off x="1207007" y="2999232"/>
            <a:ext cx="214884" cy="214884"/>
          </a:xfrm>
          <a:prstGeom prst="roundRect">
            <a:avLst>
              <a:gd name="adj" fmla="val 12765"/>
            </a:avLst>
          </a:prstGeom>
          <a:solidFill>
            <a:srgbClr val="1E28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Rounded Rectangle 124"/>
          <p:cNvSpPr/>
          <p:nvPr/>
        </p:nvSpPr>
        <p:spPr>
          <a:xfrm>
            <a:off x="1463039" y="2999232"/>
            <a:ext cx="214884" cy="214884"/>
          </a:xfrm>
          <a:prstGeom prst="roundRect">
            <a:avLst>
              <a:gd name="adj" fmla="val 12765"/>
            </a:avLst>
          </a:prstGeom>
          <a:solidFill>
            <a:srgbClr val="1E28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Rounded Rectangle 125"/>
          <p:cNvSpPr/>
          <p:nvPr/>
        </p:nvSpPr>
        <p:spPr>
          <a:xfrm>
            <a:off x="1719072" y="2999232"/>
            <a:ext cx="214884" cy="214884"/>
          </a:xfrm>
          <a:prstGeom prst="roundRect">
            <a:avLst>
              <a:gd name="adj" fmla="val 12765"/>
            </a:avLst>
          </a:prstGeom>
          <a:solidFill>
            <a:srgbClr val="1E28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Rounded Rectangle 126"/>
          <p:cNvSpPr/>
          <p:nvPr/>
        </p:nvSpPr>
        <p:spPr>
          <a:xfrm>
            <a:off x="1975104" y="2999232"/>
            <a:ext cx="214884" cy="214884"/>
          </a:xfrm>
          <a:prstGeom prst="roundRect">
            <a:avLst>
              <a:gd name="adj" fmla="val 12765"/>
            </a:avLst>
          </a:prstGeom>
          <a:solidFill>
            <a:srgbClr val="1E28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Rounded Rectangle 127"/>
          <p:cNvSpPr/>
          <p:nvPr/>
        </p:nvSpPr>
        <p:spPr>
          <a:xfrm>
            <a:off x="2231135" y="2999232"/>
            <a:ext cx="214884" cy="214884"/>
          </a:xfrm>
          <a:prstGeom prst="roundRect">
            <a:avLst>
              <a:gd name="adj" fmla="val 12765"/>
            </a:avLst>
          </a:prstGeom>
          <a:solidFill>
            <a:srgbClr val="1E28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Rounded Rectangle 128"/>
          <p:cNvSpPr/>
          <p:nvPr/>
        </p:nvSpPr>
        <p:spPr>
          <a:xfrm>
            <a:off x="2487168" y="2999232"/>
            <a:ext cx="214884" cy="214884"/>
          </a:xfrm>
          <a:prstGeom prst="roundRect">
            <a:avLst>
              <a:gd name="adj" fmla="val 12765"/>
            </a:avLst>
          </a:prstGeom>
          <a:solidFill>
            <a:srgbClr val="1E28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Rounded Rectangle 129"/>
          <p:cNvSpPr/>
          <p:nvPr/>
        </p:nvSpPr>
        <p:spPr>
          <a:xfrm>
            <a:off x="2743200" y="2999232"/>
            <a:ext cx="214884" cy="214884"/>
          </a:xfrm>
          <a:prstGeom prst="roundRect">
            <a:avLst>
              <a:gd name="adj" fmla="val 12765"/>
            </a:avLst>
          </a:prstGeom>
          <a:solidFill>
            <a:srgbClr val="1E28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Rounded Rectangle 130"/>
          <p:cNvSpPr/>
          <p:nvPr/>
        </p:nvSpPr>
        <p:spPr>
          <a:xfrm>
            <a:off x="2999231" y="2999232"/>
            <a:ext cx="214884" cy="214884"/>
          </a:xfrm>
          <a:prstGeom prst="roundRect">
            <a:avLst>
              <a:gd name="adj" fmla="val 12765"/>
            </a:avLst>
          </a:prstGeom>
          <a:solidFill>
            <a:srgbClr val="1E28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Rounded Rectangle 131"/>
          <p:cNvSpPr/>
          <p:nvPr/>
        </p:nvSpPr>
        <p:spPr>
          <a:xfrm>
            <a:off x="3255263" y="2999232"/>
            <a:ext cx="214884" cy="214884"/>
          </a:xfrm>
          <a:prstGeom prst="roundRect">
            <a:avLst>
              <a:gd name="adj" fmla="val 12765"/>
            </a:avLst>
          </a:prstGeom>
          <a:solidFill>
            <a:srgbClr val="1E28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Rounded Rectangle 132"/>
          <p:cNvSpPr/>
          <p:nvPr/>
        </p:nvSpPr>
        <p:spPr>
          <a:xfrm>
            <a:off x="3511296" y="2999232"/>
            <a:ext cx="214884" cy="214884"/>
          </a:xfrm>
          <a:prstGeom prst="roundRect">
            <a:avLst>
              <a:gd name="adj" fmla="val 12765"/>
            </a:avLst>
          </a:prstGeom>
          <a:solidFill>
            <a:srgbClr val="1E28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Rounded Rectangle 133"/>
          <p:cNvSpPr/>
          <p:nvPr/>
        </p:nvSpPr>
        <p:spPr>
          <a:xfrm>
            <a:off x="3767327" y="2999232"/>
            <a:ext cx="214884" cy="214884"/>
          </a:xfrm>
          <a:prstGeom prst="roundRect">
            <a:avLst>
              <a:gd name="adj" fmla="val 12765"/>
            </a:avLst>
          </a:prstGeom>
          <a:solidFill>
            <a:srgbClr val="1E28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Rounded Rectangle 134"/>
          <p:cNvSpPr/>
          <p:nvPr/>
        </p:nvSpPr>
        <p:spPr>
          <a:xfrm>
            <a:off x="4023359" y="2999232"/>
            <a:ext cx="214884" cy="214884"/>
          </a:xfrm>
          <a:prstGeom prst="roundRect">
            <a:avLst>
              <a:gd name="adj" fmla="val 12765"/>
            </a:avLst>
          </a:prstGeom>
          <a:solidFill>
            <a:srgbClr val="1E28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Rounded Rectangle 135"/>
          <p:cNvSpPr/>
          <p:nvPr/>
        </p:nvSpPr>
        <p:spPr>
          <a:xfrm>
            <a:off x="4279392" y="2999232"/>
            <a:ext cx="214884" cy="214884"/>
          </a:xfrm>
          <a:prstGeom prst="roundRect">
            <a:avLst>
              <a:gd name="adj" fmla="val 12765"/>
            </a:avLst>
          </a:prstGeom>
          <a:solidFill>
            <a:srgbClr val="1E28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Rounded Rectangle 136"/>
          <p:cNvSpPr/>
          <p:nvPr/>
        </p:nvSpPr>
        <p:spPr>
          <a:xfrm>
            <a:off x="4535423" y="2999232"/>
            <a:ext cx="214884" cy="214884"/>
          </a:xfrm>
          <a:prstGeom prst="roundRect">
            <a:avLst>
              <a:gd name="adj" fmla="val 12765"/>
            </a:avLst>
          </a:prstGeom>
          <a:solidFill>
            <a:srgbClr val="1E28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Rounded Rectangle 137"/>
          <p:cNvSpPr/>
          <p:nvPr/>
        </p:nvSpPr>
        <p:spPr>
          <a:xfrm>
            <a:off x="694944" y="3255263"/>
            <a:ext cx="214884" cy="214884"/>
          </a:xfrm>
          <a:prstGeom prst="roundRect">
            <a:avLst>
              <a:gd name="adj" fmla="val 12765"/>
            </a:avLst>
          </a:prstGeom>
          <a:solidFill>
            <a:srgbClr val="1E28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Rounded Rectangle 138"/>
          <p:cNvSpPr/>
          <p:nvPr/>
        </p:nvSpPr>
        <p:spPr>
          <a:xfrm>
            <a:off x="950976" y="3255263"/>
            <a:ext cx="214884" cy="214884"/>
          </a:xfrm>
          <a:prstGeom prst="roundRect">
            <a:avLst>
              <a:gd name="adj" fmla="val 12765"/>
            </a:avLst>
          </a:prstGeom>
          <a:solidFill>
            <a:srgbClr val="1E28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Rounded Rectangle 139"/>
          <p:cNvSpPr/>
          <p:nvPr/>
        </p:nvSpPr>
        <p:spPr>
          <a:xfrm>
            <a:off x="1207007" y="3255263"/>
            <a:ext cx="214884" cy="214884"/>
          </a:xfrm>
          <a:prstGeom prst="roundRect">
            <a:avLst>
              <a:gd name="adj" fmla="val 12765"/>
            </a:avLst>
          </a:prstGeom>
          <a:solidFill>
            <a:srgbClr val="1E28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Rounded Rectangle 140"/>
          <p:cNvSpPr/>
          <p:nvPr/>
        </p:nvSpPr>
        <p:spPr>
          <a:xfrm>
            <a:off x="1463039" y="3255263"/>
            <a:ext cx="214884" cy="214884"/>
          </a:xfrm>
          <a:prstGeom prst="roundRect">
            <a:avLst>
              <a:gd name="adj" fmla="val 12765"/>
            </a:avLst>
          </a:prstGeom>
          <a:solidFill>
            <a:srgbClr val="1E28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Rounded Rectangle 141"/>
          <p:cNvSpPr/>
          <p:nvPr/>
        </p:nvSpPr>
        <p:spPr>
          <a:xfrm>
            <a:off x="1719072" y="3255263"/>
            <a:ext cx="214884" cy="214884"/>
          </a:xfrm>
          <a:prstGeom prst="roundRect">
            <a:avLst>
              <a:gd name="adj" fmla="val 12765"/>
            </a:avLst>
          </a:prstGeom>
          <a:solidFill>
            <a:srgbClr val="1E28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Rounded Rectangle 142"/>
          <p:cNvSpPr/>
          <p:nvPr/>
        </p:nvSpPr>
        <p:spPr>
          <a:xfrm>
            <a:off x="1975104" y="3255263"/>
            <a:ext cx="214884" cy="214884"/>
          </a:xfrm>
          <a:prstGeom prst="roundRect">
            <a:avLst>
              <a:gd name="adj" fmla="val 12765"/>
            </a:avLst>
          </a:prstGeom>
          <a:solidFill>
            <a:srgbClr val="1E28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Rounded Rectangle 143"/>
          <p:cNvSpPr/>
          <p:nvPr/>
        </p:nvSpPr>
        <p:spPr>
          <a:xfrm>
            <a:off x="2231135" y="3255263"/>
            <a:ext cx="214884" cy="214884"/>
          </a:xfrm>
          <a:prstGeom prst="roundRect">
            <a:avLst>
              <a:gd name="adj" fmla="val 12765"/>
            </a:avLst>
          </a:prstGeom>
          <a:solidFill>
            <a:srgbClr val="1E28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Rounded Rectangle 144"/>
          <p:cNvSpPr/>
          <p:nvPr/>
        </p:nvSpPr>
        <p:spPr>
          <a:xfrm>
            <a:off x="2487168" y="3255263"/>
            <a:ext cx="214884" cy="214884"/>
          </a:xfrm>
          <a:prstGeom prst="roundRect">
            <a:avLst>
              <a:gd name="adj" fmla="val 12765"/>
            </a:avLst>
          </a:prstGeom>
          <a:solidFill>
            <a:srgbClr val="1E28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Rounded Rectangle 145"/>
          <p:cNvSpPr/>
          <p:nvPr/>
        </p:nvSpPr>
        <p:spPr>
          <a:xfrm>
            <a:off x="2743200" y="3255263"/>
            <a:ext cx="214884" cy="214884"/>
          </a:xfrm>
          <a:prstGeom prst="roundRect">
            <a:avLst>
              <a:gd name="adj" fmla="val 12765"/>
            </a:avLst>
          </a:prstGeom>
          <a:solidFill>
            <a:srgbClr val="1E28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Rounded Rectangle 146"/>
          <p:cNvSpPr/>
          <p:nvPr/>
        </p:nvSpPr>
        <p:spPr>
          <a:xfrm>
            <a:off x="2999231" y="3255263"/>
            <a:ext cx="214884" cy="214884"/>
          </a:xfrm>
          <a:prstGeom prst="roundRect">
            <a:avLst>
              <a:gd name="adj" fmla="val 12765"/>
            </a:avLst>
          </a:prstGeom>
          <a:solidFill>
            <a:srgbClr val="1E28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Rounded Rectangle 147"/>
          <p:cNvSpPr/>
          <p:nvPr/>
        </p:nvSpPr>
        <p:spPr>
          <a:xfrm>
            <a:off x="3255263" y="3255263"/>
            <a:ext cx="214884" cy="214884"/>
          </a:xfrm>
          <a:prstGeom prst="roundRect">
            <a:avLst>
              <a:gd name="adj" fmla="val 12765"/>
            </a:avLst>
          </a:prstGeom>
          <a:solidFill>
            <a:srgbClr val="1E28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Rounded Rectangle 148"/>
          <p:cNvSpPr/>
          <p:nvPr/>
        </p:nvSpPr>
        <p:spPr>
          <a:xfrm>
            <a:off x="3511296" y="3255263"/>
            <a:ext cx="214884" cy="214884"/>
          </a:xfrm>
          <a:prstGeom prst="roundRect">
            <a:avLst>
              <a:gd name="adj" fmla="val 12765"/>
            </a:avLst>
          </a:prstGeom>
          <a:solidFill>
            <a:srgbClr val="1E28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Rounded Rectangle 149"/>
          <p:cNvSpPr/>
          <p:nvPr/>
        </p:nvSpPr>
        <p:spPr>
          <a:xfrm>
            <a:off x="3767327" y="3255263"/>
            <a:ext cx="214884" cy="214884"/>
          </a:xfrm>
          <a:prstGeom prst="roundRect">
            <a:avLst>
              <a:gd name="adj" fmla="val 12765"/>
            </a:avLst>
          </a:prstGeom>
          <a:solidFill>
            <a:srgbClr val="1E28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Rounded Rectangle 150"/>
          <p:cNvSpPr/>
          <p:nvPr/>
        </p:nvSpPr>
        <p:spPr>
          <a:xfrm>
            <a:off x="4023359" y="3255263"/>
            <a:ext cx="214884" cy="214884"/>
          </a:xfrm>
          <a:prstGeom prst="roundRect">
            <a:avLst>
              <a:gd name="adj" fmla="val 12765"/>
            </a:avLst>
          </a:prstGeom>
          <a:solidFill>
            <a:srgbClr val="1E28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Rounded Rectangle 151"/>
          <p:cNvSpPr/>
          <p:nvPr/>
        </p:nvSpPr>
        <p:spPr>
          <a:xfrm>
            <a:off x="4279392" y="3255263"/>
            <a:ext cx="214884" cy="214884"/>
          </a:xfrm>
          <a:prstGeom prst="roundRect">
            <a:avLst>
              <a:gd name="adj" fmla="val 12765"/>
            </a:avLst>
          </a:prstGeom>
          <a:solidFill>
            <a:srgbClr val="1E28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Rounded Rectangle 152"/>
          <p:cNvSpPr/>
          <p:nvPr/>
        </p:nvSpPr>
        <p:spPr>
          <a:xfrm>
            <a:off x="4535423" y="3255263"/>
            <a:ext cx="214884" cy="214884"/>
          </a:xfrm>
          <a:prstGeom prst="roundRect">
            <a:avLst>
              <a:gd name="adj" fmla="val 12765"/>
            </a:avLst>
          </a:prstGeom>
          <a:solidFill>
            <a:srgbClr val="1E28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Rounded Rectangle 153"/>
          <p:cNvSpPr/>
          <p:nvPr/>
        </p:nvSpPr>
        <p:spPr>
          <a:xfrm>
            <a:off x="694944" y="3511296"/>
            <a:ext cx="214884" cy="214884"/>
          </a:xfrm>
          <a:prstGeom prst="roundRect">
            <a:avLst>
              <a:gd name="adj" fmla="val 12765"/>
            </a:avLst>
          </a:prstGeom>
          <a:solidFill>
            <a:srgbClr val="1E28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Rounded Rectangle 154"/>
          <p:cNvSpPr/>
          <p:nvPr/>
        </p:nvSpPr>
        <p:spPr>
          <a:xfrm>
            <a:off x="950976" y="3511296"/>
            <a:ext cx="214884" cy="214884"/>
          </a:xfrm>
          <a:prstGeom prst="roundRect">
            <a:avLst>
              <a:gd name="adj" fmla="val 12765"/>
            </a:avLst>
          </a:prstGeom>
          <a:solidFill>
            <a:srgbClr val="1E28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Rounded Rectangle 155"/>
          <p:cNvSpPr/>
          <p:nvPr/>
        </p:nvSpPr>
        <p:spPr>
          <a:xfrm>
            <a:off x="1207007" y="3511296"/>
            <a:ext cx="214884" cy="214884"/>
          </a:xfrm>
          <a:prstGeom prst="roundRect">
            <a:avLst>
              <a:gd name="adj" fmla="val 12765"/>
            </a:avLst>
          </a:prstGeom>
          <a:solidFill>
            <a:srgbClr val="1E28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Rounded Rectangle 156"/>
          <p:cNvSpPr/>
          <p:nvPr/>
        </p:nvSpPr>
        <p:spPr>
          <a:xfrm>
            <a:off x="1463039" y="3511296"/>
            <a:ext cx="214884" cy="214884"/>
          </a:xfrm>
          <a:prstGeom prst="roundRect">
            <a:avLst>
              <a:gd name="adj" fmla="val 12765"/>
            </a:avLst>
          </a:prstGeom>
          <a:solidFill>
            <a:srgbClr val="1E28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Rounded Rectangle 157"/>
          <p:cNvSpPr/>
          <p:nvPr/>
        </p:nvSpPr>
        <p:spPr>
          <a:xfrm>
            <a:off x="1719072" y="3511296"/>
            <a:ext cx="214884" cy="214884"/>
          </a:xfrm>
          <a:prstGeom prst="roundRect">
            <a:avLst>
              <a:gd name="adj" fmla="val 12765"/>
            </a:avLst>
          </a:prstGeom>
          <a:solidFill>
            <a:srgbClr val="1E28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Rounded Rectangle 158"/>
          <p:cNvSpPr/>
          <p:nvPr/>
        </p:nvSpPr>
        <p:spPr>
          <a:xfrm>
            <a:off x="1975104" y="3511296"/>
            <a:ext cx="214884" cy="214884"/>
          </a:xfrm>
          <a:prstGeom prst="roundRect">
            <a:avLst>
              <a:gd name="adj" fmla="val 12765"/>
            </a:avLst>
          </a:prstGeom>
          <a:solidFill>
            <a:srgbClr val="1E28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Rounded Rectangle 159"/>
          <p:cNvSpPr/>
          <p:nvPr/>
        </p:nvSpPr>
        <p:spPr>
          <a:xfrm>
            <a:off x="2231135" y="3511296"/>
            <a:ext cx="214884" cy="214884"/>
          </a:xfrm>
          <a:prstGeom prst="roundRect">
            <a:avLst>
              <a:gd name="adj" fmla="val 12765"/>
            </a:avLst>
          </a:prstGeom>
          <a:solidFill>
            <a:srgbClr val="1E28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TextBox 160"/>
          <p:cNvSpPr txBox="1"/>
          <p:nvPr/>
        </p:nvSpPr>
        <p:spPr>
          <a:xfrm>
            <a:off x="640080" y="3931920"/>
            <a:ext cx="5166359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D8A66A"/>
                </a:solidFill>
                <a:latin typeface="Consolas"/>
                <a:ea typeface="Microsoft YaHei"/>
              </a:rPr>
              <a:t>■ </a:t>
            </a:r>
            <a:r>
              <a:rPr sz="760" b="1">
                <a:solidFill>
                  <a:srgbClr val="E9EDF2"/>
                </a:solidFill>
                <a:latin typeface="Microsoft YaHei"/>
                <a:ea typeface="Microsoft YaHei"/>
              </a:rPr>
              <a:t>42 个用过 enablement    </a:t>
            </a:r>
            <a:r>
              <a:rPr sz="1100" b="1">
                <a:solidFill>
                  <a:srgbClr val="1E2838"/>
                </a:solidFill>
                <a:latin typeface="Consolas"/>
                <a:ea typeface="Microsoft YaHei"/>
              </a:rPr>
              <a:t>■ </a:t>
            </a:r>
            <a:r>
              <a:rPr sz="760" b="0">
                <a:solidFill>
                  <a:srgbClr val="7A8497"/>
                </a:solidFill>
                <a:latin typeface="Microsoft YaHei"/>
                <a:ea typeface="Microsoft YaHei"/>
              </a:rPr>
              <a:t>109 个从未触发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640080" y="4242816"/>
            <a:ext cx="516635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740" b="0">
                <a:solidFill>
                  <a:srgbClr val="C7D0DC"/>
                </a:solidFill>
                <a:latin typeface="Microsoft YaHei"/>
                <a:ea typeface="Microsoft YaHei"/>
              </a:rPr>
              <a:t>没有单一的「是否用了 enablement」布尔字段,所以用 10 个彼此独立的信号取并集,并逐一排查差异来源。</a:t>
            </a:r>
          </a:p>
        </p:txBody>
      </p:sp>
      <p:sp>
        <p:nvSpPr>
          <p:cNvPr id="163" name="Rounded Rectangle 162"/>
          <p:cNvSpPr/>
          <p:nvPr/>
        </p:nvSpPr>
        <p:spPr>
          <a:xfrm>
            <a:off x="6199632" y="786384"/>
            <a:ext cx="5532120" cy="3931920"/>
          </a:xfrm>
          <a:prstGeom prst="roundRect">
            <a:avLst>
              <a:gd name="adj" fmla="val 1395"/>
            </a:avLst>
          </a:prstGeom>
          <a:solidFill>
            <a:srgbClr val="0E141E"/>
          </a:solidFill>
          <a:ln w="9525">
            <a:solidFill>
              <a:srgbClr val="1E28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TextBox 163"/>
          <p:cNvSpPr txBox="1"/>
          <p:nvPr/>
        </p:nvSpPr>
        <p:spPr>
          <a:xfrm>
            <a:off x="6382512" y="905256"/>
            <a:ext cx="5166359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80" b="1">
                <a:solidFill>
                  <a:srgbClr val="8FBFE0"/>
                </a:solidFill>
                <a:latin typeface="Consolas"/>
                <a:ea typeface="Microsoft YaHei"/>
              </a:rPr>
              <a:t>信号命中数 · SIGNAL HITS</a:t>
            </a:r>
          </a:p>
        </p:txBody>
      </p:sp>
      <p:sp>
        <p:nvSpPr>
          <p:cNvPr id="165" name="Rounded Rectangle 164"/>
          <p:cNvSpPr/>
          <p:nvPr/>
        </p:nvSpPr>
        <p:spPr>
          <a:xfrm>
            <a:off x="8485632" y="1268730"/>
            <a:ext cx="2560320" cy="169164"/>
          </a:xfrm>
          <a:prstGeom prst="roundRect">
            <a:avLst>
              <a:gd name="adj" fmla="val 16216"/>
            </a:avLst>
          </a:prstGeom>
          <a:solidFill>
            <a:srgbClr val="1E28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Rounded Rectangle 165"/>
          <p:cNvSpPr/>
          <p:nvPr/>
        </p:nvSpPr>
        <p:spPr>
          <a:xfrm>
            <a:off x="8485632" y="1268730"/>
            <a:ext cx="2316480" cy="169164"/>
          </a:xfrm>
          <a:prstGeom prst="roundRect">
            <a:avLst>
              <a:gd name="adj" fmla="val 16216"/>
            </a:avLst>
          </a:prstGeom>
          <a:solidFill>
            <a:srgbClr val="8FBF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TextBox 166"/>
          <p:cNvSpPr txBox="1"/>
          <p:nvPr/>
        </p:nvSpPr>
        <p:spPr>
          <a:xfrm>
            <a:off x="6382512" y="1250442"/>
            <a:ext cx="2011679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720" b="0">
                <a:solidFill>
                  <a:srgbClr val="8FBFE0"/>
                </a:solidFill>
                <a:latin typeface="Consolas"/>
                <a:ea typeface="Microsoft YaHei"/>
              </a:rPr>
              <a:t>coordinator.db 任务</a:t>
            </a:r>
          </a:p>
        </p:txBody>
      </p:sp>
      <p:sp>
        <p:nvSpPr>
          <p:cNvPr id="168" name="TextBox 167"/>
          <p:cNvSpPr txBox="1"/>
          <p:nvPr/>
        </p:nvSpPr>
        <p:spPr>
          <a:xfrm>
            <a:off x="11119104" y="1250442"/>
            <a:ext cx="502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1">
                <a:solidFill>
                  <a:srgbClr val="8FBFE0"/>
                </a:solidFill>
                <a:latin typeface="Consolas"/>
                <a:ea typeface="Microsoft YaHei"/>
              </a:rPr>
              <a:t>38</a:t>
            </a:r>
          </a:p>
        </p:txBody>
      </p:sp>
      <p:sp>
        <p:nvSpPr>
          <p:cNvPr id="169" name="Rounded Rectangle 168"/>
          <p:cNvSpPr/>
          <p:nvPr/>
        </p:nvSpPr>
        <p:spPr>
          <a:xfrm>
            <a:off x="8485632" y="1561338"/>
            <a:ext cx="2560320" cy="169164"/>
          </a:xfrm>
          <a:prstGeom prst="roundRect">
            <a:avLst>
              <a:gd name="adj" fmla="val 16216"/>
            </a:avLst>
          </a:prstGeom>
          <a:solidFill>
            <a:srgbClr val="1E28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Rounded Rectangle 169"/>
          <p:cNvSpPr/>
          <p:nvPr/>
        </p:nvSpPr>
        <p:spPr>
          <a:xfrm>
            <a:off x="8485632" y="1561338"/>
            <a:ext cx="2194560" cy="169164"/>
          </a:xfrm>
          <a:prstGeom prst="roundRect">
            <a:avLst>
              <a:gd name="adj" fmla="val 16216"/>
            </a:avLst>
          </a:prstGeom>
          <a:solidFill>
            <a:srgbClr val="6E95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TextBox 170"/>
          <p:cNvSpPr txBox="1"/>
          <p:nvPr/>
        </p:nvSpPr>
        <p:spPr>
          <a:xfrm>
            <a:off x="6382512" y="1543050"/>
            <a:ext cx="2011679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720" b="0">
                <a:solidFill>
                  <a:srgbClr val="6E95AB"/>
                </a:solidFill>
                <a:latin typeface="Consolas"/>
                <a:ea typeface="Microsoft YaHei"/>
              </a:rPr>
              <a:t>enablement.engaged</a:t>
            </a:r>
          </a:p>
        </p:txBody>
      </p:sp>
      <p:sp>
        <p:nvSpPr>
          <p:cNvPr id="172" name="TextBox 171"/>
          <p:cNvSpPr txBox="1"/>
          <p:nvPr/>
        </p:nvSpPr>
        <p:spPr>
          <a:xfrm>
            <a:off x="11119104" y="1543050"/>
            <a:ext cx="502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1">
                <a:solidFill>
                  <a:srgbClr val="6E95AB"/>
                </a:solidFill>
                <a:latin typeface="Consolas"/>
                <a:ea typeface="Microsoft YaHei"/>
              </a:rPr>
              <a:t>36</a:t>
            </a:r>
          </a:p>
        </p:txBody>
      </p:sp>
      <p:sp>
        <p:nvSpPr>
          <p:cNvPr id="173" name="Rounded Rectangle 172"/>
          <p:cNvSpPr/>
          <p:nvPr/>
        </p:nvSpPr>
        <p:spPr>
          <a:xfrm>
            <a:off x="8485632" y="1853945"/>
            <a:ext cx="2560320" cy="169164"/>
          </a:xfrm>
          <a:prstGeom prst="roundRect">
            <a:avLst>
              <a:gd name="adj" fmla="val 16216"/>
            </a:avLst>
          </a:prstGeom>
          <a:solidFill>
            <a:srgbClr val="1E28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Rounded Rectangle 173"/>
          <p:cNvSpPr/>
          <p:nvPr/>
        </p:nvSpPr>
        <p:spPr>
          <a:xfrm>
            <a:off x="8485632" y="1853945"/>
            <a:ext cx="2194560" cy="169164"/>
          </a:xfrm>
          <a:prstGeom prst="roundRect">
            <a:avLst>
              <a:gd name="adj" fmla="val 16216"/>
            </a:avLst>
          </a:prstGeom>
          <a:solidFill>
            <a:srgbClr val="6E95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TextBox 174"/>
          <p:cNvSpPr txBox="1"/>
          <p:nvPr/>
        </p:nvSpPr>
        <p:spPr>
          <a:xfrm>
            <a:off x="6382512" y="1835657"/>
            <a:ext cx="2011679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720" b="0">
                <a:solidFill>
                  <a:srgbClr val="6E95AB"/>
                </a:solidFill>
                <a:latin typeface="Consolas"/>
                <a:ea typeface="Microsoft YaHei"/>
              </a:rPr>
              <a:t>launch_log_excerpt</a:t>
            </a:r>
          </a:p>
        </p:txBody>
      </p:sp>
      <p:sp>
        <p:nvSpPr>
          <p:cNvPr id="176" name="TextBox 175"/>
          <p:cNvSpPr txBox="1"/>
          <p:nvPr/>
        </p:nvSpPr>
        <p:spPr>
          <a:xfrm>
            <a:off x="11119104" y="1835657"/>
            <a:ext cx="502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1">
                <a:solidFill>
                  <a:srgbClr val="6E95AB"/>
                </a:solidFill>
                <a:latin typeface="Consolas"/>
                <a:ea typeface="Microsoft YaHei"/>
              </a:rPr>
              <a:t>36</a:t>
            </a:r>
          </a:p>
        </p:txBody>
      </p:sp>
      <p:sp>
        <p:nvSpPr>
          <p:cNvPr id="177" name="Rounded Rectangle 176"/>
          <p:cNvSpPr/>
          <p:nvPr/>
        </p:nvSpPr>
        <p:spPr>
          <a:xfrm>
            <a:off x="8485632" y="2146554"/>
            <a:ext cx="2560320" cy="169164"/>
          </a:xfrm>
          <a:prstGeom prst="roundRect">
            <a:avLst>
              <a:gd name="adj" fmla="val 16216"/>
            </a:avLst>
          </a:prstGeom>
          <a:solidFill>
            <a:srgbClr val="1E28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Rounded Rectangle 177"/>
          <p:cNvSpPr/>
          <p:nvPr/>
        </p:nvSpPr>
        <p:spPr>
          <a:xfrm>
            <a:off x="8485632" y="2146554"/>
            <a:ext cx="2194560" cy="169164"/>
          </a:xfrm>
          <a:prstGeom prst="roundRect">
            <a:avLst>
              <a:gd name="adj" fmla="val 16216"/>
            </a:avLst>
          </a:prstGeom>
          <a:solidFill>
            <a:srgbClr val="6E95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" name="TextBox 178"/>
          <p:cNvSpPr txBox="1"/>
          <p:nvPr/>
        </p:nvSpPr>
        <p:spPr>
          <a:xfrm>
            <a:off x="6382512" y="2128266"/>
            <a:ext cx="2011679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720" b="0">
                <a:solidFill>
                  <a:srgbClr val="6E95AB"/>
                </a:solidFill>
                <a:latin typeface="Consolas"/>
                <a:ea typeface="Microsoft YaHei"/>
              </a:rPr>
              <a:t>enablement.mode=all</a:t>
            </a:r>
          </a:p>
        </p:txBody>
      </p:sp>
      <p:sp>
        <p:nvSpPr>
          <p:cNvPr id="180" name="TextBox 179"/>
          <p:cNvSpPr txBox="1"/>
          <p:nvPr/>
        </p:nvSpPr>
        <p:spPr>
          <a:xfrm>
            <a:off x="11119104" y="2128266"/>
            <a:ext cx="502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1">
                <a:solidFill>
                  <a:srgbClr val="6E95AB"/>
                </a:solidFill>
                <a:latin typeface="Consolas"/>
                <a:ea typeface="Microsoft YaHei"/>
              </a:rPr>
              <a:t>36</a:t>
            </a:r>
          </a:p>
        </p:txBody>
      </p:sp>
      <p:sp>
        <p:nvSpPr>
          <p:cNvPr id="181" name="Rounded Rectangle 180"/>
          <p:cNvSpPr/>
          <p:nvPr/>
        </p:nvSpPr>
        <p:spPr>
          <a:xfrm>
            <a:off x="8485632" y="2439162"/>
            <a:ext cx="2560320" cy="169164"/>
          </a:xfrm>
          <a:prstGeom prst="roundRect">
            <a:avLst>
              <a:gd name="adj" fmla="val 16216"/>
            </a:avLst>
          </a:prstGeom>
          <a:solidFill>
            <a:srgbClr val="1E28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Rounded Rectangle 181"/>
          <p:cNvSpPr/>
          <p:nvPr/>
        </p:nvSpPr>
        <p:spPr>
          <a:xfrm>
            <a:off x="8485632" y="2439162"/>
            <a:ext cx="2133600" cy="169164"/>
          </a:xfrm>
          <a:prstGeom prst="roundRect">
            <a:avLst>
              <a:gd name="adj" fmla="val 16216"/>
            </a:avLst>
          </a:prstGeom>
          <a:solidFill>
            <a:srgbClr val="6E95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" name="TextBox 182"/>
          <p:cNvSpPr txBox="1"/>
          <p:nvPr/>
        </p:nvSpPr>
        <p:spPr>
          <a:xfrm>
            <a:off x="6382512" y="2420874"/>
            <a:ext cx="2011679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720" b="0">
                <a:solidFill>
                  <a:srgbClr val="6E95AB"/>
                </a:solidFill>
                <a:latin typeface="Consolas"/>
                <a:ea typeface="Microsoft YaHei"/>
              </a:rPr>
              <a:t>attempts &gt; 0</a:t>
            </a:r>
          </a:p>
        </p:txBody>
      </p:sp>
      <p:sp>
        <p:nvSpPr>
          <p:cNvPr id="184" name="TextBox 183"/>
          <p:cNvSpPr txBox="1"/>
          <p:nvPr/>
        </p:nvSpPr>
        <p:spPr>
          <a:xfrm>
            <a:off x="11119104" y="2420874"/>
            <a:ext cx="502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1">
                <a:solidFill>
                  <a:srgbClr val="6E95AB"/>
                </a:solidFill>
                <a:latin typeface="Consolas"/>
                <a:ea typeface="Microsoft YaHei"/>
              </a:rPr>
              <a:t>35</a:t>
            </a:r>
          </a:p>
        </p:txBody>
      </p:sp>
      <p:sp>
        <p:nvSpPr>
          <p:cNvPr id="185" name="Rounded Rectangle 184"/>
          <p:cNvSpPr/>
          <p:nvPr/>
        </p:nvSpPr>
        <p:spPr>
          <a:xfrm>
            <a:off x="8485632" y="2731770"/>
            <a:ext cx="2560320" cy="169164"/>
          </a:xfrm>
          <a:prstGeom prst="roundRect">
            <a:avLst>
              <a:gd name="adj" fmla="val 16216"/>
            </a:avLst>
          </a:prstGeom>
          <a:solidFill>
            <a:srgbClr val="1E28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" name="Rounded Rectangle 185"/>
          <p:cNvSpPr/>
          <p:nvPr/>
        </p:nvSpPr>
        <p:spPr>
          <a:xfrm>
            <a:off x="8485632" y="2731770"/>
            <a:ext cx="2072640" cy="169164"/>
          </a:xfrm>
          <a:prstGeom prst="roundRect">
            <a:avLst>
              <a:gd name="adj" fmla="val 16216"/>
            </a:avLst>
          </a:prstGeom>
          <a:solidFill>
            <a:srgbClr val="6E95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" name="TextBox 186"/>
          <p:cNvSpPr txBox="1"/>
          <p:nvPr/>
        </p:nvSpPr>
        <p:spPr>
          <a:xfrm>
            <a:off x="6382512" y="2713482"/>
            <a:ext cx="2011679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720" b="0">
                <a:solidFill>
                  <a:srgbClr val="6E95AB"/>
                </a:solidFill>
                <a:latin typeface="Consolas"/>
                <a:ea typeface="Microsoft YaHei"/>
              </a:rPr>
              <a:t>specialist_runs.domain</a:t>
            </a:r>
          </a:p>
        </p:txBody>
      </p:sp>
      <p:sp>
        <p:nvSpPr>
          <p:cNvPr id="188" name="TextBox 187"/>
          <p:cNvSpPr txBox="1"/>
          <p:nvPr/>
        </p:nvSpPr>
        <p:spPr>
          <a:xfrm>
            <a:off x="11119104" y="2713482"/>
            <a:ext cx="502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1">
                <a:solidFill>
                  <a:srgbClr val="6E95AB"/>
                </a:solidFill>
                <a:latin typeface="Consolas"/>
                <a:ea typeface="Microsoft YaHei"/>
              </a:rPr>
              <a:t>34</a:t>
            </a:r>
          </a:p>
        </p:txBody>
      </p:sp>
      <p:sp>
        <p:nvSpPr>
          <p:cNvPr id="189" name="Rounded Rectangle 188"/>
          <p:cNvSpPr/>
          <p:nvPr/>
        </p:nvSpPr>
        <p:spPr>
          <a:xfrm>
            <a:off x="8485632" y="3024378"/>
            <a:ext cx="2560320" cy="169164"/>
          </a:xfrm>
          <a:prstGeom prst="roundRect">
            <a:avLst>
              <a:gd name="adj" fmla="val 16216"/>
            </a:avLst>
          </a:prstGeom>
          <a:solidFill>
            <a:srgbClr val="1E28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" name="Rounded Rectangle 189"/>
          <p:cNvSpPr/>
          <p:nvPr/>
        </p:nvSpPr>
        <p:spPr>
          <a:xfrm>
            <a:off x="8485632" y="3024378"/>
            <a:ext cx="1036320" cy="169164"/>
          </a:xfrm>
          <a:prstGeom prst="roundRect">
            <a:avLst>
              <a:gd name="adj" fmla="val 16216"/>
            </a:avLst>
          </a:prstGeom>
          <a:solidFill>
            <a:srgbClr val="4E6B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" name="TextBox 190"/>
          <p:cNvSpPr txBox="1"/>
          <p:nvPr/>
        </p:nvSpPr>
        <p:spPr>
          <a:xfrm>
            <a:off x="6382512" y="3006090"/>
            <a:ext cx="2011679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720" b="0">
                <a:solidFill>
                  <a:srgbClr val="4E6B80"/>
                </a:solidFill>
                <a:latin typeface="Consolas"/>
                <a:ea typeface="Microsoft YaHei"/>
              </a:rPr>
              <a:t>succeeded = true</a:t>
            </a:r>
          </a:p>
        </p:txBody>
      </p:sp>
      <p:sp>
        <p:nvSpPr>
          <p:cNvPr id="192" name="TextBox 191"/>
          <p:cNvSpPr txBox="1"/>
          <p:nvPr/>
        </p:nvSpPr>
        <p:spPr>
          <a:xfrm>
            <a:off x="11119104" y="3006090"/>
            <a:ext cx="502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1">
                <a:solidFill>
                  <a:srgbClr val="4E6B80"/>
                </a:solidFill>
                <a:latin typeface="Consolas"/>
                <a:ea typeface="Microsoft YaHei"/>
              </a:rPr>
              <a:t>17</a:t>
            </a:r>
          </a:p>
        </p:txBody>
      </p:sp>
      <p:sp>
        <p:nvSpPr>
          <p:cNvPr id="193" name="Rounded Rectangle 192"/>
          <p:cNvSpPr/>
          <p:nvPr/>
        </p:nvSpPr>
        <p:spPr>
          <a:xfrm>
            <a:off x="8485632" y="3316986"/>
            <a:ext cx="2560320" cy="169164"/>
          </a:xfrm>
          <a:prstGeom prst="roundRect">
            <a:avLst>
              <a:gd name="adj" fmla="val 16216"/>
            </a:avLst>
          </a:prstGeom>
          <a:solidFill>
            <a:srgbClr val="1E28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4" name="Rounded Rectangle 193"/>
          <p:cNvSpPr/>
          <p:nvPr/>
        </p:nvSpPr>
        <p:spPr>
          <a:xfrm>
            <a:off x="8485632" y="3316986"/>
            <a:ext cx="975360" cy="169164"/>
          </a:xfrm>
          <a:prstGeom prst="roundRect">
            <a:avLst>
              <a:gd name="adj" fmla="val 16216"/>
            </a:avLst>
          </a:prstGeom>
          <a:solidFill>
            <a:srgbClr val="4E6B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5" name="TextBox 194"/>
          <p:cNvSpPr txBox="1"/>
          <p:nvPr/>
        </p:nvSpPr>
        <p:spPr>
          <a:xfrm>
            <a:off x="6382512" y="3298698"/>
            <a:ext cx="2011679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720" b="0">
                <a:solidFill>
                  <a:srgbClr val="4E6B80"/>
                </a:solidFill>
                <a:latin typeface="Consolas"/>
                <a:ea typeface="Microsoft YaHei"/>
              </a:rPr>
              <a:t>stall_streak &gt; 0</a:t>
            </a:r>
          </a:p>
        </p:txBody>
      </p:sp>
      <p:sp>
        <p:nvSpPr>
          <p:cNvPr id="196" name="TextBox 195"/>
          <p:cNvSpPr txBox="1"/>
          <p:nvPr/>
        </p:nvSpPr>
        <p:spPr>
          <a:xfrm>
            <a:off x="11119104" y="3298698"/>
            <a:ext cx="502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1">
                <a:solidFill>
                  <a:srgbClr val="4E6B80"/>
                </a:solidFill>
                <a:latin typeface="Consolas"/>
                <a:ea typeface="Microsoft YaHei"/>
              </a:rPr>
              <a:t>16</a:t>
            </a:r>
          </a:p>
        </p:txBody>
      </p:sp>
      <p:sp>
        <p:nvSpPr>
          <p:cNvPr id="197" name="Rounded Rectangle 196"/>
          <p:cNvSpPr/>
          <p:nvPr/>
        </p:nvSpPr>
        <p:spPr>
          <a:xfrm>
            <a:off x="8485632" y="3609594"/>
            <a:ext cx="2560320" cy="169164"/>
          </a:xfrm>
          <a:prstGeom prst="roundRect">
            <a:avLst>
              <a:gd name="adj" fmla="val 16216"/>
            </a:avLst>
          </a:prstGeom>
          <a:solidFill>
            <a:srgbClr val="1E28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8" name="Rounded Rectangle 197"/>
          <p:cNvSpPr/>
          <p:nvPr/>
        </p:nvSpPr>
        <p:spPr>
          <a:xfrm>
            <a:off x="8485632" y="3609594"/>
            <a:ext cx="853439" cy="169164"/>
          </a:xfrm>
          <a:prstGeom prst="roundRect">
            <a:avLst>
              <a:gd name="adj" fmla="val 16216"/>
            </a:avLst>
          </a:prstGeom>
          <a:solidFill>
            <a:srgbClr val="4E6B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9" name="TextBox 198"/>
          <p:cNvSpPr txBox="1"/>
          <p:nvPr/>
        </p:nvSpPr>
        <p:spPr>
          <a:xfrm>
            <a:off x="6382512" y="3591306"/>
            <a:ext cx="2011679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720" b="0">
                <a:solidFill>
                  <a:srgbClr val="4E6B80"/>
                </a:solidFill>
                <a:latin typeface="Consolas"/>
                <a:ea typeface="Microsoft YaHei"/>
              </a:rPr>
              <a:t>dispatched = true</a:t>
            </a:r>
          </a:p>
        </p:txBody>
      </p:sp>
      <p:sp>
        <p:nvSpPr>
          <p:cNvPr id="200" name="TextBox 199"/>
          <p:cNvSpPr txBox="1"/>
          <p:nvPr/>
        </p:nvSpPr>
        <p:spPr>
          <a:xfrm>
            <a:off x="11119104" y="3591306"/>
            <a:ext cx="502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1">
                <a:solidFill>
                  <a:srgbClr val="4E6B80"/>
                </a:solidFill>
                <a:latin typeface="Consolas"/>
                <a:ea typeface="Microsoft YaHei"/>
              </a:rPr>
              <a:t>14</a:t>
            </a:r>
          </a:p>
        </p:txBody>
      </p:sp>
      <p:sp>
        <p:nvSpPr>
          <p:cNvPr id="201" name="Rounded Rectangle 200"/>
          <p:cNvSpPr/>
          <p:nvPr/>
        </p:nvSpPr>
        <p:spPr>
          <a:xfrm>
            <a:off x="8485632" y="3902202"/>
            <a:ext cx="2560320" cy="169164"/>
          </a:xfrm>
          <a:prstGeom prst="roundRect">
            <a:avLst>
              <a:gd name="adj" fmla="val 16216"/>
            </a:avLst>
          </a:prstGeom>
          <a:solidFill>
            <a:srgbClr val="1E28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2" name="Rounded Rectangle 201"/>
          <p:cNvSpPr/>
          <p:nvPr/>
        </p:nvSpPr>
        <p:spPr>
          <a:xfrm>
            <a:off x="8485632" y="3902202"/>
            <a:ext cx="792479" cy="169164"/>
          </a:xfrm>
          <a:prstGeom prst="roundRect">
            <a:avLst>
              <a:gd name="adj" fmla="val 16216"/>
            </a:avLst>
          </a:prstGeom>
          <a:solidFill>
            <a:srgbClr val="4E6B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3" name="TextBox 202"/>
          <p:cNvSpPr txBox="1"/>
          <p:nvPr/>
        </p:nvSpPr>
        <p:spPr>
          <a:xfrm>
            <a:off x="6382512" y="3883914"/>
            <a:ext cx="2011679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720" b="0">
                <a:solidFill>
                  <a:srgbClr val="4E6B80"/>
                </a:solidFill>
                <a:latin typeface="Consolas"/>
                <a:ea typeface="Microsoft YaHei"/>
              </a:rPr>
              <a:t>stop=enablement_stalled</a:t>
            </a:r>
          </a:p>
        </p:txBody>
      </p:sp>
      <p:sp>
        <p:nvSpPr>
          <p:cNvPr id="204" name="TextBox 203"/>
          <p:cNvSpPr txBox="1"/>
          <p:nvPr/>
        </p:nvSpPr>
        <p:spPr>
          <a:xfrm>
            <a:off x="11119104" y="3883914"/>
            <a:ext cx="502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1">
                <a:solidFill>
                  <a:srgbClr val="4E6B80"/>
                </a:solidFill>
                <a:latin typeface="Consolas"/>
                <a:ea typeface="Microsoft YaHei"/>
              </a:rPr>
              <a:t>13</a:t>
            </a:r>
          </a:p>
        </p:txBody>
      </p:sp>
      <p:sp>
        <p:nvSpPr>
          <p:cNvPr id="205" name="TextBox 204"/>
          <p:cNvSpPr txBox="1"/>
          <p:nvPr/>
        </p:nvSpPr>
        <p:spPr>
          <a:xfrm>
            <a:off x="6382512" y="4224528"/>
            <a:ext cx="5166359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720" b="0">
                <a:solidFill>
                  <a:srgbClr val="C7D0DC"/>
                </a:solidFill>
                <a:latin typeface="Microsoft YaHei"/>
                <a:ea typeface="Microsoft YaHei"/>
              </a:rPr>
              <a:t>灰底 = 并集 42。coordinator.db 的 tasks 表最灵敏 —— 它能抓到 breakdown 里完全没记录的那 6 个。</a:t>
            </a:r>
          </a:p>
        </p:txBody>
      </p:sp>
      <p:sp>
        <p:nvSpPr>
          <p:cNvPr id="206" name="Rounded Rectangle 205"/>
          <p:cNvSpPr/>
          <p:nvPr/>
        </p:nvSpPr>
        <p:spPr>
          <a:xfrm>
            <a:off x="457200" y="4864608"/>
            <a:ext cx="5532120" cy="1060704"/>
          </a:xfrm>
          <a:prstGeom prst="roundRect">
            <a:avLst>
              <a:gd name="adj" fmla="val 5172"/>
            </a:avLst>
          </a:prstGeom>
          <a:solidFill>
            <a:srgbClr val="0E141E"/>
          </a:solidFill>
          <a:ln w="9525">
            <a:solidFill>
              <a:srgbClr val="1E28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7" name="TextBox 206"/>
          <p:cNvSpPr txBox="1"/>
          <p:nvPr/>
        </p:nvSpPr>
        <p:spPr>
          <a:xfrm>
            <a:off x="640080" y="4956048"/>
            <a:ext cx="5166359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19" b="1">
                <a:solidFill>
                  <a:srgbClr val="E9EDF2"/>
                </a:solidFill>
                <a:latin typeface="Microsoft YaHei"/>
                <a:ea typeface="Microsoft YaHei"/>
              </a:rPr>
              <a:t>差异排查</a:t>
            </a:r>
            <a:r>
              <a:rPr sz="680" b="0">
                <a:solidFill>
                  <a:srgbClr val="7A8497"/>
                </a:solidFill>
                <a:latin typeface="Consolas"/>
                <a:ea typeface="Microsoft YaHei"/>
              </a:rPr>
              <a:t>    为什么信号数不一致</a:t>
            </a:r>
          </a:p>
        </p:txBody>
      </p:sp>
      <p:sp>
        <p:nvSpPr>
          <p:cNvPr id="208" name="TextBox 207"/>
          <p:cNvSpPr txBox="1"/>
          <p:nvPr/>
        </p:nvSpPr>
        <p:spPr>
          <a:xfrm>
            <a:off x="658368" y="5193792"/>
            <a:ext cx="2377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60" b="1">
                <a:solidFill>
                  <a:srgbClr val="E9EDF2"/>
                </a:solidFill>
                <a:latin typeface="Microsoft YaHei"/>
                <a:ea typeface="Microsoft YaHei"/>
              </a:rPr>
              <a:t>› 仅 DB 有痕迹</a:t>
            </a:r>
          </a:p>
        </p:txBody>
      </p:sp>
      <p:sp>
        <p:nvSpPr>
          <p:cNvPr id="209" name="TextBox 208"/>
          <p:cNvSpPr txBox="1"/>
          <p:nvPr/>
        </p:nvSpPr>
        <p:spPr>
          <a:xfrm>
            <a:off x="3090672" y="5193792"/>
            <a:ext cx="17373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0">
                <a:solidFill>
                  <a:srgbClr val="6E95AB"/>
                </a:solidFill>
                <a:latin typeface="Consolas"/>
                <a:ea typeface="Microsoft YaHei"/>
              </a:rPr>
              <a:t>6 个会话</a:t>
            </a:r>
          </a:p>
        </p:txBody>
      </p:sp>
      <p:sp>
        <p:nvSpPr>
          <p:cNvPr id="210" name="TextBox 209"/>
          <p:cNvSpPr txBox="1"/>
          <p:nvPr/>
        </p:nvSpPr>
        <p:spPr>
          <a:xfrm>
            <a:off x="4846320" y="5193792"/>
            <a:ext cx="10972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60" b="1">
                <a:solidFill>
                  <a:srgbClr val="D8A66A"/>
                </a:solidFill>
                <a:latin typeface="Consolas"/>
                <a:ea typeface="Microsoft YaHei"/>
              </a:rPr>
              <a:t>被 signal 强杀</a:t>
            </a:r>
          </a:p>
        </p:txBody>
      </p:sp>
      <p:sp>
        <p:nvSpPr>
          <p:cNvPr id="211" name="TextBox 210"/>
          <p:cNvSpPr txBox="1"/>
          <p:nvPr/>
        </p:nvSpPr>
        <p:spPr>
          <a:xfrm>
            <a:off x="658368" y="5422392"/>
            <a:ext cx="2377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60" b="1">
                <a:solidFill>
                  <a:srgbClr val="E9EDF2"/>
                </a:solidFill>
                <a:latin typeface="Microsoft YaHei"/>
                <a:ea typeface="Microsoft YaHei"/>
              </a:rPr>
              <a:t>› engaged 但无 specialist 运行</a:t>
            </a:r>
          </a:p>
        </p:txBody>
      </p:sp>
      <p:sp>
        <p:nvSpPr>
          <p:cNvPr id="212" name="TextBox 211"/>
          <p:cNvSpPr txBox="1"/>
          <p:nvPr/>
        </p:nvSpPr>
        <p:spPr>
          <a:xfrm>
            <a:off x="3090672" y="5422392"/>
            <a:ext cx="17373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0">
                <a:solidFill>
                  <a:srgbClr val="6E95AB"/>
                </a:solidFill>
                <a:latin typeface="Consolas"/>
                <a:ea typeface="Microsoft YaHei"/>
              </a:rPr>
              <a:t>2 个会话</a:t>
            </a:r>
          </a:p>
        </p:txBody>
      </p:sp>
      <p:sp>
        <p:nvSpPr>
          <p:cNvPr id="213" name="TextBox 212"/>
          <p:cNvSpPr txBox="1"/>
          <p:nvPr/>
        </p:nvSpPr>
        <p:spPr>
          <a:xfrm>
            <a:off x="4846320" y="5422392"/>
            <a:ext cx="10972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60" b="1">
                <a:solidFill>
                  <a:srgbClr val="6E95AB"/>
                </a:solidFill>
                <a:latin typeface="Consolas"/>
                <a:ea typeface="Microsoft YaHei"/>
              </a:rPr>
              <a:t>轮次未成形</a:t>
            </a:r>
          </a:p>
        </p:txBody>
      </p:sp>
      <p:sp>
        <p:nvSpPr>
          <p:cNvPr id="214" name="TextBox 213"/>
          <p:cNvSpPr txBox="1"/>
          <p:nvPr/>
        </p:nvSpPr>
        <p:spPr>
          <a:xfrm>
            <a:off x="658368" y="5650992"/>
            <a:ext cx="2377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60" b="1">
                <a:solidFill>
                  <a:srgbClr val="E9EDF2"/>
                </a:solidFill>
                <a:latin typeface="Microsoft YaHei"/>
                <a:ea typeface="Microsoft YaHei"/>
              </a:rPr>
              <a:t>› 强证据 E1 ∪ E4</a:t>
            </a:r>
          </a:p>
        </p:txBody>
      </p:sp>
      <p:sp>
        <p:nvSpPr>
          <p:cNvPr id="215" name="TextBox 214"/>
          <p:cNvSpPr txBox="1"/>
          <p:nvPr/>
        </p:nvSpPr>
        <p:spPr>
          <a:xfrm>
            <a:off x="3090672" y="5650992"/>
            <a:ext cx="17373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0">
                <a:solidFill>
                  <a:srgbClr val="6E95AB"/>
                </a:solidFill>
                <a:latin typeface="Consolas"/>
                <a:ea typeface="Microsoft YaHei"/>
              </a:rPr>
              <a:t>35 个会话</a:t>
            </a:r>
          </a:p>
        </p:txBody>
      </p:sp>
      <p:sp>
        <p:nvSpPr>
          <p:cNvPr id="216" name="TextBox 215"/>
          <p:cNvSpPr txBox="1"/>
          <p:nvPr/>
        </p:nvSpPr>
        <p:spPr>
          <a:xfrm>
            <a:off x="4846320" y="5650992"/>
            <a:ext cx="10972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60" b="1">
                <a:solidFill>
                  <a:srgbClr val="8FE0AE"/>
                </a:solidFill>
                <a:latin typeface="Consolas"/>
                <a:ea typeface="Microsoft YaHei"/>
              </a:rPr>
              <a:t>确实派发过</a:t>
            </a:r>
          </a:p>
        </p:txBody>
      </p:sp>
      <p:sp>
        <p:nvSpPr>
          <p:cNvPr id="217" name="Rounded Rectangle 216"/>
          <p:cNvSpPr/>
          <p:nvPr/>
        </p:nvSpPr>
        <p:spPr>
          <a:xfrm>
            <a:off x="6199632" y="4864608"/>
            <a:ext cx="5532120" cy="1060704"/>
          </a:xfrm>
          <a:prstGeom prst="roundRect">
            <a:avLst>
              <a:gd name="adj" fmla="val 5172"/>
            </a:avLst>
          </a:prstGeom>
          <a:solidFill>
            <a:srgbClr val="0E141E"/>
          </a:solidFill>
          <a:ln w="9525">
            <a:solidFill>
              <a:srgbClr val="1E28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8" name="TextBox 217"/>
          <p:cNvSpPr txBox="1"/>
          <p:nvPr/>
        </p:nvSpPr>
        <p:spPr>
          <a:xfrm>
            <a:off x="6382512" y="4956048"/>
            <a:ext cx="5166359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19" b="1">
                <a:solidFill>
                  <a:srgbClr val="E9EDF2"/>
                </a:solidFill>
                <a:latin typeface="Microsoft YaHei"/>
                <a:ea typeface="Microsoft YaHei"/>
              </a:rPr>
              <a:t>覆盖面修正</a:t>
            </a:r>
            <a:r>
              <a:rPr sz="680" b="0">
                <a:solidFill>
                  <a:srgbClr val="7A8497"/>
                </a:solidFill>
                <a:latin typeface="Consolas"/>
                <a:ea typeface="Microsoft YaHei"/>
              </a:rPr>
              <a:t>    一次取数口径的坑</a:t>
            </a:r>
          </a:p>
        </p:txBody>
      </p:sp>
      <p:sp>
        <p:nvSpPr>
          <p:cNvPr id="219" name="TextBox 218"/>
          <p:cNvSpPr txBox="1"/>
          <p:nvPr/>
        </p:nvSpPr>
        <p:spPr>
          <a:xfrm>
            <a:off x="6400800" y="5193792"/>
            <a:ext cx="2377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60" b="1">
                <a:solidFill>
                  <a:srgbClr val="E9EDF2"/>
                </a:solidFill>
                <a:latin typeface="Microsoft YaHei"/>
                <a:ea typeface="Microsoft YaHei"/>
              </a:rPr>
              <a:t>› 初次取到 breakdown</a:t>
            </a:r>
          </a:p>
        </p:txBody>
      </p:sp>
      <p:sp>
        <p:nvSpPr>
          <p:cNvPr id="220" name="TextBox 219"/>
          <p:cNvSpPr txBox="1"/>
          <p:nvPr/>
        </p:nvSpPr>
        <p:spPr>
          <a:xfrm>
            <a:off x="8833104" y="5193792"/>
            <a:ext cx="17373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0">
                <a:solidFill>
                  <a:srgbClr val="6E95AB"/>
                </a:solidFill>
                <a:latin typeface="Consolas"/>
                <a:ea typeface="Microsoft YaHei"/>
              </a:rPr>
              <a:t>125 / 153</a:t>
            </a:r>
          </a:p>
        </p:txBody>
      </p:sp>
      <p:sp>
        <p:nvSpPr>
          <p:cNvPr id="221" name="TextBox 220"/>
          <p:cNvSpPr txBox="1"/>
          <p:nvPr/>
        </p:nvSpPr>
        <p:spPr>
          <a:xfrm>
            <a:off x="10588752" y="5193792"/>
            <a:ext cx="10972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60" b="1">
                <a:solidFill>
                  <a:srgbClr val="D8A66A"/>
                </a:solidFill>
                <a:latin typeface="Consolas"/>
                <a:ea typeface="Microsoft YaHei"/>
              </a:rPr>
              <a:t>28 个 404</a:t>
            </a:r>
          </a:p>
        </p:txBody>
      </p:sp>
      <p:sp>
        <p:nvSpPr>
          <p:cNvPr id="222" name="TextBox 221"/>
          <p:cNvSpPr txBox="1"/>
          <p:nvPr/>
        </p:nvSpPr>
        <p:spPr>
          <a:xfrm>
            <a:off x="6400800" y="5422392"/>
            <a:ext cx="2377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60" b="1">
                <a:solidFill>
                  <a:srgbClr val="E9EDF2"/>
                </a:solidFill>
                <a:latin typeface="Microsoft YaHei"/>
                <a:ea typeface="Microsoft YaHei"/>
              </a:rPr>
              <a:t>› 原因</a:t>
            </a:r>
          </a:p>
        </p:txBody>
      </p:sp>
      <p:sp>
        <p:nvSpPr>
          <p:cNvPr id="223" name="TextBox 222"/>
          <p:cNvSpPr txBox="1"/>
          <p:nvPr/>
        </p:nvSpPr>
        <p:spPr>
          <a:xfrm>
            <a:off x="8833104" y="5422392"/>
            <a:ext cx="17373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0">
                <a:solidFill>
                  <a:srgbClr val="6E95AB"/>
                </a:solidFill>
                <a:latin typeface="Consolas"/>
                <a:ea typeface="Microsoft YaHei"/>
              </a:rPr>
              <a:t>路径带模型/时间前缀</a:t>
            </a:r>
          </a:p>
        </p:txBody>
      </p:sp>
      <p:sp>
        <p:nvSpPr>
          <p:cNvPr id="224" name="TextBox 223"/>
          <p:cNvSpPr txBox="1"/>
          <p:nvPr/>
        </p:nvSpPr>
        <p:spPr>
          <a:xfrm>
            <a:off x="10588752" y="5422392"/>
            <a:ext cx="10972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60" b="1">
                <a:solidFill>
                  <a:srgbClr val="6E95AB"/>
                </a:solidFill>
                <a:latin typeface="Consolas"/>
                <a:ea typeface="Microsoft YaHei"/>
              </a:rPr>
              <a:t>非裸路径</a:t>
            </a:r>
          </a:p>
        </p:txBody>
      </p:sp>
      <p:sp>
        <p:nvSpPr>
          <p:cNvPr id="225" name="TextBox 224"/>
          <p:cNvSpPr txBox="1"/>
          <p:nvPr/>
        </p:nvSpPr>
        <p:spPr>
          <a:xfrm>
            <a:off x="6400800" y="5650992"/>
            <a:ext cx="2377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60" b="1">
                <a:solidFill>
                  <a:srgbClr val="E9EDF2"/>
                </a:solidFill>
                <a:latin typeface="Microsoft YaHei"/>
                <a:ea typeface="Microsoft YaHei"/>
              </a:rPr>
              <a:t>› 改用 archive_relative_root</a:t>
            </a:r>
          </a:p>
        </p:txBody>
      </p:sp>
      <p:sp>
        <p:nvSpPr>
          <p:cNvPr id="226" name="TextBox 225"/>
          <p:cNvSpPr txBox="1"/>
          <p:nvPr/>
        </p:nvSpPr>
        <p:spPr>
          <a:xfrm>
            <a:off x="8833104" y="5650992"/>
            <a:ext cx="17373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0">
                <a:solidFill>
                  <a:srgbClr val="6E95AB"/>
                </a:solidFill>
                <a:latin typeface="Consolas"/>
                <a:ea typeface="Microsoft YaHei"/>
              </a:rPr>
              <a:t>151 / 153</a:t>
            </a:r>
          </a:p>
        </p:txBody>
      </p:sp>
      <p:sp>
        <p:nvSpPr>
          <p:cNvPr id="227" name="TextBox 226"/>
          <p:cNvSpPr txBox="1"/>
          <p:nvPr/>
        </p:nvSpPr>
        <p:spPr>
          <a:xfrm>
            <a:off x="10588752" y="5650992"/>
            <a:ext cx="10972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60" b="1">
                <a:solidFill>
                  <a:srgbClr val="8FE0AE"/>
                </a:solidFill>
                <a:latin typeface="Consolas"/>
                <a:ea typeface="Microsoft YaHei"/>
              </a:rPr>
              <a:t>已覆盖</a:t>
            </a:r>
          </a:p>
        </p:txBody>
      </p:sp>
      <p:sp>
        <p:nvSpPr>
          <p:cNvPr id="228" name="Rounded Rectangle 227"/>
          <p:cNvSpPr/>
          <p:nvPr/>
        </p:nvSpPr>
        <p:spPr>
          <a:xfrm>
            <a:off x="457200" y="6053328"/>
            <a:ext cx="11274552" cy="420624"/>
          </a:xfrm>
          <a:prstGeom prst="roundRect">
            <a:avLst>
              <a:gd name="adj" fmla="val 13043"/>
            </a:avLst>
          </a:prstGeom>
          <a:solidFill>
            <a:srgbClr val="0E141E"/>
          </a:solidFill>
          <a:ln w="9525">
            <a:solidFill>
              <a:srgbClr val="86B7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9" name="TextBox 228"/>
          <p:cNvSpPr txBox="1"/>
          <p:nvPr/>
        </p:nvSpPr>
        <p:spPr>
          <a:xfrm>
            <a:off x="640080" y="6153912"/>
            <a:ext cx="109728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>
                <a:solidFill>
                  <a:srgbClr val="86B7D6"/>
                </a:solidFill>
                <a:latin typeface="Consolas"/>
                <a:ea typeface="Microsoft YaHei"/>
              </a:rPr>
              <a:t>结论    </a:t>
            </a:r>
            <a:r>
              <a:rPr sz="960" b="1">
                <a:solidFill>
                  <a:srgbClr val="8FE0AE"/>
                </a:solidFill>
                <a:latin typeface="Microsoft YaHei"/>
                <a:ea typeface="Microsoft YaHei"/>
              </a:rPr>
              <a:t>42 个会话动用 enablement,其中 35 个有强证据。</a:t>
            </a:r>
            <a:r>
              <a:rPr sz="960" b="0">
                <a:solidFill>
                  <a:srgbClr val="C7D0DC"/>
                </a:solidFill>
                <a:latin typeface="Microsoft YaHei"/>
                <a:ea typeface="Microsoft YaHei"/>
              </a:rPr>
              <a:t>coordinator.db 比 session_breakdown.json 更灵敏 —— 被强杀的会话状态来不及落盘,只有任务表留下痕迹。</a:t>
            </a:r>
          </a:p>
        </p:txBody>
      </p:sp>
      <p:sp>
        <p:nvSpPr>
          <p:cNvPr id="230" name="TextBox 229"/>
          <p:cNvSpPr txBox="1"/>
          <p:nvPr/>
        </p:nvSpPr>
        <p:spPr>
          <a:xfrm>
            <a:off x="457200" y="6620256"/>
            <a:ext cx="1127455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50" b="0">
                <a:solidFill>
                  <a:srgbClr val="3B4760"/>
                </a:solidFill>
                <a:latin typeface="Consolas"/>
                <a:ea typeface="Microsoft YaHei"/>
              </a:rPr>
              <a:t>数据来源:151 个归档 session_breakdown.json(enablement.* / specialist_runs / capability_summary)· coordinator.db tasks · reports/trace/llm_calls.jsonl 按 task_id 归因 · session-money.csv 账本口径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b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128016"/>
            <a:ext cx="10241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E9EDF2"/>
                </a:solidFill>
                <a:latin typeface="Microsoft YaHei"/>
                <a:ea typeface="Microsoft YaHei"/>
              </a:rPr>
              <a:t>Enablement · 触发由模型决定,不是运行时抖动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475488"/>
            <a:ext cx="11274552" cy="18288"/>
          </a:xfrm>
          <a:prstGeom prst="rect">
            <a:avLst/>
          </a:prstGeom>
          <a:solidFill>
            <a:srgbClr val="2A33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502920"/>
            <a:ext cx="10058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D8A66A"/>
                </a:solidFill>
                <a:latin typeface="Consolas"/>
                <a:ea typeface="Microsoft YaHei"/>
              </a:rPr>
              <a:t>6 个模型族 100% 触发</a:t>
            </a:r>
            <a:r>
              <a:rPr sz="900" b="1">
                <a:solidFill>
                  <a:srgbClr val="7A8497"/>
                </a:solidFill>
                <a:latin typeface="Consolas"/>
                <a:ea typeface="Microsoft YaHei"/>
              </a:rPr>
              <a:t>  ·  </a:t>
            </a:r>
            <a:r>
              <a:rPr sz="900" b="1">
                <a:solidFill>
                  <a:srgbClr val="8FE0AE"/>
                </a:solidFill>
                <a:latin typeface="Consolas"/>
                <a:ea typeface="Microsoft YaHei"/>
              </a:rPr>
              <a:t>对照组 60+ 会话 0 次触发</a:t>
            </a:r>
            <a:r>
              <a:rPr sz="900" b="1">
                <a:solidFill>
                  <a:srgbClr val="7A8497"/>
                </a:solidFill>
                <a:latin typeface="Consolas"/>
                <a:ea typeface="Microsoft YaHei"/>
              </a:rPr>
              <a:t>  ·  </a:t>
            </a:r>
            <a:r>
              <a:rPr sz="900" b="1">
                <a:solidFill>
                  <a:srgbClr val="E9EDF2"/>
                </a:solidFill>
                <a:latin typeface="Consolas"/>
                <a:ea typeface="Microsoft YaHei"/>
              </a:rPr>
              <a:t>问题在镜像与默认配置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2560" y="91440"/>
            <a:ext cx="267919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0">
                <a:solidFill>
                  <a:srgbClr val="7A8497"/>
                </a:solidFill>
                <a:latin typeface="Consolas"/>
                <a:ea typeface="Microsoft YaHei"/>
              </a:rPr>
              <a:t>同一框架 · 同一机型 MI355X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786384"/>
            <a:ext cx="7863840" cy="3931920"/>
          </a:xfrm>
          <a:prstGeom prst="roundRect">
            <a:avLst>
              <a:gd name="adj" fmla="val 1395"/>
            </a:avLst>
          </a:prstGeom>
          <a:solidFill>
            <a:srgbClr val="0E141E"/>
          </a:solidFill>
          <a:ln w="9525">
            <a:solidFill>
              <a:srgbClr val="1E28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886968"/>
            <a:ext cx="64008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80" b="1">
                <a:solidFill>
                  <a:srgbClr val="D8A66A"/>
                </a:solidFill>
                <a:latin typeface="Consolas"/>
                <a:ea typeface="Microsoft YaHei"/>
              </a:rPr>
              <a:t>按模型:触发会话 / 该模型总会话</a:t>
            </a:r>
            <a:r>
              <a:rPr sz="680" b="0">
                <a:solidFill>
                  <a:srgbClr val="7A8497"/>
                </a:solidFill>
                <a:latin typeface="Consolas"/>
                <a:ea typeface="Microsoft YaHei"/>
              </a:rPr>
              <a:t>    红 = 触发 enablement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0" y="1225296"/>
            <a:ext cx="7315" cy="3291840"/>
          </a:xfrm>
          <a:prstGeom prst="rect">
            <a:avLst/>
          </a:prstGeom>
          <a:solidFill>
            <a:srgbClr val="2A33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423160" y="4544568"/>
            <a:ext cx="64008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630" b="0">
                <a:solidFill>
                  <a:srgbClr val="3B4760"/>
                </a:solidFill>
                <a:latin typeface="Consolas"/>
                <a:ea typeface="Microsoft YaHei"/>
              </a:rPr>
              <a:t>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931920" y="1225296"/>
            <a:ext cx="7315" cy="3291840"/>
          </a:xfrm>
          <a:prstGeom prst="rect">
            <a:avLst/>
          </a:prstGeom>
          <a:solidFill>
            <a:srgbClr val="2A33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11879" y="4544568"/>
            <a:ext cx="64008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630" b="0">
                <a:solidFill>
                  <a:srgbClr val="3B4760"/>
                </a:solidFill>
                <a:latin typeface="Consolas"/>
                <a:ea typeface="Microsoft YaHei"/>
              </a:rPr>
              <a:t>8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120640" y="1225296"/>
            <a:ext cx="7315" cy="3291840"/>
          </a:xfrm>
          <a:prstGeom prst="rect">
            <a:avLst/>
          </a:prstGeom>
          <a:solidFill>
            <a:srgbClr val="2A33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00600" y="4544568"/>
            <a:ext cx="64008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630" b="0">
                <a:solidFill>
                  <a:srgbClr val="3B4760"/>
                </a:solidFill>
                <a:latin typeface="Consolas"/>
                <a:ea typeface="Microsoft YaHei"/>
              </a:rPr>
              <a:t>16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09359" y="1225296"/>
            <a:ext cx="7315" cy="3291840"/>
          </a:xfrm>
          <a:prstGeom prst="rect">
            <a:avLst/>
          </a:prstGeom>
          <a:solidFill>
            <a:srgbClr val="2A33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989320" y="4544568"/>
            <a:ext cx="64008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630" b="0">
                <a:solidFill>
                  <a:srgbClr val="3B4760"/>
                </a:solidFill>
                <a:latin typeface="Consolas"/>
                <a:ea typeface="Microsoft YaHei"/>
              </a:rPr>
              <a:t>24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498079" y="1225296"/>
            <a:ext cx="7315" cy="3291840"/>
          </a:xfrm>
          <a:prstGeom prst="rect">
            <a:avLst/>
          </a:prstGeom>
          <a:solidFill>
            <a:srgbClr val="2A33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178040" y="4544568"/>
            <a:ext cx="64008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630" b="0">
                <a:solidFill>
                  <a:srgbClr val="3B4760"/>
                </a:solidFill>
                <a:latin typeface="Consolas"/>
                <a:ea typeface="Microsoft YaHei"/>
              </a:rPr>
              <a:t>32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743200" y="1266992"/>
            <a:ext cx="4754879" cy="136062"/>
          </a:xfrm>
          <a:prstGeom prst="roundRect">
            <a:avLst>
              <a:gd name="adj" fmla="val 20161"/>
            </a:avLst>
          </a:prstGeom>
          <a:solidFill>
            <a:srgbClr val="1E28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2743200" y="1266992"/>
            <a:ext cx="18288" cy="136062"/>
          </a:xfrm>
          <a:prstGeom prst="roundRect">
            <a:avLst>
              <a:gd name="adj" fmla="val 50000"/>
            </a:avLst>
          </a:prstGeom>
          <a:solidFill>
            <a:srgbClr val="8FE0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1248704"/>
            <a:ext cx="2011679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720" b="0">
                <a:solidFill>
                  <a:srgbClr val="8FE0AE"/>
                </a:solidFill>
                <a:latin typeface="Consolas"/>
                <a:ea typeface="Microsoft YaHei"/>
              </a:rPr>
              <a:t>Qwen3-0.6B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71231" y="1248704"/>
            <a:ext cx="6400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1">
                <a:solidFill>
                  <a:srgbClr val="8FE0AE"/>
                </a:solidFill>
                <a:latin typeface="Consolas"/>
                <a:ea typeface="Microsoft YaHei"/>
              </a:rPr>
              <a:t>0/32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743200" y="1486448"/>
            <a:ext cx="2228849" cy="136062"/>
          </a:xfrm>
          <a:prstGeom prst="roundRect">
            <a:avLst>
              <a:gd name="adj" fmla="val 20161"/>
            </a:avLst>
          </a:prstGeom>
          <a:solidFill>
            <a:srgbClr val="1E28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2743200" y="1486448"/>
            <a:ext cx="18288" cy="136062"/>
          </a:xfrm>
          <a:prstGeom prst="roundRect">
            <a:avLst>
              <a:gd name="adj" fmla="val 50000"/>
            </a:avLst>
          </a:prstGeom>
          <a:solidFill>
            <a:srgbClr val="8FE0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" y="1468160"/>
            <a:ext cx="2011679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720" b="0">
                <a:solidFill>
                  <a:srgbClr val="8FE0AE"/>
                </a:solidFill>
                <a:latin typeface="Consolas"/>
                <a:ea typeface="Microsoft YaHei"/>
              </a:rPr>
              <a:t>Qwen3-8B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571231" y="1468160"/>
            <a:ext cx="6400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1">
                <a:solidFill>
                  <a:srgbClr val="8FE0AE"/>
                </a:solidFill>
                <a:latin typeface="Consolas"/>
                <a:ea typeface="Microsoft YaHei"/>
              </a:rPr>
              <a:t>0/15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2743200" y="1705904"/>
            <a:ext cx="1783079" cy="136062"/>
          </a:xfrm>
          <a:prstGeom prst="roundRect">
            <a:avLst>
              <a:gd name="adj" fmla="val 20161"/>
            </a:avLst>
          </a:prstGeom>
          <a:solidFill>
            <a:srgbClr val="1E28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2743200" y="1705904"/>
            <a:ext cx="1188719" cy="136062"/>
          </a:xfrm>
          <a:prstGeom prst="roundRect">
            <a:avLst>
              <a:gd name="adj" fmla="val 20161"/>
            </a:avLst>
          </a:prstGeom>
          <a:solidFill>
            <a:srgbClr val="D8A6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" y="1687616"/>
            <a:ext cx="2011679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720" b="1">
                <a:solidFill>
                  <a:srgbClr val="D8A66A"/>
                </a:solidFill>
                <a:latin typeface="Consolas"/>
                <a:ea typeface="Microsoft YaHei"/>
              </a:rPr>
              <a:t>DeepSeek-V4-Pro-MXFP4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571231" y="1687616"/>
            <a:ext cx="6400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1">
                <a:solidFill>
                  <a:srgbClr val="D8A66A"/>
                </a:solidFill>
                <a:latin typeface="Consolas"/>
                <a:ea typeface="Microsoft YaHei"/>
              </a:rPr>
              <a:t>8/12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2743200" y="1925360"/>
            <a:ext cx="1485899" cy="136062"/>
          </a:xfrm>
          <a:prstGeom prst="roundRect">
            <a:avLst>
              <a:gd name="adj" fmla="val 20161"/>
            </a:avLst>
          </a:prstGeom>
          <a:solidFill>
            <a:srgbClr val="1E28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2743200" y="1925360"/>
            <a:ext cx="148589" cy="136062"/>
          </a:xfrm>
          <a:prstGeom prst="roundRect">
            <a:avLst>
              <a:gd name="adj" fmla="val 20161"/>
            </a:avLst>
          </a:prstGeom>
          <a:solidFill>
            <a:srgbClr val="6E95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0080" y="1907072"/>
            <a:ext cx="2011679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720" b="0">
                <a:solidFill>
                  <a:srgbClr val="6E95AB"/>
                </a:solidFill>
                <a:latin typeface="Consolas"/>
                <a:ea typeface="Microsoft YaHei"/>
              </a:rPr>
              <a:t>Qwen3-14B-FP8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571231" y="1907072"/>
            <a:ext cx="6400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1">
                <a:solidFill>
                  <a:srgbClr val="6E95AB"/>
                </a:solidFill>
                <a:latin typeface="Consolas"/>
                <a:ea typeface="Microsoft YaHei"/>
              </a:rPr>
              <a:t>1/10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2743200" y="2144816"/>
            <a:ext cx="1188719" cy="136062"/>
          </a:xfrm>
          <a:prstGeom prst="roundRect">
            <a:avLst>
              <a:gd name="adj" fmla="val 20161"/>
            </a:avLst>
          </a:prstGeom>
          <a:solidFill>
            <a:srgbClr val="1E28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2743200" y="2144816"/>
            <a:ext cx="148589" cy="136062"/>
          </a:xfrm>
          <a:prstGeom prst="roundRect">
            <a:avLst>
              <a:gd name="adj" fmla="val 20161"/>
            </a:avLst>
          </a:prstGeom>
          <a:solidFill>
            <a:srgbClr val="6E95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0080" y="2126528"/>
            <a:ext cx="2011679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720" b="0">
                <a:solidFill>
                  <a:srgbClr val="6E95AB"/>
                </a:solidFill>
                <a:latin typeface="Consolas"/>
                <a:ea typeface="Microsoft YaHei"/>
              </a:rPr>
              <a:t>gpt-oss-120b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571231" y="2126528"/>
            <a:ext cx="6400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1">
                <a:solidFill>
                  <a:srgbClr val="6E95AB"/>
                </a:solidFill>
                <a:latin typeface="Consolas"/>
                <a:ea typeface="Microsoft YaHei"/>
              </a:rPr>
              <a:t>1/8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2743200" y="2364272"/>
            <a:ext cx="1040129" cy="136062"/>
          </a:xfrm>
          <a:prstGeom prst="roundRect">
            <a:avLst>
              <a:gd name="adj" fmla="val 20161"/>
            </a:avLst>
          </a:prstGeom>
          <a:solidFill>
            <a:srgbClr val="1E28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2743200" y="2364272"/>
            <a:ext cx="1040129" cy="136062"/>
          </a:xfrm>
          <a:prstGeom prst="roundRect">
            <a:avLst>
              <a:gd name="adj" fmla="val 20161"/>
            </a:avLst>
          </a:prstGeom>
          <a:solidFill>
            <a:srgbClr val="D8A6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40080" y="2345984"/>
            <a:ext cx="2011679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720" b="1">
                <a:solidFill>
                  <a:srgbClr val="D8A66A"/>
                </a:solidFill>
                <a:latin typeface="Consolas"/>
                <a:ea typeface="Microsoft YaHei"/>
              </a:rPr>
              <a:t>MiniMax-M3-MXFP4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571231" y="2345984"/>
            <a:ext cx="6400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1">
                <a:solidFill>
                  <a:srgbClr val="D8A66A"/>
                </a:solidFill>
                <a:latin typeface="Consolas"/>
                <a:ea typeface="Microsoft YaHei"/>
              </a:rPr>
              <a:t>7/7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2743200" y="2583728"/>
            <a:ext cx="1040129" cy="136062"/>
          </a:xfrm>
          <a:prstGeom prst="roundRect">
            <a:avLst>
              <a:gd name="adj" fmla="val 20161"/>
            </a:avLst>
          </a:prstGeom>
          <a:solidFill>
            <a:srgbClr val="1E28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2743200" y="2583728"/>
            <a:ext cx="148589" cy="136062"/>
          </a:xfrm>
          <a:prstGeom prst="roundRect">
            <a:avLst>
              <a:gd name="adj" fmla="val 20161"/>
            </a:avLst>
          </a:prstGeom>
          <a:solidFill>
            <a:srgbClr val="6E95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40080" y="2565440"/>
            <a:ext cx="2011679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720" b="0">
                <a:solidFill>
                  <a:srgbClr val="6E95AB"/>
                </a:solidFill>
                <a:latin typeface="Consolas"/>
                <a:ea typeface="Microsoft YaHei"/>
              </a:rPr>
              <a:t>Kimi-K3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571231" y="2565440"/>
            <a:ext cx="6400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1">
                <a:solidFill>
                  <a:srgbClr val="6E95AB"/>
                </a:solidFill>
                <a:latin typeface="Consolas"/>
                <a:ea typeface="Microsoft YaHei"/>
              </a:rPr>
              <a:t>1/7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2743200" y="2803184"/>
            <a:ext cx="891539" cy="136062"/>
          </a:xfrm>
          <a:prstGeom prst="roundRect">
            <a:avLst>
              <a:gd name="adj" fmla="val 20161"/>
            </a:avLst>
          </a:prstGeom>
          <a:solidFill>
            <a:srgbClr val="1E28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ounded Rectangle 48"/>
          <p:cNvSpPr/>
          <p:nvPr/>
        </p:nvSpPr>
        <p:spPr>
          <a:xfrm>
            <a:off x="2743200" y="2803184"/>
            <a:ext cx="891539" cy="136062"/>
          </a:xfrm>
          <a:prstGeom prst="roundRect">
            <a:avLst>
              <a:gd name="adj" fmla="val 20161"/>
            </a:avLst>
          </a:prstGeom>
          <a:solidFill>
            <a:srgbClr val="D8A6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40080" y="2784896"/>
            <a:ext cx="2011679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720" b="1">
                <a:solidFill>
                  <a:srgbClr val="D8A66A"/>
                </a:solidFill>
                <a:latin typeface="Consolas"/>
                <a:ea typeface="Microsoft YaHei"/>
              </a:rPr>
              <a:t>GLM-5.2-MXFP4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571231" y="2784896"/>
            <a:ext cx="6400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1">
                <a:solidFill>
                  <a:srgbClr val="D8A66A"/>
                </a:solidFill>
                <a:latin typeface="Consolas"/>
                <a:ea typeface="Microsoft YaHei"/>
              </a:rPr>
              <a:t>6/6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2743200" y="3022640"/>
            <a:ext cx="891539" cy="136062"/>
          </a:xfrm>
          <a:prstGeom prst="roundRect">
            <a:avLst>
              <a:gd name="adj" fmla="val 20161"/>
            </a:avLst>
          </a:prstGeom>
          <a:solidFill>
            <a:srgbClr val="1E28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ounded Rectangle 52"/>
          <p:cNvSpPr/>
          <p:nvPr/>
        </p:nvSpPr>
        <p:spPr>
          <a:xfrm>
            <a:off x="2743200" y="3022640"/>
            <a:ext cx="18288" cy="136062"/>
          </a:xfrm>
          <a:prstGeom prst="roundRect">
            <a:avLst>
              <a:gd name="adj" fmla="val 50000"/>
            </a:avLst>
          </a:prstGeom>
          <a:solidFill>
            <a:srgbClr val="8FE0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40080" y="3004352"/>
            <a:ext cx="2011679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720" b="0">
                <a:solidFill>
                  <a:srgbClr val="8FE0AE"/>
                </a:solidFill>
                <a:latin typeface="Consolas"/>
                <a:ea typeface="Microsoft YaHei"/>
              </a:rPr>
              <a:t>Llama-3.1-8B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571231" y="3004352"/>
            <a:ext cx="6400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1">
                <a:solidFill>
                  <a:srgbClr val="8FE0AE"/>
                </a:solidFill>
                <a:latin typeface="Consolas"/>
                <a:ea typeface="Microsoft YaHei"/>
              </a:rPr>
              <a:t>0/6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2743200" y="3242096"/>
            <a:ext cx="742949" cy="136062"/>
          </a:xfrm>
          <a:prstGeom prst="roundRect">
            <a:avLst>
              <a:gd name="adj" fmla="val 20161"/>
            </a:avLst>
          </a:prstGeom>
          <a:solidFill>
            <a:srgbClr val="1E28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ounded Rectangle 56"/>
          <p:cNvSpPr/>
          <p:nvPr/>
        </p:nvSpPr>
        <p:spPr>
          <a:xfrm>
            <a:off x="2743200" y="3242096"/>
            <a:ext cx="742949" cy="136062"/>
          </a:xfrm>
          <a:prstGeom prst="roundRect">
            <a:avLst>
              <a:gd name="adj" fmla="val 20161"/>
            </a:avLst>
          </a:prstGeom>
          <a:solidFill>
            <a:srgbClr val="D8A6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40080" y="3223808"/>
            <a:ext cx="2011679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720" b="1">
                <a:solidFill>
                  <a:srgbClr val="D8A66A"/>
                </a:solidFill>
                <a:latin typeface="Consolas"/>
                <a:ea typeface="Microsoft YaHei"/>
              </a:rPr>
              <a:t>gemma-4-26B-A4B-it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571231" y="3223808"/>
            <a:ext cx="6400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1">
                <a:solidFill>
                  <a:srgbClr val="D8A66A"/>
                </a:solidFill>
                <a:latin typeface="Consolas"/>
                <a:ea typeface="Microsoft YaHei"/>
              </a:rPr>
              <a:t>5/5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2743200" y="3461552"/>
            <a:ext cx="742949" cy="136062"/>
          </a:xfrm>
          <a:prstGeom prst="roundRect">
            <a:avLst>
              <a:gd name="adj" fmla="val 20161"/>
            </a:avLst>
          </a:prstGeom>
          <a:solidFill>
            <a:srgbClr val="1E28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ounded Rectangle 60"/>
          <p:cNvSpPr/>
          <p:nvPr/>
        </p:nvSpPr>
        <p:spPr>
          <a:xfrm>
            <a:off x="2743200" y="3461552"/>
            <a:ext cx="18288" cy="136062"/>
          </a:xfrm>
          <a:prstGeom prst="roundRect">
            <a:avLst>
              <a:gd name="adj" fmla="val 50000"/>
            </a:avLst>
          </a:prstGeom>
          <a:solidFill>
            <a:srgbClr val="8FE0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640080" y="3443264"/>
            <a:ext cx="2011679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720" b="0">
                <a:solidFill>
                  <a:srgbClr val="8FE0AE"/>
                </a:solidFill>
                <a:latin typeface="Consolas"/>
                <a:ea typeface="Microsoft YaHei"/>
              </a:rPr>
              <a:t>Qwen3.5-397B-MXFP4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7571231" y="3443264"/>
            <a:ext cx="6400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1">
                <a:solidFill>
                  <a:srgbClr val="8FE0AE"/>
                </a:solidFill>
                <a:latin typeface="Consolas"/>
                <a:ea typeface="Microsoft YaHei"/>
              </a:rPr>
              <a:t>0/5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2743200" y="3681008"/>
            <a:ext cx="594359" cy="136062"/>
          </a:xfrm>
          <a:prstGeom prst="roundRect">
            <a:avLst>
              <a:gd name="adj" fmla="val 20161"/>
            </a:avLst>
          </a:prstGeom>
          <a:solidFill>
            <a:srgbClr val="1E28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ounded Rectangle 64"/>
          <p:cNvSpPr/>
          <p:nvPr/>
        </p:nvSpPr>
        <p:spPr>
          <a:xfrm>
            <a:off x="2743200" y="3681008"/>
            <a:ext cx="297179" cy="136062"/>
          </a:xfrm>
          <a:prstGeom prst="roundRect">
            <a:avLst>
              <a:gd name="adj" fmla="val 20161"/>
            </a:avLst>
          </a:prstGeom>
          <a:solidFill>
            <a:srgbClr val="6E95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640080" y="3662720"/>
            <a:ext cx="2011679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720" b="0">
                <a:solidFill>
                  <a:srgbClr val="6E95AB"/>
                </a:solidFill>
                <a:latin typeface="Consolas"/>
                <a:ea typeface="Microsoft YaHei"/>
              </a:rPr>
              <a:t>FLUX.1-schnell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7571231" y="3662720"/>
            <a:ext cx="6400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1">
                <a:solidFill>
                  <a:srgbClr val="6E95AB"/>
                </a:solidFill>
                <a:latin typeface="Consolas"/>
                <a:ea typeface="Microsoft YaHei"/>
              </a:rPr>
              <a:t>2/4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2743200" y="3900464"/>
            <a:ext cx="445769" cy="136062"/>
          </a:xfrm>
          <a:prstGeom prst="roundRect">
            <a:avLst>
              <a:gd name="adj" fmla="val 20161"/>
            </a:avLst>
          </a:prstGeom>
          <a:solidFill>
            <a:srgbClr val="1E28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ounded Rectangle 68"/>
          <p:cNvSpPr/>
          <p:nvPr/>
        </p:nvSpPr>
        <p:spPr>
          <a:xfrm>
            <a:off x="2743200" y="3900464"/>
            <a:ext cx="445769" cy="136062"/>
          </a:xfrm>
          <a:prstGeom prst="roundRect">
            <a:avLst>
              <a:gd name="adj" fmla="val 20161"/>
            </a:avLst>
          </a:prstGeom>
          <a:solidFill>
            <a:srgbClr val="D8A6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640080" y="3882176"/>
            <a:ext cx="2011679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720" b="1">
                <a:solidFill>
                  <a:srgbClr val="D8A66A"/>
                </a:solidFill>
                <a:latin typeface="Consolas"/>
                <a:ea typeface="Microsoft YaHei"/>
              </a:rPr>
              <a:t>SD-3.5-large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571231" y="3882176"/>
            <a:ext cx="6400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1">
                <a:solidFill>
                  <a:srgbClr val="D8A66A"/>
                </a:solidFill>
                <a:latin typeface="Consolas"/>
                <a:ea typeface="Microsoft YaHei"/>
              </a:rPr>
              <a:t>3/3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2743200" y="4119920"/>
            <a:ext cx="445769" cy="136062"/>
          </a:xfrm>
          <a:prstGeom prst="roundRect">
            <a:avLst>
              <a:gd name="adj" fmla="val 20161"/>
            </a:avLst>
          </a:prstGeom>
          <a:solidFill>
            <a:srgbClr val="1E28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ounded Rectangle 72"/>
          <p:cNvSpPr/>
          <p:nvPr/>
        </p:nvSpPr>
        <p:spPr>
          <a:xfrm>
            <a:off x="2743200" y="4119920"/>
            <a:ext cx="445769" cy="136062"/>
          </a:xfrm>
          <a:prstGeom prst="roundRect">
            <a:avLst>
              <a:gd name="adj" fmla="val 20161"/>
            </a:avLst>
          </a:prstGeom>
          <a:solidFill>
            <a:srgbClr val="D8A6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640080" y="4101632"/>
            <a:ext cx="2011679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720" b="1">
                <a:solidFill>
                  <a:srgbClr val="D8A66A"/>
                </a:solidFill>
                <a:latin typeface="Consolas"/>
                <a:ea typeface="Microsoft YaHei"/>
              </a:rPr>
              <a:t>FLUX.1-dev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7571231" y="4101632"/>
            <a:ext cx="6400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1">
                <a:solidFill>
                  <a:srgbClr val="D8A66A"/>
                </a:solidFill>
                <a:latin typeface="Consolas"/>
                <a:ea typeface="Microsoft YaHei"/>
              </a:rPr>
              <a:t>3/3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2743200" y="4339376"/>
            <a:ext cx="297179" cy="136062"/>
          </a:xfrm>
          <a:prstGeom prst="roundRect">
            <a:avLst>
              <a:gd name="adj" fmla="val 20161"/>
            </a:avLst>
          </a:prstGeom>
          <a:solidFill>
            <a:srgbClr val="1E28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ounded Rectangle 76"/>
          <p:cNvSpPr/>
          <p:nvPr/>
        </p:nvSpPr>
        <p:spPr>
          <a:xfrm>
            <a:off x="2743200" y="4339376"/>
            <a:ext cx="297179" cy="136062"/>
          </a:xfrm>
          <a:prstGeom prst="roundRect">
            <a:avLst>
              <a:gd name="adj" fmla="val 20161"/>
            </a:avLst>
          </a:prstGeom>
          <a:solidFill>
            <a:srgbClr val="D8A6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640080" y="4321088"/>
            <a:ext cx="2011679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720" b="1">
                <a:solidFill>
                  <a:srgbClr val="D8A66A"/>
                </a:solidFill>
                <a:latin typeface="Consolas"/>
                <a:ea typeface="Microsoft YaHei"/>
              </a:rPr>
              <a:t>HiDream-I1-Fast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7571231" y="4321088"/>
            <a:ext cx="6400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1">
                <a:solidFill>
                  <a:srgbClr val="D8A66A"/>
                </a:solidFill>
                <a:latin typeface="Consolas"/>
                <a:ea typeface="Microsoft YaHei"/>
              </a:rPr>
              <a:t>2/2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8503920" y="786384"/>
            <a:ext cx="3227832" cy="1883664"/>
          </a:xfrm>
          <a:prstGeom prst="roundRect">
            <a:avLst>
              <a:gd name="adj" fmla="val 2912"/>
            </a:avLst>
          </a:prstGeom>
          <a:solidFill>
            <a:srgbClr val="0E141E"/>
          </a:solidFill>
          <a:ln w="9525">
            <a:solidFill>
              <a:srgbClr val="1E28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8686800" y="905256"/>
            <a:ext cx="286207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80" b="1">
                <a:solidFill>
                  <a:srgbClr val="D8A66A"/>
                </a:solidFill>
                <a:latin typeface="Consolas"/>
                <a:ea typeface="Microsoft YaHei"/>
              </a:rPr>
              <a:t>100% 触发的六个族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8686800" y="1152144"/>
            <a:ext cx="2313432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90" b="0">
                <a:solidFill>
                  <a:srgbClr val="E9EDF2"/>
                </a:solidFill>
                <a:latin typeface="Consolas"/>
                <a:ea typeface="Microsoft YaHei"/>
              </a:rPr>
              <a:t>MiniMax-M3-MXFP4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11000232" y="1152144"/>
            <a:ext cx="54864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690" b="1">
                <a:solidFill>
                  <a:srgbClr val="D8A66A"/>
                </a:solidFill>
                <a:latin typeface="Consolas"/>
                <a:ea typeface="Microsoft YaHei"/>
              </a:rPr>
              <a:t>7/7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8686800" y="1344168"/>
            <a:ext cx="2313432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90" b="0">
                <a:solidFill>
                  <a:srgbClr val="E9EDF2"/>
                </a:solidFill>
                <a:latin typeface="Consolas"/>
                <a:ea typeface="Microsoft YaHei"/>
              </a:rPr>
              <a:t>GLM-5.2-MXFP4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11000232" y="1344168"/>
            <a:ext cx="54864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690" b="1">
                <a:solidFill>
                  <a:srgbClr val="D8A66A"/>
                </a:solidFill>
                <a:latin typeface="Consolas"/>
                <a:ea typeface="Microsoft YaHei"/>
              </a:rPr>
              <a:t>6/6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8686800" y="1536192"/>
            <a:ext cx="2313432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90" b="0">
                <a:solidFill>
                  <a:srgbClr val="E9EDF2"/>
                </a:solidFill>
                <a:latin typeface="Consolas"/>
                <a:ea typeface="Microsoft YaHei"/>
              </a:rPr>
              <a:t>gemma-4-26B-A4B-it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11000232" y="1536192"/>
            <a:ext cx="54864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690" b="1">
                <a:solidFill>
                  <a:srgbClr val="D8A66A"/>
                </a:solidFill>
                <a:latin typeface="Consolas"/>
                <a:ea typeface="Microsoft YaHei"/>
              </a:rPr>
              <a:t>5/5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8686800" y="1728216"/>
            <a:ext cx="2313432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90" b="0">
                <a:solidFill>
                  <a:srgbClr val="E9EDF2"/>
                </a:solidFill>
                <a:latin typeface="Consolas"/>
                <a:ea typeface="Microsoft YaHei"/>
              </a:rPr>
              <a:t>SD-3.5-large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11000232" y="1728216"/>
            <a:ext cx="54864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690" b="1">
                <a:solidFill>
                  <a:srgbClr val="D8A66A"/>
                </a:solidFill>
                <a:latin typeface="Consolas"/>
                <a:ea typeface="Microsoft YaHei"/>
              </a:rPr>
              <a:t>3/3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8686800" y="1920240"/>
            <a:ext cx="2313432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90" b="0">
                <a:solidFill>
                  <a:srgbClr val="E9EDF2"/>
                </a:solidFill>
                <a:latin typeface="Consolas"/>
                <a:ea typeface="Microsoft YaHei"/>
              </a:rPr>
              <a:t>FLUX.1-dev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11000232" y="1920240"/>
            <a:ext cx="54864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690" b="1">
                <a:solidFill>
                  <a:srgbClr val="D8A66A"/>
                </a:solidFill>
                <a:latin typeface="Consolas"/>
                <a:ea typeface="Microsoft YaHei"/>
              </a:rPr>
              <a:t>3/3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8686800" y="2112264"/>
            <a:ext cx="2313432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90" b="0">
                <a:solidFill>
                  <a:srgbClr val="E9EDF2"/>
                </a:solidFill>
                <a:latin typeface="Consolas"/>
                <a:ea typeface="Microsoft YaHei"/>
              </a:rPr>
              <a:t>HiDream-I1-Fast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11000232" y="2112264"/>
            <a:ext cx="54864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690" b="1">
                <a:solidFill>
                  <a:srgbClr val="D8A66A"/>
                </a:solidFill>
                <a:latin typeface="Consolas"/>
                <a:ea typeface="Microsoft YaHei"/>
              </a:rPr>
              <a:t>2/2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8686800" y="2340864"/>
            <a:ext cx="286207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80" b="0">
                <a:solidFill>
                  <a:srgbClr val="7A8497"/>
                </a:solidFill>
                <a:latin typeface="Microsoft YaHei"/>
                <a:ea typeface="Microsoft YaHei"/>
              </a:rPr>
              <a:t>MXFP4 量化 + 扩散类图像模型扎堆</a:t>
            </a:r>
          </a:p>
        </p:txBody>
      </p:sp>
      <p:sp>
        <p:nvSpPr>
          <p:cNvPr id="95" name="Rounded Rectangle 94"/>
          <p:cNvSpPr/>
          <p:nvPr/>
        </p:nvSpPr>
        <p:spPr>
          <a:xfrm>
            <a:off x="8503920" y="2834640"/>
            <a:ext cx="3227832" cy="1883664"/>
          </a:xfrm>
          <a:prstGeom prst="roundRect">
            <a:avLst>
              <a:gd name="adj" fmla="val 2912"/>
            </a:avLst>
          </a:prstGeom>
          <a:solidFill>
            <a:srgbClr val="0E141E"/>
          </a:solidFill>
          <a:ln w="9525">
            <a:solidFill>
              <a:srgbClr val="1E28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8686800" y="2953512"/>
            <a:ext cx="286207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80" b="1">
                <a:solidFill>
                  <a:srgbClr val="8FE0AE"/>
                </a:solidFill>
                <a:latin typeface="Consolas"/>
                <a:ea typeface="Microsoft YaHei"/>
              </a:rPr>
              <a:t>反例:不是「MXFP4 都不行」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8686800" y="3163824"/>
            <a:ext cx="286207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60" b="1">
                <a:solidFill>
                  <a:srgbClr val="8FE0AE"/>
                </a:solidFill>
                <a:latin typeface="Consolas"/>
                <a:ea typeface="Microsoft YaHei"/>
              </a:rPr>
              <a:t>Qwen3.5-397B-A17B-MXFP4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8686800" y="3474720"/>
            <a:ext cx="286207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8FE0AE"/>
                </a:solidFill>
                <a:latin typeface="Consolas"/>
                <a:ea typeface="Microsoft YaHei"/>
              </a:rPr>
              <a:t>0 / 5</a:t>
            </a:r>
            <a:r>
              <a:rPr sz="740" b="0">
                <a:solidFill>
                  <a:srgbClr val="7A8497"/>
                </a:solidFill>
                <a:latin typeface="Microsoft YaHei"/>
                <a:ea typeface="Microsoft YaHei"/>
              </a:rPr>
              <a:t>   会话全部正常启动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8686800" y="3822191"/>
            <a:ext cx="2862072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720" b="0">
                <a:solidFill>
                  <a:srgbClr val="C7D0DC"/>
                </a:solidFill>
                <a:latin typeface="Microsoft YaHei"/>
                <a:ea typeface="Microsoft YaHei"/>
              </a:rPr>
              <a:t>它同样是 MXFP4 量化模型,却一次都没触发 enablement。所以根因不是量化格式本身,而是特定模型在当前镜像里缺少 day-0 支持。</a:t>
            </a:r>
          </a:p>
        </p:txBody>
      </p:sp>
      <p:sp>
        <p:nvSpPr>
          <p:cNvPr id="100" name="Rounded Rectangle 99"/>
          <p:cNvSpPr/>
          <p:nvPr/>
        </p:nvSpPr>
        <p:spPr>
          <a:xfrm>
            <a:off x="457200" y="4864608"/>
            <a:ext cx="5532120" cy="1060704"/>
          </a:xfrm>
          <a:prstGeom prst="roundRect">
            <a:avLst>
              <a:gd name="adj" fmla="val 5172"/>
            </a:avLst>
          </a:prstGeom>
          <a:solidFill>
            <a:srgbClr val="0E141E"/>
          </a:solidFill>
          <a:ln w="9525">
            <a:solidFill>
              <a:srgbClr val="1E28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640080" y="4956048"/>
            <a:ext cx="5166359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19" b="1">
                <a:solidFill>
                  <a:srgbClr val="E9EDF2"/>
                </a:solidFill>
                <a:latin typeface="Microsoft YaHei"/>
                <a:ea typeface="Microsoft YaHei"/>
              </a:rPr>
              <a:t>高触发的共同点</a:t>
            </a:r>
            <a:r>
              <a:rPr sz="680" b="0">
                <a:solidFill>
                  <a:srgbClr val="7A8497"/>
                </a:solidFill>
                <a:latin typeface="Consolas"/>
                <a:ea typeface="Microsoft YaHei"/>
              </a:rPr>
              <a:t>    MXFP4 量化 + 扩散类图像模型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658368" y="5193792"/>
            <a:ext cx="2377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60" b="1">
                <a:solidFill>
                  <a:srgbClr val="E9EDF2"/>
                </a:solidFill>
                <a:latin typeface="Microsoft YaHei"/>
                <a:ea typeface="Microsoft YaHei"/>
              </a:rPr>
              <a:t>› 六个模型族 100% 触发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3090672" y="5193792"/>
            <a:ext cx="17373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0">
                <a:solidFill>
                  <a:srgbClr val="6E95AB"/>
                </a:solidFill>
                <a:latin typeface="Consolas"/>
                <a:ea typeface="Microsoft YaHei"/>
              </a:rPr>
              <a:t>26 个会话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4846320" y="5193792"/>
            <a:ext cx="10972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60" b="1">
                <a:solidFill>
                  <a:srgbClr val="D8A66A"/>
                </a:solidFill>
                <a:latin typeface="Consolas"/>
                <a:ea typeface="Microsoft YaHei"/>
              </a:rPr>
              <a:t>全部命中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658368" y="5422392"/>
            <a:ext cx="2377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60" b="1">
                <a:solidFill>
                  <a:srgbClr val="E9EDF2"/>
                </a:solidFill>
                <a:latin typeface="Microsoft YaHei"/>
                <a:ea typeface="Microsoft YaHei"/>
              </a:rPr>
              <a:t>› DeepSeek-V4-Pro-MXFP4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3090672" y="5422392"/>
            <a:ext cx="17373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0">
                <a:solidFill>
                  <a:srgbClr val="6E95AB"/>
                </a:solidFill>
                <a:latin typeface="Consolas"/>
                <a:ea typeface="Microsoft YaHei"/>
              </a:rPr>
              <a:t>8 / 12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4846320" y="5422392"/>
            <a:ext cx="10972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60" b="1">
                <a:solidFill>
                  <a:srgbClr val="D8A66A"/>
                </a:solidFill>
                <a:latin typeface="Consolas"/>
                <a:ea typeface="Microsoft YaHei"/>
              </a:rPr>
              <a:t>67%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658368" y="5650992"/>
            <a:ext cx="2377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60" b="1">
                <a:solidFill>
                  <a:srgbClr val="E9EDF2"/>
                </a:solidFill>
                <a:latin typeface="Microsoft YaHei"/>
                <a:ea typeface="Microsoft YaHei"/>
              </a:rPr>
              <a:t>› 推断根因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3090672" y="5650992"/>
            <a:ext cx="17373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0">
                <a:solidFill>
                  <a:srgbClr val="6E95AB"/>
                </a:solidFill>
                <a:latin typeface="Consolas"/>
                <a:ea typeface="Microsoft YaHei"/>
              </a:rPr>
              <a:t>镜像缺 day-0 支持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4846320" y="5650992"/>
            <a:ext cx="10972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60" b="1">
                <a:solidFill>
                  <a:srgbClr val="D8A66A"/>
                </a:solidFill>
                <a:latin typeface="Consolas"/>
                <a:ea typeface="Microsoft YaHei"/>
              </a:rPr>
              <a:t>非运行时抖动</a:t>
            </a:r>
          </a:p>
        </p:txBody>
      </p:sp>
      <p:sp>
        <p:nvSpPr>
          <p:cNvPr id="111" name="Rounded Rectangle 110"/>
          <p:cNvSpPr/>
          <p:nvPr/>
        </p:nvSpPr>
        <p:spPr>
          <a:xfrm>
            <a:off x="6199632" y="4864608"/>
            <a:ext cx="5532120" cy="1060704"/>
          </a:xfrm>
          <a:prstGeom prst="roundRect">
            <a:avLst>
              <a:gd name="adj" fmla="val 5172"/>
            </a:avLst>
          </a:prstGeom>
          <a:solidFill>
            <a:srgbClr val="0E141E"/>
          </a:solidFill>
          <a:ln w="9525">
            <a:solidFill>
              <a:srgbClr val="1E28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6382512" y="4956048"/>
            <a:ext cx="5166359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19" b="1">
                <a:solidFill>
                  <a:srgbClr val="E9EDF2"/>
                </a:solidFill>
                <a:latin typeface="Microsoft YaHei"/>
                <a:ea typeface="Microsoft YaHei"/>
              </a:rPr>
              <a:t>对照组 · 从不触发</a:t>
            </a:r>
            <a:r>
              <a:rPr sz="680" b="0">
                <a:solidFill>
                  <a:srgbClr val="7A8497"/>
                </a:solidFill>
                <a:latin typeface="Consolas"/>
                <a:ea typeface="Microsoft YaHei"/>
              </a:rPr>
              <a:t>    同框架 · 同机型 · 同一批 CI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6400800" y="5193792"/>
            <a:ext cx="2377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60" b="1">
                <a:solidFill>
                  <a:srgbClr val="E9EDF2"/>
                </a:solidFill>
                <a:latin typeface="Microsoft YaHei"/>
                <a:ea typeface="Microsoft YaHei"/>
              </a:rPr>
              <a:t>› Qwen3-0.6B / Qwen3-8B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8833104" y="5193792"/>
            <a:ext cx="17373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0">
                <a:solidFill>
                  <a:srgbClr val="6E95AB"/>
                </a:solidFill>
                <a:latin typeface="Consolas"/>
                <a:ea typeface="Microsoft YaHei"/>
              </a:rPr>
              <a:t>0 / 47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10588752" y="5193792"/>
            <a:ext cx="10972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60" b="1">
                <a:solidFill>
                  <a:srgbClr val="8FE0AE"/>
                </a:solidFill>
                <a:latin typeface="Consolas"/>
                <a:ea typeface="Microsoft YaHei"/>
              </a:rPr>
              <a:t>从不触发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6400800" y="5422392"/>
            <a:ext cx="2377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60" b="1">
                <a:solidFill>
                  <a:srgbClr val="E9EDF2"/>
                </a:solidFill>
                <a:latin typeface="Microsoft YaHei"/>
                <a:ea typeface="Microsoft YaHei"/>
              </a:rPr>
              <a:t>› Llama-3.1-8B / Mixtral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8833104" y="5422392"/>
            <a:ext cx="17373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0">
                <a:solidFill>
                  <a:srgbClr val="6E95AB"/>
                </a:solidFill>
                <a:latin typeface="Consolas"/>
                <a:ea typeface="Microsoft YaHei"/>
              </a:rPr>
              <a:t>0 / 11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10588752" y="5422392"/>
            <a:ext cx="10972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60" b="1">
                <a:solidFill>
                  <a:srgbClr val="8FE0AE"/>
                </a:solidFill>
                <a:latin typeface="Consolas"/>
                <a:ea typeface="Microsoft YaHei"/>
              </a:rPr>
              <a:t>从不触发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6400800" y="5650992"/>
            <a:ext cx="2377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60" b="1">
                <a:solidFill>
                  <a:srgbClr val="E9EDF2"/>
                </a:solidFill>
                <a:latin typeface="Microsoft YaHei"/>
                <a:ea typeface="Microsoft YaHei"/>
              </a:rPr>
              <a:t>› Qwen3.5-397B-A17B-MXFP4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8833104" y="5650992"/>
            <a:ext cx="17373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0">
                <a:solidFill>
                  <a:srgbClr val="6E95AB"/>
                </a:solidFill>
                <a:latin typeface="Consolas"/>
                <a:ea typeface="Microsoft YaHei"/>
              </a:rPr>
              <a:t>0 / 5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10588752" y="5650992"/>
            <a:ext cx="10972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60" b="1">
                <a:solidFill>
                  <a:srgbClr val="8FE0AE"/>
                </a:solidFill>
                <a:latin typeface="Consolas"/>
                <a:ea typeface="Microsoft YaHei"/>
              </a:rPr>
              <a:t>同为 MXFP4</a:t>
            </a:r>
          </a:p>
        </p:txBody>
      </p:sp>
      <p:sp>
        <p:nvSpPr>
          <p:cNvPr id="122" name="Rounded Rectangle 121"/>
          <p:cNvSpPr/>
          <p:nvPr/>
        </p:nvSpPr>
        <p:spPr>
          <a:xfrm>
            <a:off x="457200" y="6053328"/>
            <a:ext cx="11274552" cy="420624"/>
          </a:xfrm>
          <a:prstGeom prst="roundRect">
            <a:avLst>
              <a:gd name="adj" fmla="val 13043"/>
            </a:avLst>
          </a:prstGeom>
          <a:solidFill>
            <a:srgbClr val="0E141E"/>
          </a:solidFill>
          <a:ln w="9525">
            <a:solidFill>
              <a:srgbClr val="D8A6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TextBox 122"/>
          <p:cNvSpPr txBox="1"/>
          <p:nvPr/>
        </p:nvSpPr>
        <p:spPr>
          <a:xfrm>
            <a:off x="640080" y="6153912"/>
            <a:ext cx="109728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>
                <a:solidFill>
                  <a:srgbClr val="D8A66A"/>
                </a:solidFill>
                <a:latin typeface="Consolas"/>
                <a:ea typeface="Microsoft YaHei"/>
              </a:rPr>
              <a:t>结论    </a:t>
            </a:r>
            <a:r>
              <a:rPr sz="960" b="1">
                <a:solidFill>
                  <a:srgbClr val="8FE0AE"/>
                </a:solidFill>
                <a:latin typeface="Microsoft YaHei"/>
                <a:ea typeface="Microsoft YaHei"/>
              </a:rPr>
              <a:t>同一框架、同一机型上,一批模型 100% 起不来、另一批一次都不失败 —— </a:t>
            </a:r>
            <a:r>
              <a:rPr sz="960" b="0">
                <a:solidFill>
                  <a:srgbClr val="C7D0DC"/>
                </a:solidFill>
                <a:latin typeface="Microsoft YaHei"/>
                <a:ea typeface="Microsoft YaHei"/>
              </a:rPr>
              <a:t>这指向镜像与默认配置,而不是运行时抖动。也就意味着它可以在源头一次性修掉。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457200" y="6620256"/>
            <a:ext cx="1127455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50" b="0">
                <a:solidFill>
                  <a:srgbClr val="3B4760"/>
                </a:solidFill>
                <a:latin typeface="Consolas"/>
                <a:ea typeface="Microsoft YaHei"/>
              </a:rPr>
              <a:t>口径:某模型的「触发」= 该会话命中 10 个 enablement 信号中的任意一个;总会话数取 sessions.csv 中该模型的全部归档会话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b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128016"/>
            <a:ext cx="10241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E9EDF2"/>
                </a:solidFill>
                <a:latin typeface="Microsoft YaHei"/>
                <a:ea typeface="Microsoft YaHei"/>
              </a:rPr>
              <a:t>Enablement · 同一个启动失败在被反复付费诊断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475488"/>
            <a:ext cx="11274552" cy="18288"/>
          </a:xfrm>
          <a:prstGeom prst="rect">
            <a:avLst/>
          </a:prstGeom>
          <a:solidFill>
            <a:srgbClr val="2A33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502920"/>
            <a:ext cx="10058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D8A66A"/>
                </a:solidFill>
                <a:latin typeface="Consolas"/>
                <a:ea typeface="Microsoft YaHei"/>
              </a:rPr>
              <a:t>9 组同模型同签名</a:t>
            </a:r>
            <a:r>
              <a:rPr sz="900" b="1">
                <a:solidFill>
                  <a:srgbClr val="7A8497"/>
                </a:solidFill>
                <a:latin typeface="Consolas"/>
                <a:ea typeface="Microsoft YaHei"/>
              </a:rPr>
              <a:t>  ·  </a:t>
            </a:r>
            <a:r>
              <a:rPr sz="900" b="1">
                <a:solidFill>
                  <a:srgbClr val="E9EDF2"/>
                </a:solidFill>
                <a:latin typeface="Consolas"/>
                <a:ea typeface="Microsoft YaHei"/>
              </a:rPr>
              <a:t>28 个会话 · 账本 $3,609</a:t>
            </a:r>
            <a:r>
              <a:rPr sz="900" b="1">
                <a:solidFill>
                  <a:srgbClr val="7A8497"/>
                </a:solidFill>
                <a:latin typeface="Consolas"/>
                <a:ea typeface="Microsoft YaHei"/>
              </a:rPr>
              <a:t>  ·  </a:t>
            </a:r>
            <a:r>
              <a:rPr sz="900" b="1">
                <a:solidFill>
                  <a:srgbClr val="D8A66A"/>
                </a:solidFill>
                <a:latin typeface="Consolas"/>
                <a:ea typeface="Microsoft YaHei"/>
              </a:rPr>
              <a:t>其中重复诊断本身 $1,560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2560" y="91440"/>
            <a:ext cx="267919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0">
                <a:solidFill>
                  <a:srgbClr val="7A8497"/>
                </a:solidFill>
                <a:latin typeface="Consolas"/>
                <a:ea typeface="Microsoft YaHei"/>
              </a:rPr>
              <a:t>日期覆盖 2026-08-11 / 08-12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786384"/>
            <a:ext cx="6903720" cy="3017520"/>
          </a:xfrm>
          <a:prstGeom prst="roundRect">
            <a:avLst>
              <a:gd name="adj" fmla="val 1818"/>
            </a:avLst>
          </a:prstGeom>
          <a:solidFill>
            <a:srgbClr val="0E141E"/>
          </a:solidFill>
          <a:ln w="9525">
            <a:solidFill>
              <a:srgbClr val="1E28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886968"/>
            <a:ext cx="60350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80" b="1">
                <a:solidFill>
                  <a:srgbClr val="D8A66A"/>
                </a:solidFill>
                <a:latin typeface="Consolas"/>
                <a:ea typeface="Microsoft YaHei"/>
              </a:rPr>
              <a:t>重复组规模 · 同模型 + 同失败签名</a:t>
            </a:r>
            <a:r>
              <a:rPr sz="680" b="0">
                <a:solidFill>
                  <a:srgbClr val="7A8497"/>
                </a:solidFill>
                <a:latin typeface="Consolas"/>
                <a:ea typeface="Microsoft YaHei"/>
              </a:rPr>
              <a:t>    深色段 = 其中最终零变体的会话</a:t>
            </a:r>
          </a:p>
        </p:txBody>
      </p:sp>
      <p:sp>
        <p:nvSpPr>
          <p:cNvPr id="10" name="Rectangle 9"/>
          <p:cNvSpPr/>
          <p:nvPr/>
        </p:nvSpPr>
        <p:spPr>
          <a:xfrm>
            <a:off x="960120" y="3255264"/>
            <a:ext cx="6172200" cy="7315"/>
          </a:xfrm>
          <a:prstGeom prst="rect">
            <a:avLst/>
          </a:prstGeom>
          <a:solidFill>
            <a:srgbClr val="2A33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" y="3200400"/>
            <a:ext cx="256032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630" b="0">
                <a:solidFill>
                  <a:srgbClr val="3B4760"/>
                </a:solidFill>
                <a:latin typeface="Consolas"/>
                <a:ea typeface="Microsoft YaHei"/>
              </a:rPr>
              <a:t>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60120" y="2761488"/>
            <a:ext cx="6172200" cy="7315"/>
          </a:xfrm>
          <a:prstGeom prst="rect">
            <a:avLst/>
          </a:prstGeom>
          <a:solidFill>
            <a:srgbClr val="2A33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9224" y="2706624"/>
            <a:ext cx="256032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630" b="0">
                <a:solidFill>
                  <a:srgbClr val="3B4760"/>
                </a:solidFill>
                <a:latin typeface="Consolas"/>
                <a:ea typeface="Microsoft YaHei"/>
              </a:rPr>
              <a:t>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" y="2267712"/>
            <a:ext cx="6172200" cy="7315"/>
          </a:xfrm>
          <a:prstGeom prst="rect">
            <a:avLst/>
          </a:prstGeom>
          <a:solidFill>
            <a:srgbClr val="2A33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9224" y="2212848"/>
            <a:ext cx="256032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630" b="0">
                <a:solidFill>
                  <a:srgbClr val="3B4760"/>
                </a:solidFill>
                <a:latin typeface="Consolas"/>
                <a:ea typeface="Microsoft YaHei"/>
              </a:rPr>
              <a:t>4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60120" y="1773936"/>
            <a:ext cx="6172200" cy="7315"/>
          </a:xfrm>
          <a:prstGeom prst="rect">
            <a:avLst/>
          </a:prstGeom>
          <a:solidFill>
            <a:srgbClr val="2A33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9224" y="1719072"/>
            <a:ext cx="256032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630" b="0">
                <a:solidFill>
                  <a:srgbClr val="3B4760"/>
                </a:solidFill>
                <a:latin typeface="Consolas"/>
                <a:ea typeface="Microsoft YaHei"/>
              </a:rPr>
              <a:t>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60120" y="1280160"/>
            <a:ext cx="6172200" cy="7315"/>
          </a:xfrm>
          <a:prstGeom prst="rect">
            <a:avLst/>
          </a:prstGeom>
          <a:solidFill>
            <a:srgbClr val="2A33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9224" y="1225295"/>
            <a:ext cx="256032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630" b="0">
                <a:solidFill>
                  <a:srgbClr val="3B4760"/>
                </a:solidFill>
                <a:latin typeface="Consolas"/>
                <a:ea typeface="Microsoft YaHei"/>
              </a:rPr>
              <a:t>8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60120" y="1527048"/>
            <a:ext cx="572008" cy="1728216"/>
          </a:xfrm>
          <a:prstGeom prst="roundRect">
            <a:avLst>
              <a:gd name="adj" fmla="val 6394"/>
            </a:avLst>
          </a:prstGeom>
          <a:solidFill>
            <a:srgbClr val="6E4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960120" y="1527048"/>
            <a:ext cx="572008" cy="1728216"/>
          </a:xfrm>
          <a:prstGeom prst="roundRect">
            <a:avLst>
              <a:gd name="adj" fmla="val 6394"/>
            </a:avLst>
          </a:prstGeom>
          <a:solidFill>
            <a:srgbClr val="D8A6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68680" y="1325880"/>
            <a:ext cx="75488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E9EDF2"/>
                </a:solidFill>
                <a:latin typeface="Consolas"/>
                <a:ea typeface="Microsoft YaHei"/>
              </a:rPr>
              <a:t>×7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8952" y="3310128"/>
            <a:ext cx="974344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630" b="1">
                <a:solidFill>
                  <a:srgbClr val="D8A66A"/>
                </a:solidFill>
                <a:latin typeface="Consolas"/>
                <a:ea typeface="Microsoft YaHei"/>
              </a:rPr>
              <a:t>DeepSeek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58952" y="3438144"/>
            <a:ext cx="974344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630" b="1">
                <a:solidFill>
                  <a:srgbClr val="D8A66A"/>
                </a:solidFill>
                <a:latin typeface="Consolas"/>
                <a:ea typeface="Microsoft YaHei"/>
              </a:rPr>
              <a:t>V4-Pro-MXFP4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660144" y="2267712"/>
            <a:ext cx="572008" cy="987552"/>
          </a:xfrm>
          <a:prstGeom prst="roundRect">
            <a:avLst>
              <a:gd name="adj" fmla="val 6394"/>
            </a:avLst>
          </a:prstGeom>
          <a:solidFill>
            <a:srgbClr val="6E4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1660144" y="2267712"/>
            <a:ext cx="572008" cy="987552"/>
          </a:xfrm>
          <a:prstGeom prst="roundRect">
            <a:avLst>
              <a:gd name="adj" fmla="val 6394"/>
            </a:avLst>
          </a:prstGeom>
          <a:solidFill>
            <a:srgbClr val="D8A6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568704" y="2066543"/>
            <a:ext cx="75488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760" b="1">
                <a:solidFill>
                  <a:srgbClr val="E9EDF2"/>
                </a:solidFill>
                <a:latin typeface="Consolas"/>
                <a:ea typeface="Microsoft YaHei"/>
              </a:rPr>
              <a:t>×4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458976" y="3310128"/>
            <a:ext cx="974344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630" b="0">
                <a:solidFill>
                  <a:srgbClr val="7A8497"/>
                </a:solidFill>
                <a:latin typeface="Consolas"/>
                <a:ea typeface="Microsoft YaHei"/>
              </a:rPr>
              <a:t>GLM-5.2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458976" y="3438144"/>
            <a:ext cx="974344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630" b="0">
                <a:solidFill>
                  <a:srgbClr val="7A8497"/>
                </a:solidFill>
                <a:latin typeface="Consolas"/>
                <a:ea typeface="Microsoft YaHei"/>
              </a:rPr>
              <a:t>MXFP4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2360168" y="2514600"/>
            <a:ext cx="572008" cy="740664"/>
          </a:xfrm>
          <a:prstGeom prst="roundRect">
            <a:avLst>
              <a:gd name="adj" fmla="val 6394"/>
            </a:avLst>
          </a:prstGeom>
          <a:solidFill>
            <a:srgbClr val="5E7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268728" y="2313432"/>
            <a:ext cx="75488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760" b="1">
                <a:solidFill>
                  <a:srgbClr val="E9EDF2"/>
                </a:solidFill>
                <a:latin typeface="Consolas"/>
                <a:ea typeface="Microsoft YaHei"/>
              </a:rPr>
              <a:t>×3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159000" y="3310128"/>
            <a:ext cx="974344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630" b="0">
                <a:solidFill>
                  <a:srgbClr val="7A8497"/>
                </a:solidFill>
                <a:latin typeface="Consolas"/>
                <a:ea typeface="Microsoft YaHei"/>
              </a:rPr>
              <a:t>SD-3.5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159000" y="3438144"/>
            <a:ext cx="974344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630" b="0">
                <a:solidFill>
                  <a:srgbClr val="7A8497"/>
                </a:solidFill>
                <a:latin typeface="Consolas"/>
                <a:ea typeface="Microsoft YaHei"/>
              </a:rPr>
              <a:t>large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060192" y="2514600"/>
            <a:ext cx="572008" cy="740664"/>
          </a:xfrm>
          <a:prstGeom prst="roundRect">
            <a:avLst>
              <a:gd name="adj" fmla="val 6394"/>
            </a:avLst>
          </a:prstGeom>
          <a:solidFill>
            <a:srgbClr val="5E7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968752" y="2313432"/>
            <a:ext cx="75488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760" b="1">
                <a:solidFill>
                  <a:srgbClr val="E9EDF2"/>
                </a:solidFill>
                <a:latin typeface="Consolas"/>
                <a:ea typeface="Microsoft YaHei"/>
              </a:rPr>
              <a:t>×3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859024" y="3310128"/>
            <a:ext cx="974344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630" b="0">
                <a:solidFill>
                  <a:srgbClr val="7A8497"/>
                </a:solidFill>
                <a:latin typeface="Consolas"/>
                <a:ea typeface="Microsoft YaHei"/>
              </a:rPr>
              <a:t>FLUX.1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859024" y="3438144"/>
            <a:ext cx="974344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630" b="0">
                <a:solidFill>
                  <a:srgbClr val="7A8497"/>
                </a:solidFill>
                <a:latin typeface="Consolas"/>
                <a:ea typeface="Microsoft YaHei"/>
              </a:rPr>
              <a:t>dev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3760216" y="2514600"/>
            <a:ext cx="572008" cy="740664"/>
          </a:xfrm>
          <a:prstGeom prst="roundRect">
            <a:avLst>
              <a:gd name="adj" fmla="val 6394"/>
            </a:avLst>
          </a:prstGeom>
          <a:solidFill>
            <a:srgbClr val="5E7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3760216" y="3008376"/>
            <a:ext cx="572008" cy="246888"/>
          </a:xfrm>
          <a:prstGeom prst="roundRect">
            <a:avLst>
              <a:gd name="adj" fmla="val 14814"/>
            </a:avLst>
          </a:prstGeom>
          <a:solidFill>
            <a:srgbClr val="D8A6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668776" y="2313432"/>
            <a:ext cx="75488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760" b="1">
                <a:solidFill>
                  <a:srgbClr val="E9EDF2"/>
                </a:solidFill>
                <a:latin typeface="Consolas"/>
                <a:ea typeface="Microsoft YaHei"/>
              </a:rPr>
              <a:t>×3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559047" y="3310128"/>
            <a:ext cx="974344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630" b="0">
                <a:solidFill>
                  <a:srgbClr val="7A8497"/>
                </a:solidFill>
                <a:latin typeface="Consolas"/>
                <a:ea typeface="Microsoft YaHei"/>
              </a:rPr>
              <a:t>gemma-4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559047" y="3438144"/>
            <a:ext cx="974344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630" b="0">
                <a:solidFill>
                  <a:srgbClr val="7A8497"/>
                </a:solidFill>
                <a:latin typeface="Consolas"/>
                <a:ea typeface="Microsoft YaHei"/>
              </a:rPr>
              <a:t>26B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4460240" y="2761488"/>
            <a:ext cx="572008" cy="493776"/>
          </a:xfrm>
          <a:prstGeom prst="roundRect">
            <a:avLst>
              <a:gd name="adj" fmla="val 7407"/>
            </a:avLst>
          </a:prstGeom>
          <a:solidFill>
            <a:srgbClr val="5E7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4460240" y="3008376"/>
            <a:ext cx="572008" cy="246888"/>
          </a:xfrm>
          <a:prstGeom prst="roundRect">
            <a:avLst>
              <a:gd name="adj" fmla="val 14814"/>
            </a:avLst>
          </a:prstGeom>
          <a:solidFill>
            <a:srgbClr val="D8A6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368800" y="2560320"/>
            <a:ext cx="75488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760" b="1">
                <a:solidFill>
                  <a:srgbClr val="E9EDF2"/>
                </a:solidFill>
                <a:latin typeface="Consolas"/>
                <a:ea typeface="Microsoft YaHei"/>
              </a:rPr>
              <a:t>×2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259072" y="3310128"/>
            <a:ext cx="974344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630" b="0">
                <a:solidFill>
                  <a:srgbClr val="7A8497"/>
                </a:solidFill>
                <a:latin typeface="Consolas"/>
                <a:ea typeface="Microsoft YaHei"/>
              </a:rPr>
              <a:t>HiDream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259072" y="3438144"/>
            <a:ext cx="974344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630" b="0">
                <a:solidFill>
                  <a:srgbClr val="7A8497"/>
                </a:solidFill>
                <a:latin typeface="Consolas"/>
                <a:ea typeface="Microsoft YaHei"/>
              </a:rPr>
              <a:t>I1-Fast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5160264" y="2761488"/>
            <a:ext cx="572008" cy="493776"/>
          </a:xfrm>
          <a:prstGeom prst="roundRect">
            <a:avLst>
              <a:gd name="adj" fmla="val 7407"/>
            </a:avLst>
          </a:prstGeom>
          <a:solidFill>
            <a:srgbClr val="5E7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ounded Rectangle 48"/>
          <p:cNvSpPr/>
          <p:nvPr/>
        </p:nvSpPr>
        <p:spPr>
          <a:xfrm>
            <a:off x="5160264" y="3008376"/>
            <a:ext cx="572008" cy="246888"/>
          </a:xfrm>
          <a:prstGeom prst="roundRect">
            <a:avLst>
              <a:gd name="adj" fmla="val 14814"/>
            </a:avLst>
          </a:prstGeom>
          <a:solidFill>
            <a:srgbClr val="D8A6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068824" y="2560320"/>
            <a:ext cx="75488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760" b="1">
                <a:solidFill>
                  <a:srgbClr val="E9EDF2"/>
                </a:solidFill>
                <a:latin typeface="Consolas"/>
                <a:ea typeface="Microsoft YaHei"/>
              </a:rPr>
              <a:t>×2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959096" y="3310128"/>
            <a:ext cx="974344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630" b="0">
                <a:solidFill>
                  <a:srgbClr val="7A8497"/>
                </a:solidFill>
                <a:latin typeface="Consolas"/>
                <a:ea typeface="Microsoft YaHei"/>
              </a:rPr>
              <a:t>FLUX.1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959096" y="3438144"/>
            <a:ext cx="974344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630" b="0">
                <a:solidFill>
                  <a:srgbClr val="7A8497"/>
                </a:solidFill>
                <a:latin typeface="Consolas"/>
                <a:ea typeface="Microsoft YaHei"/>
              </a:rPr>
              <a:t>schnell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5860288" y="2761488"/>
            <a:ext cx="572008" cy="493776"/>
          </a:xfrm>
          <a:prstGeom prst="roundRect">
            <a:avLst>
              <a:gd name="adj" fmla="val 7407"/>
            </a:avLst>
          </a:prstGeom>
          <a:solidFill>
            <a:srgbClr val="5E7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ounded Rectangle 53"/>
          <p:cNvSpPr/>
          <p:nvPr/>
        </p:nvSpPr>
        <p:spPr>
          <a:xfrm>
            <a:off x="5860288" y="3008376"/>
            <a:ext cx="572008" cy="246888"/>
          </a:xfrm>
          <a:prstGeom prst="roundRect">
            <a:avLst>
              <a:gd name="adj" fmla="val 14814"/>
            </a:avLst>
          </a:prstGeom>
          <a:solidFill>
            <a:srgbClr val="D8A6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5768848" y="2560320"/>
            <a:ext cx="75488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760" b="1">
                <a:solidFill>
                  <a:srgbClr val="E9EDF2"/>
                </a:solidFill>
                <a:latin typeface="Consolas"/>
                <a:ea typeface="Microsoft YaHei"/>
              </a:rPr>
              <a:t>×2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659120" y="3310128"/>
            <a:ext cx="974344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630" b="0">
                <a:solidFill>
                  <a:srgbClr val="7A8497"/>
                </a:solidFill>
                <a:latin typeface="Consolas"/>
                <a:ea typeface="Microsoft YaHei"/>
              </a:rPr>
              <a:t>MiniMax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659120" y="3438144"/>
            <a:ext cx="974344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630" b="0">
                <a:solidFill>
                  <a:srgbClr val="7A8497"/>
                </a:solidFill>
                <a:latin typeface="Consolas"/>
                <a:ea typeface="Microsoft YaHei"/>
              </a:rPr>
              <a:t>M3 (A)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6560312" y="2761488"/>
            <a:ext cx="572008" cy="493776"/>
          </a:xfrm>
          <a:prstGeom prst="roundRect">
            <a:avLst>
              <a:gd name="adj" fmla="val 7407"/>
            </a:avLst>
          </a:prstGeom>
          <a:solidFill>
            <a:srgbClr val="5E7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ounded Rectangle 58"/>
          <p:cNvSpPr/>
          <p:nvPr/>
        </p:nvSpPr>
        <p:spPr>
          <a:xfrm>
            <a:off x="6560312" y="3008376"/>
            <a:ext cx="572008" cy="246888"/>
          </a:xfrm>
          <a:prstGeom prst="roundRect">
            <a:avLst>
              <a:gd name="adj" fmla="val 14814"/>
            </a:avLst>
          </a:prstGeom>
          <a:solidFill>
            <a:srgbClr val="D8A6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6468872" y="2560320"/>
            <a:ext cx="75488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760" b="1">
                <a:solidFill>
                  <a:srgbClr val="E9EDF2"/>
                </a:solidFill>
                <a:latin typeface="Consolas"/>
                <a:ea typeface="Microsoft YaHei"/>
              </a:rPr>
              <a:t>×2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359144" y="3310128"/>
            <a:ext cx="974344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630" b="0">
                <a:solidFill>
                  <a:srgbClr val="7A8497"/>
                </a:solidFill>
                <a:latin typeface="Consolas"/>
                <a:ea typeface="Microsoft YaHei"/>
              </a:rPr>
              <a:t>MiniMax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359144" y="3438144"/>
            <a:ext cx="974344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630" b="0">
                <a:solidFill>
                  <a:srgbClr val="7A8497"/>
                </a:solidFill>
                <a:latin typeface="Consolas"/>
                <a:ea typeface="Microsoft YaHei"/>
              </a:rPr>
              <a:t>M3 (B)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7571231" y="786384"/>
            <a:ext cx="4160520" cy="3017520"/>
          </a:xfrm>
          <a:prstGeom prst="roundRect">
            <a:avLst>
              <a:gd name="adj" fmla="val 1818"/>
            </a:avLst>
          </a:prstGeom>
          <a:solidFill>
            <a:srgbClr val="0E141E"/>
          </a:solidFill>
          <a:ln w="9525">
            <a:solidFill>
              <a:srgbClr val="1E28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7754111" y="905256"/>
            <a:ext cx="3794759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80" b="1">
                <a:solidFill>
                  <a:srgbClr val="D8A66A"/>
                </a:solidFill>
                <a:latin typeface="Consolas"/>
                <a:ea typeface="Microsoft YaHei"/>
              </a:rPr>
              <a:t>DeepSeek-V4-Pro-MXFP4 · 7 次逐字相同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7754111" y="1133856"/>
            <a:ext cx="3794759" cy="566928"/>
          </a:xfrm>
          <a:prstGeom prst="roundRect">
            <a:avLst>
              <a:gd name="adj" fmla="val 9677"/>
            </a:avLst>
          </a:prstGeom>
          <a:solidFill>
            <a:srgbClr val="0A0F18"/>
          </a:solidFill>
          <a:ln w="9525">
            <a:solidFill>
              <a:srgbClr val="2A33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7845551" y="1179576"/>
            <a:ext cx="3611879" cy="493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640" b="0">
                <a:solidFill>
                  <a:srgbClr val="D8A66A"/>
                </a:solidFill>
                <a:latin typeface="Consolas"/>
                <a:ea typeface="Microsoft YaHei"/>
              </a:rPr>
              <a:t>ERROR [core.py:#] EngineCore failed to start.</a:t>
            </a:r>
          </a:p>
          <a:p>
            <a:pPr algn="l">
              <a:lnSpc>
                <a:spcPct val="105000"/>
              </a:lnSpc>
            </a:pPr>
            <a:r>
              <a:rPr sz="640" b="0">
                <a:solidFill>
                  <a:srgbClr val="D8A66A"/>
                </a:solidFill>
                <a:latin typeface="Consolas"/>
                <a:ea typeface="Microsoft YaHei"/>
              </a:rPr>
              <a:t>ERROR [core.py:#] Traceback (most recent call last):</a:t>
            </a:r>
          </a:p>
          <a:p>
            <a:pPr algn="l">
              <a:lnSpc>
                <a:spcPct val="105000"/>
              </a:lnSpc>
            </a:pPr>
            <a:r>
              <a:rPr sz="640" b="0">
                <a:solidFill>
                  <a:srgbClr val="D8A66A"/>
                </a:solidFill>
                <a:latin typeface="Consolas"/>
                <a:ea typeface="Microsoft YaHei"/>
              </a:rPr>
              <a:t>  File ".../vllm/v#/engine/core.py", ...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7754111" y="1810512"/>
            <a:ext cx="379475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0">
                <a:solidFill>
                  <a:srgbClr val="6E95AB"/>
                </a:solidFill>
                <a:latin typeface="Consolas"/>
                <a:ea typeface="Microsoft YaHei"/>
              </a:rPr>
              <a:t>99506  99522  99531  99537  99556  99601  99602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7754111" y="2048256"/>
            <a:ext cx="3794759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720" b="0">
                <a:solidFill>
                  <a:srgbClr val="C7D0DC"/>
                </a:solidFill>
                <a:latin typeface="Microsoft YaHei"/>
                <a:ea typeface="Microsoft YaHei"/>
              </a:rPr>
              <a:t>7 个会话彼此完全独立:各自派发 specialist、各自读同一份源码、各自打补丁、各自失败,最后全部以 enablement_stalled 或 signal 终止。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7754111" y="2999232"/>
            <a:ext cx="12801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60" b="0">
                <a:solidFill>
                  <a:srgbClr val="7A8497"/>
                </a:solidFill>
                <a:latin typeface="Microsoft YaHei"/>
                <a:ea typeface="Microsoft YaHei"/>
              </a:rPr>
              <a:t>同一天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7754111" y="3163824"/>
            <a:ext cx="12801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19" b="1">
                <a:solidFill>
                  <a:srgbClr val="6E95AB"/>
                </a:solidFill>
                <a:latin typeface="Consolas"/>
                <a:ea typeface="Microsoft YaHei"/>
              </a:rPr>
              <a:t>2026-08-11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9052559" y="2999232"/>
            <a:ext cx="12801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60" b="0">
                <a:solidFill>
                  <a:srgbClr val="7A8497"/>
                </a:solidFill>
                <a:latin typeface="Microsoft YaHei"/>
                <a:ea typeface="Microsoft YaHei"/>
              </a:rPr>
              <a:t>变体测试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9052559" y="3163824"/>
            <a:ext cx="12801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19" b="1">
                <a:solidFill>
                  <a:srgbClr val="D8A66A"/>
                </a:solidFill>
                <a:latin typeface="Consolas"/>
                <a:ea typeface="Microsoft YaHei"/>
              </a:rPr>
              <a:t>0 · 全部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10351007" y="2999232"/>
            <a:ext cx="12801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60" b="0">
                <a:solidFill>
                  <a:srgbClr val="7A8497"/>
                </a:solidFill>
                <a:latin typeface="Microsoft YaHei"/>
                <a:ea typeface="Microsoft YaHei"/>
              </a:rPr>
              <a:t>增益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10351007" y="3163824"/>
            <a:ext cx="12801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19" b="1">
                <a:solidFill>
                  <a:srgbClr val="D8A66A"/>
                </a:solidFill>
                <a:latin typeface="Consolas"/>
                <a:ea typeface="Microsoft YaHei"/>
              </a:rPr>
              <a:t>0 · 全部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457200" y="3950208"/>
            <a:ext cx="11274552" cy="768096"/>
          </a:xfrm>
          <a:prstGeom prst="roundRect">
            <a:avLst>
              <a:gd name="adj" fmla="val 7142"/>
            </a:avLst>
          </a:prstGeom>
          <a:solidFill>
            <a:srgbClr val="0E141E"/>
          </a:solidFill>
          <a:ln w="9525">
            <a:solidFill>
              <a:srgbClr val="1E28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640080" y="4041648"/>
            <a:ext cx="2743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80" b="1">
                <a:solidFill>
                  <a:srgbClr val="D8A66A"/>
                </a:solidFill>
                <a:latin typeface="Consolas"/>
                <a:ea typeface="Microsoft YaHei"/>
              </a:rPr>
              <a:t>重复的代价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3017520" y="4059936"/>
            <a:ext cx="1691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D8A66A"/>
                </a:solidFill>
                <a:latin typeface="Consolas"/>
                <a:ea typeface="Microsoft YaHei"/>
              </a:rPr>
              <a:t>28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3017520" y="4370832"/>
            <a:ext cx="16916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80" b="0">
                <a:solidFill>
                  <a:srgbClr val="7A8497"/>
                </a:solidFill>
                <a:latin typeface="Microsoft YaHei"/>
                <a:ea typeface="Microsoft YaHei"/>
              </a:rPr>
              <a:t>个会话落入 9 个重复组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4773168" y="4059936"/>
            <a:ext cx="1691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D8A66A"/>
                </a:solidFill>
                <a:latin typeface="Consolas"/>
                <a:ea typeface="Microsoft YaHei"/>
              </a:rPr>
              <a:t>$3,609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4773168" y="4370832"/>
            <a:ext cx="16916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80" b="0">
                <a:solidFill>
                  <a:srgbClr val="7A8497"/>
                </a:solidFill>
                <a:latin typeface="Microsoft YaHei"/>
                <a:ea typeface="Microsoft YaHei"/>
              </a:rPr>
              <a:t>这些会话的账本总花费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6528816" y="4059936"/>
            <a:ext cx="1691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D8A66A"/>
                </a:solidFill>
                <a:latin typeface="Consolas"/>
                <a:ea typeface="Microsoft YaHei"/>
              </a:rPr>
              <a:t>$1,560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6528816" y="4370832"/>
            <a:ext cx="16916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80" b="0">
                <a:solidFill>
                  <a:srgbClr val="7A8497"/>
                </a:solidFill>
                <a:latin typeface="Microsoft YaHei"/>
                <a:ea typeface="Microsoft YaHei"/>
              </a:rPr>
              <a:t>其中 enablement 自身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8284463" y="4059936"/>
            <a:ext cx="1691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D8A66A"/>
                </a:solidFill>
                <a:latin typeface="Consolas"/>
                <a:ea typeface="Microsoft YaHei"/>
              </a:rPr>
              <a:t>121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8284463" y="4370832"/>
            <a:ext cx="16916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80" b="0">
                <a:solidFill>
                  <a:srgbClr val="7A8497"/>
                </a:solidFill>
                <a:latin typeface="Microsoft YaHei"/>
                <a:ea typeface="Microsoft YaHei"/>
              </a:rPr>
              <a:t>次重复诊断运行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10040112" y="4059936"/>
            <a:ext cx="1691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D8A66A"/>
                </a:solidFill>
                <a:latin typeface="Consolas"/>
                <a:ea typeface="Microsoft YaHei"/>
              </a:rPr>
              <a:t>16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10040112" y="4370832"/>
            <a:ext cx="16916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80" b="0">
                <a:solidFill>
                  <a:srgbClr val="7A8497"/>
                </a:solidFill>
                <a:latin typeface="Microsoft YaHei"/>
                <a:ea typeface="Microsoft YaHei"/>
              </a:rPr>
              <a:t>个最终零变体</a:t>
            </a:r>
          </a:p>
        </p:txBody>
      </p:sp>
      <p:sp>
        <p:nvSpPr>
          <p:cNvPr id="87" name="Rounded Rectangle 86"/>
          <p:cNvSpPr/>
          <p:nvPr/>
        </p:nvSpPr>
        <p:spPr>
          <a:xfrm>
            <a:off x="457200" y="4864608"/>
            <a:ext cx="5532120" cy="1060704"/>
          </a:xfrm>
          <a:prstGeom prst="roundRect">
            <a:avLst>
              <a:gd name="adj" fmla="val 5172"/>
            </a:avLst>
          </a:prstGeom>
          <a:solidFill>
            <a:srgbClr val="0E141E"/>
          </a:solidFill>
          <a:ln w="9525">
            <a:solidFill>
              <a:srgbClr val="1E28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640080" y="4956048"/>
            <a:ext cx="5166359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19" b="1">
                <a:solidFill>
                  <a:srgbClr val="E9EDF2"/>
                </a:solidFill>
                <a:latin typeface="Microsoft YaHei"/>
                <a:ea typeface="Microsoft YaHei"/>
              </a:rPr>
              <a:t>重复组明细</a:t>
            </a:r>
            <a:r>
              <a:rPr sz="680" b="0">
                <a:solidFill>
                  <a:srgbClr val="7A8497"/>
                </a:solidFill>
                <a:latin typeface="Consolas"/>
                <a:ea typeface="Microsoft YaHei"/>
              </a:rPr>
              <a:t>    同模型 + 同签名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658368" y="5193792"/>
            <a:ext cx="2377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60" b="1">
                <a:solidFill>
                  <a:srgbClr val="E9EDF2"/>
                </a:solidFill>
                <a:latin typeface="Microsoft YaHei"/>
                <a:ea typeface="Microsoft YaHei"/>
              </a:rPr>
              <a:t>› DeepSeek-V4-Pro-MXFP4 ×7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3090672" y="5193792"/>
            <a:ext cx="17373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0">
                <a:solidFill>
                  <a:srgbClr val="6E95AB"/>
                </a:solidFill>
                <a:latin typeface="Consolas"/>
                <a:ea typeface="Microsoft YaHei"/>
              </a:rPr>
              <a:t>$393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4846320" y="5193792"/>
            <a:ext cx="10972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60" b="1">
                <a:solidFill>
                  <a:srgbClr val="D8A66A"/>
                </a:solidFill>
                <a:latin typeface="Consolas"/>
                <a:ea typeface="Microsoft YaHei"/>
              </a:rPr>
              <a:t>7 个全零变体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658368" y="5422392"/>
            <a:ext cx="2377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60" b="1">
                <a:solidFill>
                  <a:srgbClr val="E9EDF2"/>
                </a:solidFill>
                <a:latin typeface="Microsoft YaHei"/>
                <a:ea typeface="Microsoft YaHei"/>
              </a:rPr>
              <a:t>› GLM-5.2-MXFP4 ×4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3090672" y="5422392"/>
            <a:ext cx="17373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0">
                <a:solidFill>
                  <a:srgbClr val="6E95AB"/>
                </a:solidFill>
                <a:latin typeface="Consolas"/>
                <a:ea typeface="Microsoft YaHei"/>
              </a:rPr>
              <a:t>$426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4846320" y="5422392"/>
            <a:ext cx="10972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60" b="1">
                <a:solidFill>
                  <a:srgbClr val="D8A66A"/>
                </a:solidFill>
                <a:latin typeface="Consolas"/>
                <a:ea typeface="Microsoft YaHei"/>
              </a:rPr>
              <a:t>4 个全零变体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658368" y="5650992"/>
            <a:ext cx="2377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60" b="1">
                <a:solidFill>
                  <a:srgbClr val="E9EDF2"/>
                </a:solidFill>
                <a:latin typeface="Microsoft YaHei"/>
                <a:ea typeface="Microsoft YaHei"/>
              </a:rPr>
              <a:t>› SD-3.5-large ×3 · FLUX.1-dev ×3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3090672" y="5650992"/>
            <a:ext cx="17373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0">
                <a:solidFill>
                  <a:srgbClr val="6E95AB"/>
                </a:solidFill>
                <a:latin typeface="Consolas"/>
                <a:ea typeface="Microsoft YaHei"/>
              </a:rPr>
              <a:t>$529 / $721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4846320" y="5650992"/>
            <a:ext cx="10972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60" b="1">
                <a:solidFill>
                  <a:srgbClr val="6E95AB"/>
                </a:solidFill>
                <a:latin typeface="Consolas"/>
                <a:ea typeface="Microsoft YaHei"/>
              </a:rPr>
              <a:t>另 4 组各 ×2</a:t>
            </a:r>
          </a:p>
        </p:txBody>
      </p:sp>
      <p:sp>
        <p:nvSpPr>
          <p:cNvPr id="98" name="Rounded Rectangle 97"/>
          <p:cNvSpPr/>
          <p:nvPr/>
        </p:nvSpPr>
        <p:spPr>
          <a:xfrm>
            <a:off x="6199632" y="4864608"/>
            <a:ext cx="5532120" cy="1060704"/>
          </a:xfrm>
          <a:prstGeom prst="roundRect">
            <a:avLst>
              <a:gd name="adj" fmla="val 5172"/>
            </a:avLst>
          </a:prstGeom>
          <a:solidFill>
            <a:srgbClr val="0E141E"/>
          </a:solidFill>
          <a:ln w="9525">
            <a:solidFill>
              <a:srgbClr val="1E28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6382512" y="4956048"/>
            <a:ext cx="5166359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19" b="1">
                <a:solidFill>
                  <a:srgbClr val="E9EDF2"/>
                </a:solidFill>
                <a:latin typeface="Microsoft YaHei"/>
                <a:ea typeface="Microsoft YaHei"/>
              </a:rPr>
              <a:t>为什么没有被复用</a:t>
            </a:r>
            <a:r>
              <a:rPr sz="680" b="0">
                <a:solidFill>
                  <a:srgbClr val="7A8497"/>
                </a:solidFill>
                <a:latin typeface="Consolas"/>
                <a:ea typeface="Microsoft YaHei"/>
              </a:rPr>
              <a:t>    三处缺失的机制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6400800" y="5193792"/>
            <a:ext cx="2377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60" b="1">
                <a:solidFill>
                  <a:srgbClr val="E9EDF2"/>
                </a:solidFill>
                <a:latin typeface="Microsoft YaHei"/>
                <a:ea typeface="Microsoft YaHei"/>
              </a:rPr>
              <a:t>› 跨会话记忆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8833104" y="5193792"/>
            <a:ext cx="17373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0">
                <a:solidFill>
                  <a:srgbClr val="6E95AB"/>
                </a:solidFill>
                <a:latin typeface="Consolas"/>
                <a:ea typeface="Microsoft YaHei"/>
              </a:rPr>
              <a:t>仅 warm_start_pitfalls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10588752" y="5193792"/>
            <a:ext cx="10972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60" b="1">
                <a:solidFill>
                  <a:srgbClr val="D8A66A"/>
                </a:solidFill>
                <a:latin typeface="Consolas"/>
                <a:ea typeface="Microsoft YaHei"/>
              </a:rPr>
              <a:t>修复不回流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6400800" y="5422392"/>
            <a:ext cx="2377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60" b="1">
                <a:solidFill>
                  <a:srgbClr val="E9EDF2"/>
                </a:solidFill>
                <a:latin typeface="Microsoft YaHei"/>
                <a:ea typeface="Microsoft YaHei"/>
              </a:rPr>
              <a:t>› 本会话历史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8833104" y="5422392"/>
            <a:ext cx="17373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0">
                <a:solidFill>
                  <a:srgbClr val="6E95AB"/>
                </a:solidFill>
                <a:latin typeface="Consolas"/>
                <a:ea typeface="Microsoft YaHei"/>
              </a:rPr>
              <a:t>tested/rejected 不注入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10588752" y="5422392"/>
            <a:ext cx="10972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60" b="1">
                <a:solidFill>
                  <a:srgbClr val="D8A66A"/>
                </a:solidFill>
                <a:latin typeface="Consolas"/>
                <a:ea typeface="Microsoft YaHei"/>
              </a:rPr>
              <a:t>会重提已否项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6400800" y="5650992"/>
            <a:ext cx="2377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60" b="1">
                <a:solidFill>
                  <a:srgbClr val="E9EDF2"/>
                </a:solidFill>
                <a:latin typeface="Microsoft YaHei"/>
                <a:ea typeface="Microsoft YaHei"/>
              </a:rPr>
              <a:t>› 失败签名台账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8833104" y="5650992"/>
            <a:ext cx="17373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0">
                <a:solidFill>
                  <a:srgbClr val="6E95AB"/>
                </a:solidFill>
                <a:latin typeface="Consolas"/>
                <a:ea typeface="Microsoft YaHei"/>
              </a:rPr>
              <a:t>不存在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10588752" y="5650992"/>
            <a:ext cx="10972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60" b="1">
                <a:solidFill>
                  <a:srgbClr val="D8A66A"/>
                </a:solidFill>
                <a:latin typeface="Consolas"/>
                <a:ea typeface="Microsoft YaHei"/>
              </a:rPr>
              <a:t>无法命中已知修复</a:t>
            </a:r>
          </a:p>
        </p:txBody>
      </p:sp>
      <p:sp>
        <p:nvSpPr>
          <p:cNvPr id="109" name="Rounded Rectangle 108"/>
          <p:cNvSpPr/>
          <p:nvPr/>
        </p:nvSpPr>
        <p:spPr>
          <a:xfrm>
            <a:off x="457200" y="6053328"/>
            <a:ext cx="11274552" cy="420624"/>
          </a:xfrm>
          <a:prstGeom prst="roundRect">
            <a:avLst>
              <a:gd name="adj" fmla="val 13043"/>
            </a:avLst>
          </a:prstGeom>
          <a:solidFill>
            <a:srgbClr val="0E141E"/>
          </a:solidFill>
          <a:ln w="9525">
            <a:solidFill>
              <a:srgbClr val="D8A6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640080" y="6153912"/>
            <a:ext cx="109728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>
                <a:solidFill>
                  <a:srgbClr val="D8A66A"/>
                </a:solidFill>
                <a:latin typeface="Consolas"/>
                <a:ea typeface="Microsoft YaHei"/>
              </a:rPr>
              <a:t>结论    </a:t>
            </a:r>
            <a:r>
              <a:rPr sz="960" b="1">
                <a:solidFill>
                  <a:srgbClr val="8FE0AE"/>
                </a:solidFill>
                <a:latin typeface="Microsoft YaHei"/>
                <a:ea typeface="Microsoft YaHei"/>
              </a:rPr>
              <a:t>同一模型、同一签名、同一天内重演 7 次。</a:t>
            </a:r>
            <a:r>
              <a:rPr sz="960" b="0">
                <a:solidFill>
                  <a:srgbClr val="C7D0DC"/>
                </a:solidFill>
                <a:latin typeface="Microsoft YaHei"/>
                <a:ea typeface="Microsoft YaHei"/>
              </a:rPr>
              <a:t>这不是会话侧的问题 —— 只要上游镜像与默认配置不改,下一批 CI 会再付一次同样的钱。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457200" y="6620256"/>
            <a:ext cx="1127455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50" b="0">
                <a:solidFill>
                  <a:srgbClr val="3B4760"/>
                </a:solidFill>
                <a:latin typeface="Consolas"/>
                <a:ea typeface="Microsoft YaHei"/>
              </a:rPr>
              <a:t>诚实边界:数据集仅覆盖 08-11 / 08-12,跨天复现只在 GLM-5.2-MXFP4 与 MiniMax-M3-MXFP4 上直接观测到;DeepSeek 的 7 次同签名发生在同一天内。签名归一化为自定义启发式,9 组是下界。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b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128016"/>
            <a:ext cx="10241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E9EDF2"/>
                </a:solidFill>
                <a:latin typeface="Microsoft YaHei"/>
                <a:ea typeface="Microsoft YaHei"/>
              </a:rPr>
              <a:t>Enablement 是为「一次性」设计的 — 成功要沉淀,失败要换路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475488"/>
            <a:ext cx="11274552" cy="18288"/>
          </a:xfrm>
          <a:prstGeom prst="rect">
            <a:avLst/>
          </a:prstGeom>
          <a:solidFill>
            <a:srgbClr val="2A33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502920"/>
            <a:ext cx="10058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8FBFE0"/>
                </a:solidFill>
                <a:latin typeface="Consolas"/>
                <a:ea typeface="Microsoft YaHei"/>
              </a:rPr>
              <a:t>one-shot by design</a:t>
            </a:r>
            <a:r>
              <a:rPr sz="900" b="1">
                <a:solidFill>
                  <a:srgbClr val="7A8497"/>
                </a:solidFill>
                <a:latin typeface="Consolas"/>
                <a:ea typeface="Microsoft YaHei"/>
              </a:rPr>
              <a:t>  ·  </a:t>
            </a:r>
            <a:r>
              <a:rPr sz="900" b="1">
                <a:solidFill>
                  <a:srgbClr val="8FE0AE"/>
                </a:solidFill>
                <a:latin typeface="Consolas"/>
                <a:ea typeface="Microsoft YaHei"/>
              </a:rPr>
              <a:t>成功 → 记录启动脚本 → --reference-script</a:t>
            </a:r>
            <a:r>
              <a:rPr sz="900" b="1">
                <a:solidFill>
                  <a:srgbClr val="7A8497"/>
                </a:solidFill>
                <a:latin typeface="Consolas"/>
                <a:ea typeface="Microsoft YaHei"/>
              </a:rPr>
              <a:t>  ·  </a:t>
            </a:r>
            <a:r>
              <a:rPr sz="900" b="1">
                <a:solidFill>
                  <a:srgbClr val="D8A66A"/>
                </a:solidFill>
                <a:latin typeface="Consolas"/>
                <a:ea typeface="Microsoft YaHei"/>
              </a:rPr>
              <a:t>持续失败 → 换官方脚本 / 换镜像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2560" y="91440"/>
            <a:ext cx="267919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0">
                <a:solidFill>
                  <a:srgbClr val="7A8497"/>
                </a:solidFill>
                <a:latin typeface="Consolas"/>
                <a:ea typeface="Microsoft YaHei"/>
              </a:rPr>
              <a:t>35/36 会话未用 --reference-script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786384"/>
            <a:ext cx="2708910" cy="1975104"/>
          </a:xfrm>
          <a:prstGeom prst="roundRect">
            <a:avLst>
              <a:gd name="adj" fmla="val 2777"/>
            </a:avLst>
          </a:prstGeom>
          <a:solidFill>
            <a:srgbClr val="0E141E"/>
          </a:solidFill>
          <a:ln w="9525">
            <a:solidFill>
              <a:srgbClr val="1E28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786384"/>
            <a:ext cx="2708910" cy="45720"/>
          </a:xfrm>
          <a:prstGeom prst="rect">
            <a:avLst/>
          </a:prstGeom>
          <a:solidFill>
            <a:srgbClr val="8FE0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21792" y="969264"/>
            <a:ext cx="310896" cy="237744"/>
          </a:xfrm>
          <a:prstGeom prst="roundRect">
            <a:avLst>
              <a:gd name="adj" fmla="val 15384"/>
            </a:avLst>
          </a:prstGeom>
          <a:solidFill>
            <a:srgbClr val="1E28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1792" y="969264"/>
            <a:ext cx="310896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1">
                <a:solidFill>
                  <a:srgbClr val="8FE0AE"/>
                </a:solidFill>
                <a:latin typeface="Consolas"/>
                <a:ea typeface="Microsoft YaHei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960120"/>
            <a:ext cx="199567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60" b="1">
                <a:solidFill>
                  <a:srgbClr val="E9EDF2"/>
                </a:solidFill>
                <a:latin typeface="Consolas"/>
                <a:ea typeface="Microsoft YaHei"/>
              </a:rPr>
              <a:t>读 artifact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1152144"/>
            <a:ext cx="199567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80" b="0">
                <a:solidFill>
                  <a:srgbClr val="7A8497"/>
                </a:solidFill>
                <a:latin typeface="Consolas"/>
                <a:ea typeface="Microsoft YaHei"/>
              </a:rPr>
              <a:t>把「能跑起来」落盘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" y="1426464"/>
            <a:ext cx="2379726" cy="365760"/>
          </a:xfrm>
          <a:prstGeom prst="roundRect">
            <a:avLst>
              <a:gd name="adj" fmla="val 15000"/>
            </a:avLst>
          </a:prstGeom>
          <a:solidFill>
            <a:srgbClr val="0A0F18"/>
          </a:solidFill>
          <a:ln w="9525">
            <a:solidFill>
              <a:srgbClr val="2A33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13232" y="1463040"/>
            <a:ext cx="2196846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640" b="0">
                <a:solidFill>
                  <a:srgbClr val="8FE0AE"/>
                </a:solidFill>
                <a:latin typeface="Consolas"/>
                <a:ea typeface="Microsoft YaHei"/>
              </a:rPr>
              <a:t>runs/baseline/&lt;task_id&gt;/</a:t>
            </a:r>
          </a:p>
          <a:p>
            <a:pPr algn="l">
              <a:lnSpc>
                <a:spcPct val="105000"/>
              </a:lnSpc>
            </a:pPr>
            <a:r>
              <a:rPr sz="640" b="0">
                <a:solidFill>
                  <a:srgbClr val="8FE0AE"/>
                </a:solidFill>
                <a:latin typeface="Consolas"/>
                <a:ea typeface="Microsoft YaHei"/>
              </a:rPr>
              <a:t>baseline_config.with_envs.yaml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" y="1883664"/>
            <a:ext cx="2379726" cy="7498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700" b="0">
                <a:solidFill>
                  <a:srgbClr val="C7D0DC"/>
                </a:solidFill>
                <a:latin typeface="Microsoft YaHei"/>
                <a:ea typeface="Microsoft YaHei"/>
              </a:rPr>
              <a:t>成功那次 baseline 的 invocation(framework_args / extra_envs / config_path)是「可用启动方式」的权威来源。</a:t>
            </a:r>
          </a:p>
        </p:txBody>
      </p:sp>
      <p:sp>
        <p:nvSpPr>
          <p:cNvPr id="17" name="Isosceles Triangle 16"/>
          <p:cNvSpPr/>
          <p:nvPr/>
        </p:nvSpPr>
        <p:spPr>
          <a:xfrm rot="5400000">
            <a:off x="3177082" y="1705356"/>
            <a:ext cx="123444" cy="137160"/>
          </a:xfrm>
          <a:prstGeom prst="triangle">
            <a:avLst/>
          </a:prstGeom>
          <a:solidFill>
            <a:srgbClr val="2A33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3312414" y="786384"/>
            <a:ext cx="2708910" cy="1975104"/>
          </a:xfrm>
          <a:prstGeom prst="roundRect">
            <a:avLst>
              <a:gd name="adj" fmla="val 2777"/>
            </a:avLst>
          </a:prstGeom>
          <a:solidFill>
            <a:srgbClr val="0E141E"/>
          </a:solidFill>
          <a:ln w="9525">
            <a:solidFill>
              <a:srgbClr val="1E28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312414" y="786384"/>
            <a:ext cx="2708910" cy="45720"/>
          </a:xfrm>
          <a:prstGeom prst="rect">
            <a:avLst/>
          </a:prstGeom>
          <a:solidFill>
            <a:srgbClr val="8FE0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3477006" y="969264"/>
            <a:ext cx="310896" cy="237744"/>
          </a:xfrm>
          <a:prstGeom prst="roundRect">
            <a:avLst>
              <a:gd name="adj" fmla="val 15384"/>
            </a:avLst>
          </a:prstGeom>
          <a:solidFill>
            <a:srgbClr val="1E28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477006" y="969264"/>
            <a:ext cx="310896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1">
                <a:solidFill>
                  <a:srgbClr val="8FE0AE"/>
                </a:solidFill>
                <a:latin typeface="Consolas"/>
                <a:ea typeface="Microsoft YaHei"/>
              </a:rPr>
              <a:t>02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861054" y="960120"/>
            <a:ext cx="199567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60" b="1">
                <a:solidFill>
                  <a:srgbClr val="E9EDF2"/>
                </a:solidFill>
                <a:latin typeface="Consolas"/>
                <a:ea typeface="Microsoft YaHei"/>
              </a:rPr>
              <a:t>--reference-script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861054" y="1152144"/>
            <a:ext cx="199567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80" b="0">
                <a:solidFill>
                  <a:srgbClr val="7A8497"/>
                </a:solidFill>
                <a:latin typeface="Consolas"/>
                <a:ea typeface="Microsoft YaHei"/>
              </a:rPr>
              <a:t>把它变成下次的输入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477006" y="1426464"/>
            <a:ext cx="2379726" cy="365760"/>
          </a:xfrm>
          <a:prstGeom prst="roundRect">
            <a:avLst>
              <a:gd name="adj" fmla="val 15000"/>
            </a:avLst>
          </a:prstGeom>
          <a:solidFill>
            <a:srgbClr val="0A0F18"/>
          </a:solidFill>
          <a:ln w="9525">
            <a:solidFill>
              <a:srgbClr val="2A33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568446" y="1463040"/>
            <a:ext cx="2196846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640" b="0">
                <a:solidFill>
                  <a:srgbClr val="8FE0AE"/>
                </a:solidFill>
                <a:latin typeface="Consolas"/>
                <a:ea typeface="Microsoft YaHei"/>
              </a:rPr>
              <a:t>--reference-script &lt;path|url&gt;</a:t>
            </a:r>
          </a:p>
          <a:p>
            <a:pPr algn="l">
              <a:lnSpc>
                <a:spcPct val="105000"/>
              </a:lnSpc>
            </a:pPr>
            <a:r>
              <a:rPr sz="640" b="0">
                <a:solidFill>
                  <a:srgbClr val="8FE0AE"/>
                </a:solidFill>
                <a:latin typeface="Consolas"/>
                <a:ea typeface="Microsoft YaHei"/>
              </a:rPr>
              <a:t>seeds baseline server args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477006" y="1883664"/>
            <a:ext cx="2379726" cy="7498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700" b="0">
                <a:solidFill>
                  <a:srgbClr val="C7D0DC"/>
                </a:solidFill>
                <a:latin typeface="Microsoft YaHei"/>
                <a:ea typeface="Microsoft YaHei"/>
              </a:rPr>
              <a:t>接受 .sh 路径或 http(s) URL,以最低优先级注入 baseline(EXPLORE 仍可覆盖)。同模型同镜像下不必再触发。</a:t>
            </a:r>
          </a:p>
        </p:txBody>
      </p:sp>
      <p:sp>
        <p:nvSpPr>
          <p:cNvPr id="27" name="Isosceles Triangle 26"/>
          <p:cNvSpPr/>
          <p:nvPr/>
        </p:nvSpPr>
        <p:spPr>
          <a:xfrm rot="5400000">
            <a:off x="6032296" y="1705356"/>
            <a:ext cx="123444" cy="137160"/>
          </a:xfrm>
          <a:prstGeom prst="triangle">
            <a:avLst/>
          </a:prstGeom>
          <a:solidFill>
            <a:srgbClr val="2A33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6167628" y="786384"/>
            <a:ext cx="2708910" cy="1975104"/>
          </a:xfrm>
          <a:prstGeom prst="roundRect">
            <a:avLst>
              <a:gd name="adj" fmla="val 2777"/>
            </a:avLst>
          </a:prstGeom>
          <a:solidFill>
            <a:srgbClr val="0E141E"/>
          </a:solidFill>
          <a:ln w="9525">
            <a:solidFill>
              <a:srgbClr val="1E28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167628" y="786384"/>
            <a:ext cx="2708910" cy="45720"/>
          </a:xfrm>
          <a:prstGeom prst="rect">
            <a:avLst/>
          </a:prstGeom>
          <a:solidFill>
            <a:srgbClr val="D8A6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6332220" y="969264"/>
            <a:ext cx="310896" cy="237744"/>
          </a:xfrm>
          <a:prstGeom prst="roundRect">
            <a:avLst>
              <a:gd name="adj" fmla="val 15384"/>
            </a:avLst>
          </a:prstGeom>
          <a:solidFill>
            <a:srgbClr val="1E28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332220" y="969264"/>
            <a:ext cx="310896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1">
                <a:solidFill>
                  <a:srgbClr val="D8A66A"/>
                </a:solidFill>
                <a:latin typeface="Consolas"/>
                <a:ea typeface="Microsoft YaHei"/>
              </a:rPr>
              <a:t>03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716268" y="960120"/>
            <a:ext cx="199567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60" b="1">
                <a:solidFill>
                  <a:srgbClr val="E9EDF2"/>
                </a:solidFill>
                <a:latin typeface="Consolas"/>
                <a:ea typeface="Microsoft YaHei"/>
              </a:rPr>
              <a:t>换官方脚本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716268" y="1152144"/>
            <a:ext cx="199567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80" b="0">
                <a:solidFill>
                  <a:srgbClr val="7A8497"/>
                </a:solidFill>
                <a:latin typeface="Consolas"/>
                <a:ea typeface="Microsoft YaHei"/>
              </a:rPr>
              <a:t>连续 5 轮无进展即换路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332220" y="1426464"/>
            <a:ext cx="2379726" cy="365760"/>
          </a:xfrm>
          <a:prstGeom prst="roundRect">
            <a:avLst>
              <a:gd name="adj" fmla="val 15000"/>
            </a:avLst>
          </a:prstGeom>
          <a:solidFill>
            <a:srgbClr val="0A0F18"/>
          </a:solidFill>
          <a:ln w="9525">
            <a:solidFill>
              <a:srgbClr val="2A33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23660" y="1463040"/>
            <a:ext cx="2196846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640" b="0">
                <a:solidFill>
                  <a:srgbClr val="D8A66A"/>
                </a:solidFill>
                <a:latin typeface="Consolas"/>
                <a:ea typeface="Microsoft YaHei"/>
              </a:rPr>
              <a:t>_ENABLEMENT_MAX_STALL = 5</a:t>
            </a:r>
          </a:p>
          <a:p>
            <a:pPr algn="l">
              <a:lnSpc>
                <a:spcPct val="105000"/>
              </a:lnSpc>
            </a:pPr>
            <a:r>
              <a:rPr sz="640" b="0">
                <a:solidFill>
                  <a:srgbClr val="D8A66A"/>
                </a:solidFill>
                <a:latin typeface="Consolas"/>
                <a:ea typeface="Microsoft YaHei"/>
              </a:rPr>
              <a:t>-&gt; stop_reason=enablement_stalled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332220" y="1883664"/>
            <a:ext cx="2379726" cy="7498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700" b="0">
                <a:solidFill>
                  <a:srgbClr val="C7D0DC"/>
                </a:solidFill>
                <a:latin typeface="Microsoft YaHei"/>
                <a:ea typeface="Microsoft YaHei"/>
              </a:rPr>
              <a:t>本批 13 个会话正是这样终止的。触到上限时应切到上游官方启动脚本,而不是再来一轮诊断。</a:t>
            </a:r>
          </a:p>
        </p:txBody>
      </p:sp>
      <p:sp>
        <p:nvSpPr>
          <p:cNvPr id="37" name="Isosceles Triangle 36"/>
          <p:cNvSpPr/>
          <p:nvPr/>
        </p:nvSpPr>
        <p:spPr>
          <a:xfrm rot="5400000">
            <a:off x="8887510" y="1705356"/>
            <a:ext cx="123444" cy="137160"/>
          </a:xfrm>
          <a:prstGeom prst="triangle">
            <a:avLst/>
          </a:prstGeom>
          <a:solidFill>
            <a:srgbClr val="2A33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9022842" y="786384"/>
            <a:ext cx="2708910" cy="1975104"/>
          </a:xfrm>
          <a:prstGeom prst="roundRect">
            <a:avLst>
              <a:gd name="adj" fmla="val 2777"/>
            </a:avLst>
          </a:prstGeom>
          <a:solidFill>
            <a:srgbClr val="0E141E"/>
          </a:solidFill>
          <a:ln w="9525">
            <a:solidFill>
              <a:srgbClr val="1E28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9022842" y="786384"/>
            <a:ext cx="2708910" cy="45720"/>
          </a:xfrm>
          <a:prstGeom prst="rect">
            <a:avLst/>
          </a:prstGeom>
          <a:solidFill>
            <a:srgbClr val="D8A6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9187434" y="969264"/>
            <a:ext cx="310896" cy="237744"/>
          </a:xfrm>
          <a:prstGeom prst="roundRect">
            <a:avLst>
              <a:gd name="adj" fmla="val 15384"/>
            </a:avLst>
          </a:prstGeom>
          <a:solidFill>
            <a:srgbClr val="1E28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187434" y="969264"/>
            <a:ext cx="310896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1">
                <a:solidFill>
                  <a:srgbClr val="D8A66A"/>
                </a:solidFill>
                <a:latin typeface="Consolas"/>
                <a:ea typeface="Microsoft YaHei"/>
              </a:rPr>
              <a:t>04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571482" y="960120"/>
            <a:ext cx="199567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60" b="1">
                <a:solidFill>
                  <a:srgbClr val="E9EDF2"/>
                </a:solidFill>
                <a:latin typeface="Consolas"/>
                <a:ea typeface="Microsoft YaHei"/>
              </a:rPr>
              <a:t>换镜像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571482" y="1152144"/>
            <a:ext cx="199567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80" b="0">
                <a:solidFill>
                  <a:srgbClr val="7A8497"/>
                </a:solidFill>
                <a:latin typeface="Consolas"/>
                <a:ea typeface="Microsoft YaHei"/>
              </a:rPr>
              <a:t>day-0 支持 / 最新 nightly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9187434" y="1426464"/>
            <a:ext cx="2379726" cy="365760"/>
          </a:xfrm>
          <a:prstGeom prst="roundRect">
            <a:avLst>
              <a:gd name="adj" fmla="val 15000"/>
            </a:avLst>
          </a:prstGeom>
          <a:solidFill>
            <a:srgbClr val="0A0F18"/>
          </a:solidFill>
          <a:ln w="9525">
            <a:solidFill>
              <a:srgbClr val="2A33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278874" y="1463040"/>
            <a:ext cx="2196846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640" b="0">
                <a:solidFill>
                  <a:srgbClr val="D8A66A"/>
                </a:solidFill>
                <a:latin typeface="Consolas"/>
                <a:ea typeface="Microsoft YaHei"/>
              </a:rPr>
              <a:t>MXFP4 + diffusion   100%</a:t>
            </a:r>
          </a:p>
          <a:p>
            <a:pPr algn="l">
              <a:lnSpc>
                <a:spcPct val="105000"/>
              </a:lnSpc>
            </a:pPr>
            <a:r>
              <a:rPr sz="640" b="0">
                <a:solidFill>
                  <a:srgbClr val="D8A66A"/>
                </a:solidFill>
                <a:latin typeface="Consolas"/>
                <a:ea typeface="Microsoft YaHei"/>
              </a:rPr>
              <a:t>control group      0/60+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187434" y="1883664"/>
            <a:ext cx="2379726" cy="7498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700" b="0">
                <a:solidFill>
                  <a:srgbClr val="C7D0DC"/>
                </a:solidFill>
                <a:latin typeface="Microsoft YaHei"/>
                <a:ea typeface="Microsoft YaHei"/>
              </a:rPr>
              <a:t>一批模型 100% 起不来、另一批一次都不失败 —— 指向镜像缺 day-0 支持。换镜像比在会话里打补丁更省。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457200" y="2926080"/>
            <a:ext cx="11274552" cy="1700784"/>
          </a:xfrm>
          <a:prstGeom prst="roundRect">
            <a:avLst>
              <a:gd name="adj" fmla="val 3225"/>
            </a:avLst>
          </a:prstGeom>
          <a:solidFill>
            <a:srgbClr val="0E141E"/>
          </a:solidFill>
          <a:ln w="9525">
            <a:solidFill>
              <a:srgbClr val="1E28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40080" y="3026664"/>
            <a:ext cx="5486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80" b="1">
                <a:solidFill>
                  <a:srgbClr val="8FBFE0"/>
                </a:solidFill>
                <a:latin typeface="Consolas"/>
                <a:ea typeface="Microsoft YaHei"/>
              </a:rPr>
              <a:t>现状 vs 应有</a:t>
            </a:r>
            <a:r>
              <a:rPr sz="680" b="0">
                <a:solidFill>
                  <a:srgbClr val="7A8497"/>
                </a:solidFill>
                <a:latin typeface="Consolas"/>
                <a:ea typeface="Microsoft YaHei"/>
              </a:rPr>
              <a:t>    同一个启动失败第 2 次出现时会发生什么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640080" y="3328416"/>
            <a:ext cx="10908792" cy="566928"/>
          </a:xfrm>
          <a:prstGeom prst="roundRect">
            <a:avLst>
              <a:gd name="adj" fmla="val 9677"/>
            </a:avLst>
          </a:prstGeom>
          <a:solidFill>
            <a:srgbClr val="1A1218"/>
          </a:solidFill>
          <a:ln w="9525">
            <a:solidFill>
              <a:srgbClr val="6E4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86384" y="3383280"/>
            <a:ext cx="1371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>
                <a:solidFill>
                  <a:srgbClr val="D8A66A"/>
                </a:solidFill>
                <a:latin typeface="Microsoft YaHei"/>
                <a:ea typeface="Microsoft YaHei"/>
              </a:rPr>
              <a:t>现状</a:t>
            </a:r>
          </a:p>
          <a:p>
            <a:pPr algn="l">
              <a:lnSpc>
                <a:spcPct val="115000"/>
              </a:lnSpc>
            </a:pPr>
            <a:r>
              <a:rPr sz="700" b="0">
                <a:solidFill>
                  <a:srgbClr val="D8A66A"/>
                </a:solidFill>
                <a:latin typeface="Consolas"/>
                <a:ea typeface="Microsoft YaHei"/>
              </a:rPr>
              <a:t>×121 次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2240280" y="3429000"/>
            <a:ext cx="1371600" cy="365760"/>
          </a:xfrm>
          <a:prstGeom prst="roundRect">
            <a:avLst>
              <a:gd name="adj" fmla="val 15000"/>
            </a:avLst>
          </a:prstGeom>
          <a:solidFill>
            <a:srgbClr val="0A0F18"/>
          </a:solidFill>
          <a:ln w="9525">
            <a:solidFill>
              <a:srgbClr val="2A33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2240280" y="3520440"/>
            <a:ext cx="1371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700" b="1">
                <a:solidFill>
                  <a:srgbClr val="D8A66A"/>
                </a:solidFill>
                <a:latin typeface="Microsoft YaHei"/>
                <a:ea typeface="Microsoft YaHei"/>
              </a:rPr>
              <a:t>启动失败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611880" y="3520440"/>
            <a:ext cx="1828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3B4760"/>
                </a:solidFill>
                <a:latin typeface="Consolas"/>
                <a:ea typeface="Microsoft YaHei"/>
              </a:rPr>
              <a:t>›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3794760" y="3429000"/>
            <a:ext cx="1371600" cy="365760"/>
          </a:xfrm>
          <a:prstGeom prst="roundRect">
            <a:avLst>
              <a:gd name="adj" fmla="val 15000"/>
            </a:avLst>
          </a:prstGeom>
          <a:solidFill>
            <a:srgbClr val="0A0F18"/>
          </a:solidFill>
          <a:ln w="9525">
            <a:solidFill>
              <a:srgbClr val="2A33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794760" y="3520440"/>
            <a:ext cx="1371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700" b="1">
                <a:solidFill>
                  <a:srgbClr val="D8A66A"/>
                </a:solidFill>
                <a:latin typeface="Microsoft YaHei"/>
                <a:ea typeface="Microsoft YaHei"/>
              </a:rPr>
              <a:t>派 specialist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166360" y="3520440"/>
            <a:ext cx="1828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3B4760"/>
                </a:solidFill>
                <a:latin typeface="Consolas"/>
                <a:ea typeface="Microsoft YaHei"/>
              </a:rPr>
              <a:t>›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5349240" y="3429000"/>
            <a:ext cx="1371600" cy="365760"/>
          </a:xfrm>
          <a:prstGeom prst="roundRect">
            <a:avLst>
              <a:gd name="adj" fmla="val 15000"/>
            </a:avLst>
          </a:prstGeom>
          <a:solidFill>
            <a:srgbClr val="0A0F18"/>
          </a:solidFill>
          <a:ln w="9525">
            <a:solidFill>
              <a:srgbClr val="2A33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5349240" y="3520440"/>
            <a:ext cx="1371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700" b="1">
                <a:solidFill>
                  <a:srgbClr val="D8A66A"/>
                </a:solidFill>
                <a:latin typeface="Microsoft YaHei"/>
                <a:ea typeface="Microsoft YaHei"/>
              </a:rPr>
              <a:t>100+ 轮诊断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720840" y="3520440"/>
            <a:ext cx="1828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3B4760"/>
                </a:solidFill>
                <a:latin typeface="Consolas"/>
                <a:ea typeface="Microsoft YaHei"/>
              </a:rPr>
              <a:t>›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6903720" y="3429000"/>
            <a:ext cx="1371600" cy="365760"/>
          </a:xfrm>
          <a:prstGeom prst="roundRect">
            <a:avLst>
              <a:gd name="adj" fmla="val 15000"/>
            </a:avLst>
          </a:prstGeom>
          <a:solidFill>
            <a:srgbClr val="0A0F18"/>
          </a:solidFill>
          <a:ln w="9525">
            <a:solidFill>
              <a:srgbClr val="2A33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6903720" y="3520440"/>
            <a:ext cx="1371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700" b="1">
                <a:solidFill>
                  <a:srgbClr val="D8A66A"/>
                </a:solidFill>
                <a:latin typeface="Microsoft YaHei"/>
                <a:ea typeface="Microsoft YaHei"/>
              </a:rPr>
              <a:t>打补丁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8275320" y="3520440"/>
            <a:ext cx="1828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3B4760"/>
                </a:solidFill>
                <a:latin typeface="Consolas"/>
                <a:ea typeface="Microsoft YaHei"/>
              </a:rPr>
              <a:t>›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8458200" y="3429000"/>
            <a:ext cx="1371600" cy="365760"/>
          </a:xfrm>
          <a:prstGeom prst="roundRect">
            <a:avLst>
              <a:gd name="adj" fmla="val 15000"/>
            </a:avLst>
          </a:prstGeom>
          <a:solidFill>
            <a:srgbClr val="0A0F18"/>
          </a:solidFill>
          <a:ln w="9525">
            <a:solidFill>
              <a:srgbClr val="2A33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8458200" y="3520440"/>
            <a:ext cx="1371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700" b="1">
                <a:solidFill>
                  <a:srgbClr val="D8A66A"/>
                </a:solidFill>
                <a:latin typeface="Microsoft YaHei"/>
                <a:ea typeface="Microsoft YaHei"/>
              </a:rPr>
              <a:t>再次失败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9829800" y="3520440"/>
            <a:ext cx="1828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3B4760"/>
                </a:solidFill>
                <a:latin typeface="Consolas"/>
                <a:ea typeface="Microsoft YaHei"/>
              </a:rPr>
              <a:t>›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10012680" y="3429000"/>
            <a:ext cx="1371600" cy="365760"/>
          </a:xfrm>
          <a:prstGeom prst="roundRect">
            <a:avLst>
              <a:gd name="adj" fmla="val 15000"/>
            </a:avLst>
          </a:prstGeom>
          <a:solidFill>
            <a:srgbClr val="0A0F18"/>
          </a:solidFill>
          <a:ln w="9525">
            <a:solidFill>
              <a:srgbClr val="2A33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10012680" y="3520440"/>
            <a:ext cx="1371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700" b="1">
                <a:solidFill>
                  <a:srgbClr val="D8A66A"/>
                </a:solidFill>
                <a:latin typeface="Microsoft YaHei"/>
                <a:ea typeface="Microsoft YaHei"/>
              </a:rPr>
              <a:t>stalled · 零增益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640080" y="3968496"/>
            <a:ext cx="10908792" cy="566928"/>
          </a:xfrm>
          <a:prstGeom prst="roundRect">
            <a:avLst>
              <a:gd name="adj" fmla="val 9677"/>
            </a:avLst>
          </a:prstGeom>
          <a:solidFill>
            <a:srgbClr val="101A16"/>
          </a:solidFill>
          <a:ln w="9525">
            <a:solidFill>
              <a:srgbClr val="2A6E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786384" y="4023360"/>
            <a:ext cx="1371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>
                <a:solidFill>
                  <a:srgbClr val="8FE0AE"/>
                </a:solidFill>
                <a:latin typeface="Microsoft YaHei"/>
                <a:ea typeface="Microsoft YaHei"/>
              </a:rPr>
              <a:t>应有</a:t>
            </a:r>
          </a:p>
          <a:p>
            <a:pPr algn="l">
              <a:lnSpc>
                <a:spcPct val="115000"/>
              </a:lnSpc>
            </a:pPr>
            <a:r>
              <a:rPr sz="700" b="0">
                <a:solidFill>
                  <a:srgbClr val="8FE0AE"/>
                </a:solidFill>
                <a:latin typeface="Consolas"/>
                <a:ea typeface="Microsoft YaHei"/>
              </a:rPr>
              <a:t>×1 次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2240280" y="4069080"/>
            <a:ext cx="1371600" cy="365760"/>
          </a:xfrm>
          <a:prstGeom prst="roundRect">
            <a:avLst>
              <a:gd name="adj" fmla="val 15000"/>
            </a:avLst>
          </a:prstGeom>
          <a:solidFill>
            <a:srgbClr val="0A0F18"/>
          </a:solidFill>
          <a:ln w="9525">
            <a:solidFill>
              <a:srgbClr val="2A6E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2240280" y="4160520"/>
            <a:ext cx="1371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700" b="1">
                <a:solidFill>
                  <a:srgbClr val="8FE0AE"/>
                </a:solidFill>
                <a:latin typeface="Microsoft YaHei"/>
                <a:ea typeface="Microsoft YaHei"/>
              </a:rPr>
              <a:t>启动失败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3611880" y="4160520"/>
            <a:ext cx="1828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3B4760"/>
                </a:solidFill>
                <a:latin typeface="Consolas"/>
                <a:ea typeface="Microsoft YaHei"/>
              </a:rPr>
              <a:t>›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3794760" y="4069080"/>
            <a:ext cx="1371600" cy="365760"/>
          </a:xfrm>
          <a:prstGeom prst="roundRect">
            <a:avLst>
              <a:gd name="adj" fmla="val 15000"/>
            </a:avLst>
          </a:prstGeom>
          <a:solidFill>
            <a:srgbClr val="0A0F18"/>
          </a:solidFill>
          <a:ln w="9525">
            <a:solidFill>
              <a:srgbClr val="2A6E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3794760" y="4160520"/>
            <a:ext cx="1371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700" b="1">
                <a:solidFill>
                  <a:srgbClr val="8FE0AE"/>
                </a:solidFill>
                <a:latin typeface="Microsoft YaHei"/>
                <a:ea typeface="Microsoft YaHei"/>
              </a:rPr>
              <a:t>命中签名台账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5166360" y="4160520"/>
            <a:ext cx="1828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3B4760"/>
                </a:solidFill>
                <a:latin typeface="Consolas"/>
                <a:ea typeface="Microsoft YaHei"/>
              </a:rPr>
              <a:t>›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5349240" y="4069080"/>
            <a:ext cx="1371600" cy="365760"/>
          </a:xfrm>
          <a:prstGeom prst="roundRect">
            <a:avLst>
              <a:gd name="adj" fmla="val 15000"/>
            </a:avLst>
          </a:prstGeom>
          <a:solidFill>
            <a:srgbClr val="0A0F18"/>
          </a:solidFill>
          <a:ln w="9525">
            <a:solidFill>
              <a:srgbClr val="2A6E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5349240" y="4160520"/>
            <a:ext cx="1371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700" b="1">
                <a:solidFill>
                  <a:srgbClr val="8FE0AE"/>
                </a:solidFill>
                <a:latin typeface="Microsoft YaHei"/>
                <a:ea typeface="Microsoft YaHei"/>
              </a:rPr>
              <a:t>套用已知修复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6720840" y="4160520"/>
            <a:ext cx="1828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3B4760"/>
                </a:solidFill>
                <a:latin typeface="Consolas"/>
                <a:ea typeface="Microsoft YaHei"/>
              </a:rPr>
              <a:t>›</a:t>
            </a:r>
          </a:p>
        </p:txBody>
      </p:sp>
      <p:sp>
        <p:nvSpPr>
          <p:cNvPr id="79" name="Rounded Rectangle 78"/>
          <p:cNvSpPr/>
          <p:nvPr/>
        </p:nvSpPr>
        <p:spPr>
          <a:xfrm>
            <a:off x="6903720" y="4069080"/>
            <a:ext cx="1371600" cy="365760"/>
          </a:xfrm>
          <a:prstGeom prst="roundRect">
            <a:avLst>
              <a:gd name="adj" fmla="val 15000"/>
            </a:avLst>
          </a:prstGeom>
          <a:solidFill>
            <a:srgbClr val="0A0F18"/>
          </a:solidFill>
          <a:ln w="9525">
            <a:solidFill>
              <a:srgbClr val="2A6E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6903720" y="4160520"/>
            <a:ext cx="1371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680" b="1">
                <a:solidFill>
                  <a:srgbClr val="8FE0AE"/>
                </a:solidFill>
                <a:latin typeface="Consolas"/>
                <a:ea typeface="Microsoft YaHei"/>
              </a:rPr>
              <a:t>--reference-script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8275320" y="4160520"/>
            <a:ext cx="1828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3B4760"/>
                </a:solidFill>
                <a:latin typeface="Consolas"/>
                <a:ea typeface="Microsoft YaHei"/>
              </a:rPr>
              <a:t>›</a:t>
            </a:r>
          </a:p>
        </p:txBody>
      </p:sp>
      <p:sp>
        <p:nvSpPr>
          <p:cNvPr id="82" name="Rounded Rectangle 81"/>
          <p:cNvSpPr/>
          <p:nvPr/>
        </p:nvSpPr>
        <p:spPr>
          <a:xfrm>
            <a:off x="8458200" y="4069080"/>
            <a:ext cx="1371600" cy="365760"/>
          </a:xfrm>
          <a:prstGeom prst="roundRect">
            <a:avLst>
              <a:gd name="adj" fmla="val 15000"/>
            </a:avLst>
          </a:prstGeom>
          <a:solidFill>
            <a:srgbClr val="0A0F18"/>
          </a:solidFill>
          <a:ln w="9525">
            <a:solidFill>
              <a:srgbClr val="2A6E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8458200" y="4160520"/>
            <a:ext cx="1371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680" b="1">
                <a:solidFill>
                  <a:srgbClr val="8FE0AE"/>
                </a:solidFill>
                <a:latin typeface="Microsoft YaHei"/>
                <a:ea typeface="Microsoft YaHei"/>
              </a:rPr>
              <a:t>baseline 通过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9829800" y="4160520"/>
            <a:ext cx="1828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3B4760"/>
                </a:solidFill>
                <a:latin typeface="Consolas"/>
                <a:ea typeface="Microsoft YaHei"/>
              </a:rPr>
              <a:t>›</a:t>
            </a:r>
          </a:p>
        </p:txBody>
      </p:sp>
      <p:sp>
        <p:nvSpPr>
          <p:cNvPr id="85" name="Rounded Rectangle 84"/>
          <p:cNvSpPr/>
          <p:nvPr/>
        </p:nvSpPr>
        <p:spPr>
          <a:xfrm>
            <a:off x="10012680" y="4069080"/>
            <a:ext cx="1371600" cy="365760"/>
          </a:xfrm>
          <a:prstGeom prst="roundRect">
            <a:avLst>
              <a:gd name="adj" fmla="val 15000"/>
            </a:avLst>
          </a:prstGeom>
          <a:solidFill>
            <a:srgbClr val="0A0F18"/>
          </a:solidFill>
          <a:ln w="9525">
            <a:solidFill>
              <a:srgbClr val="2A6E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10012680" y="4160520"/>
            <a:ext cx="1371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680" b="1">
                <a:solidFill>
                  <a:srgbClr val="8FE0AE"/>
                </a:solidFill>
                <a:latin typeface="Microsoft YaHei"/>
                <a:ea typeface="Microsoft YaHei"/>
              </a:rPr>
              <a:t>直接进 EXPLORE</a:t>
            </a:r>
          </a:p>
        </p:txBody>
      </p:sp>
      <p:sp>
        <p:nvSpPr>
          <p:cNvPr id="87" name="Rounded Rectangle 86"/>
          <p:cNvSpPr/>
          <p:nvPr/>
        </p:nvSpPr>
        <p:spPr>
          <a:xfrm>
            <a:off x="457200" y="4864608"/>
            <a:ext cx="5532120" cy="1060704"/>
          </a:xfrm>
          <a:prstGeom prst="roundRect">
            <a:avLst>
              <a:gd name="adj" fmla="val 5172"/>
            </a:avLst>
          </a:prstGeom>
          <a:solidFill>
            <a:srgbClr val="0E141E"/>
          </a:solidFill>
          <a:ln w="9525">
            <a:solidFill>
              <a:srgbClr val="1E28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640080" y="4956048"/>
            <a:ext cx="5166359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19" b="1">
                <a:solidFill>
                  <a:srgbClr val="E9EDF2"/>
                </a:solidFill>
                <a:latin typeface="Microsoft YaHei"/>
                <a:ea typeface="Microsoft YaHei"/>
              </a:rPr>
              <a:t>判定规则</a:t>
            </a:r>
            <a:r>
              <a:rPr sz="680" b="0">
                <a:solidFill>
                  <a:srgbClr val="7A8497"/>
                </a:solidFill>
                <a:latin typeface="Consolas"/>
                <a:ea typeface="Microsoft YaHei"/>
              </a:rPr>
              <a:t>    把「一次性」写进流程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658368" y="5193792"/>
            <a:ext cx="2377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60" b="1">
                <a:solidFill>
                  <a:srgbClr val="E9EDF2"/>
                </a:solidFill>
                <a:latin typeface="Microsoft YaHei"/>
                <a:ea typeface="Microsoft YaHei"/>
              </a:rPr>
              <a:t>› 首次跑不起来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3090672" y="5193792"/>
            <a:ext cx="17373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0">
                <a:solidFill>
                  <a:srgbClr val="6E95AB"/>
                </a:solidFill>
                <a:latin typeface="Consolas"/>
                <a:ea typeface="Microsoft YaHei"/>
              </a:rPr>
              <a:t>允许 enablement 一次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4846320" y="5193792"/>
            <a:ext cx="10972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60" b="1">
                <a:solidFill>
                  <a:srgbClr val="8FBFE0"/>
                </a:solidFill>
                <a:latin typeface="Consolas"/>
                <a:ea typeface="Microsoft YaHei"/>
              </a:rPr>
              <a:t>诊断 + 打通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658368" y="5422392"/>
            <a:ext cx="2377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60" b="1">
                <a:solidFill>
                  <a:srgbClr val="E9EDF2"/>
                </a:solidFill>
                <a:latin typeface="Microsoft YaHei"/>
                <a:ea typeface="Microsoft YaHei"/>
              </a:rPr>
              <a:t>› 打通之后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3090672" y="5422392"/>
            <a:ext cx="17373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0">
                <a:solidFill>
                  <a:srgbClr val="6E95AB"/>
                </a:solidFill>
                <a:latin typeface="Consolas"/>
                <a:ea typeface="Microsoft YaHei"/>
              </a:rPr>
              <a:t>导出脚本 → reference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4846320" y="5422392"/>
            <a:ext cx="10972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60" b="1">
                <a:solidFill>
                  <a:srgbClr val="8FE0AE"/>
                </a:solidFill>
                <a:latin typeface="Consolas"/>
                <a:ea typeface="Microsoft YaHei"/>
              </a:rPr>
              <a:t>不再触发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658368" y="5650992"/>
            <a:ext cx="2377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60" b="1">
                <a:solidFill>
                  <a:srgbClr val="E9EDF2"/>
                </a:solidFill>
                <a:latin typeface="Microsoft YaHei"/>
                <a:ea typeface="Microsoft YaHei"/>
              </a:rPr>
              <a:t>› 连续 5 轮无进展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3090672" y="5650992"/>
            <a:ext cx="17373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0">
                <a:solidFill>
                  <a:srgbClr val="6E95AB"/>
                </a:solidFill>
                <a:latin typeface="Consolas"/>
                <a:ea typeface="Microsoft YaHei"/>
              </a:rPr>
              <a:t>换官方脚本 / 换镜像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4846320" y="5650992"/>
            <a:ext cx="10972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60" b="1">
                <a:solidFill>
                  <a:srgbClr val="D8A66A"/>
                </a:solidFill>
                <a:latin typeface="Consolas"/>
                <a:ea typeface="Microsoft YaHei"/>
              </a:rPr>
              <a:t>不再重试</a:t>
            </a:r>
          </a:p>
        </p:txBody>
      </p:sp>
      <p:sp>
        <p:nvSpPr>
          <p:cNvPr id="98" name="Rounded Rectangle 97"/>
          <p:cNvSpPr/>
          <p:nvPr/>
        </p:nvSpPr>
        <p:spPr>
          <a:xfrm>
            <a:off x="6199632" y="4864608"/>
            <a:ext cx="5532120" cy="1060704"/>
          </a:xfrm>
          <a:prstGeom prst="roundRect">
            <a:avLst>
              <a:gd name="adj" fmla="val 5172"/>
            </a:avLst>
          </a:prstGeom>
          <a:solidFill>
            <a:srgbClr val="0E141E"/>
          </a:solidFill>
          <a:ln w="9525">
            <a:solidFill>
              <a:srgbClr val="1E28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6382512" y="4956048"/>
            <a:ext cx="5166359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19" b="1">
                <a:solidFill>
                  <a:srgbClr val="E9EDF2"/>
                </a:solidFill>
                <a:latin typeface="Microsoft YaHei"/>
                <a:ea typeface="Microsoft YaHei"/>
              </a:rPr>
              <a:t>机制早已存在,却几乎没被用</a:t>
            </a:r>
            <a:r>
              <a:rPr sz="680" b="0">
                <a:solidFill>
                  <a:srgbClr val="7A8497"/>
                </a:solidFill>
                <a:latin typeface="Consolas"/>
                <a:ea typeface="Microsoft YaHei"/>
              </a:rPr>
              <a:t>    --reference-script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6400800" y="5193792"/>
            <a:ext cx="2377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60" b="1">
                <a:solidFill>
                  <a:srgbClr val="E9EDF2"/>
                </a:solidFill>
                <a:latin typeface="Microsoft YaHei"/>
                <a:ea typeface="Microsoft YaHei"/>
              </a:rPr>
              <a:t>› 101 个会话中用过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8833104" y="5193792"/>
            <a:ext cx="17373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0">
                <a:solidFill>
                  <a:srgbClr val="6E95AB"/>
                </a:solidFill>
                <a:latin typeface="Consolas"/>
                <a:ea typeface="Microsoft YaHei"/>
              </a:rPr>
              <a:t>1 次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10588752" y="5193792"/>
            <a:ext cx="10972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60" b="1">
                <a:solidFill>
                  <a:srgbClr val="D8A66A"/>
                </a:solidFill>
                <a:latin typeface="Consolas"/>
                <a:ea typeface="Microsoft YaHei"/>
              </a:rPr>
              <a:t>0.99%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6400800" y="5422392"/>
            <a:ext cx="2377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60" b="1">
                <a:solidFill>
                  <a:srgbClr val="E9EDF2"/>
                </a:solidFill>
                <a:latin typeface="Microsoft YaHei"/>
                <a:ea typeface="Microsoft YaHei"/>
              </a:rPr>
              <a:t>› 36 个 enablement 会话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8833104" y="5422392"/>
            <a:ext cx="17373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0">
                <a:solidFill>
                  <a:srgbClr val="6E95AB"/>
                </a:solidFill>
                <a:latin typeface="Consolas"/>
                <a:ea typeface="Microsoft YaHei"/>
              </a:rPr>
              <a:t>35 个未用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10588752" y="5422392"/>
            <a:ext cx="10972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60" b="1">
                <a:solidFill>
                  <a:srgbClr val="D8A66A"/>
                </a:solidFill>
                <a:latin typeface="Consolas"/>
                <a:ea typeface="Microsoft YaHei"/>
              </a:rPr>
              <a:t>97%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6400800" y="5650992"/>
            <a:ext cx="2377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60" b="1">
                <a:solidFill>
                  <a:srgbClr val="E9EDF2"/>
                </a:solidFill>
                <a:latin typeface="Microsoft YaHei"/>
                <a:ea typeface="Microsoft YaHei"/>
              </a:rPr>
              <a:t>› 直接可回收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8833104" y="5650992"/>
            <a:ext cx="17373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0">
                <a:solidFill>
                  <a:srgbClr val="6E95AB"/>
                </a:solidFill>
                <a:latin typeface="Consolas"/>
                <a:ea typeface="Microsoft YaHei"/>
              </a:rPr>
              <a:t>$1,560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10588752" y="5650992"/>
            <a:ext cx="10972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60" b="1">
                <a:solidFill>
                  <a:srgbClr val="8FE0AE"/>
                </a:solidFill>
                <a:latin typeface="Consolas"/>
                <a:ea typeface="Microsoft YaHei"/>
              </a:rPr>
              <a:t>重复诊断</a:t>
            </a:r>
          </a:p>
        </p:txBody>
      </p:sp>
      <p:sp>
        <p:nvSpPr>
          <p:cNvPr id="109" name="Rounded Rectangle 108"/>
          <p:cNvSpPr/>
          <p:nvPr/>
        </p:nvSpPr>
        <p:spPr>
          <a:xfrm>
            <a:off x="457200" y="6053328"/>
            <a:ext cx="11274552" cy="420624"/>
          </a:xfrm>
          <a:prstGeom prst="roundRect">
            <a:avLst>
              <a:gd name="adj" fmla="val 13043"/>
            </a:avLst>
          </a:prstGeom>
          <a:solidFill>
            <a:srgbClr val="0E141E"/>
          </a:solidFill>
          <a:ln w="9525">
            <a:solidFill>
              <a:srgbClr val="8FE0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640080" y="6153912"/>
            <a:ext cx="109728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>
                <a:solidFill>
                  <a:srgbClr val="8FE0AE"/>
                </a:solidFill>
                <a:latin typeface="Consolas"/>
                <a:ea typeface="Microsoft YaHei"/>
              </a:rPr>
              <a:t>一句话    </a:t>
            </a:r>
            <a:r>
              <a:rPr sz="960" b="1">
                <a:solidFill>
                  <a:srgbClr val="8FE0AE"/>
                </a:solidFill>
                <a:latin typeface="Microsoft YaHei"/>
                <a:ea typeface="Microsoft YaHei"/>
              </a:rPr>
              <a:t>enablement 应该是「每个启动问题一次」,不是「每个会话一次」。</a:t>
            </a:r>
            <a:r>
              <a:rPr sz="960" b="0">
                <a:solidFill>
                  <a:srgbClr val="C7D0DC"/>
                </a:solidFill>
                <a:latin typeface="Microsoft YaHei"/>
                <a:ea typeface="Microsoft YaHei"/>
              </a:rPr>
              <a:t>差别是 121 次重复诊断($1,560)与被阻塞的 $1,768 产出 —— 而 --reference-script 这个机制早已存在。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457200" y="6620256"/>
            <a:ext cx="1127455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50" b="0">
                <a:solidFill>
                  <a:srgbClr val="3B4760"/>
                </a:solidFill>
                <a:latin typeface="Consolas"/>
                <a:ea typeface="Microsoft YaHei"/>
              </a:rPr>
              <a:t>参照代码:cli/parser.py --reference-script(.sh 路径或 URL,最低优先级注入 baseline server args)· loop/coordinator.py _ENABLEMENT_MAX_STALL=5 · loop/dispatcher.py baseline_tput&lt;=0 时以 rule=execution_order 拒绝 explore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