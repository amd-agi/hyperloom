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6" d="100"/>
          <a:sy n="126" d="100"/>
        </p:scale>
        <p:origin x="672" y="7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A4A3BABD-4632-9374-3C47-9324428B9AEA}"/>
              </a:ext>
            </a:extLst>
          </p:cNvPr>
          <p:cNvSpPr txBox="1"/>
          <p:nvPr userDrawn="1">
            <p:extLst>
              <p:ext uri="{1162E1C5-73C7-4A58-AE30-91384D911F3F}">
                <p184:classification xmlns:p184="http://schemas.microsoft.com/office/powerpoint/2018/4/main" val="hdr"/>
              </p:ext>
            </p:extLst>
          </p:nvPr>
        </p:nvSpPr>
        <p:spPr>
          <a:xfrm>
            <a:off x="63500" y="63500"/>
            <a:ext cx="750888"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AMD General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1.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28016"/>
            <a:ext cx="10241280" cy="365760"/>
          </a:xfrm>
          <a:prstGeom prst="rect">
            <a:avLst/>
          </a:prstGeom>
          <a:noFill/>
        </p:spPr>
        <p:txBody>
          <a:bodyPr wrap="square" lIns="0" rIns="0" tIns="0" bIns="0" anchor="ctr">
            <a:spAutoFit/>
          </a:bodyPr>
          <a:lstStyle/>
          <a:p>
            <a:pPr algn="l"/>
            <a:r>
              <a:rPr sz="1800" b="1">
                <a:solidFill>
                  <a:srgbClr val="E9EDF2"/>
                </a:solidFill>
                <a:latin typeface="Microsoft YaHei"/>
              </a:rPr>
              <a:t>Case 03 · Kimi-K3 on vLLM — Finding the Gate Behind the Flag</a:t>
            </a:r>
          </a:p>
        </p:txBody>
      </p:sp>
      <p:sp>
        <p:nvSpPr>
          <p:cNvPr id="5" name="Rectangle 4"/>
          <p:cNvSpPr/>
          <p:nvPr/>
        </p:nvSpPr>
        <p:spPr>
          <a:xfrm>
            <a:off x="457200" y="475488"/>
            <a:ext cx="11274552" cy="18288"/>
          </a:xfrm>
          <a:prstGeom prst="rect">
            <a:avLst/>
          </a:prstGeom>
          <a:solidFill>
            <a:srgbClr val="2A3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502920"/>
            <a:ext cx="10058400" cy="219456"/>
          </a:xfrm>
          <a:prstGeom prst="rect">
            <a:avLst/>
          </a:prstGeom>
          <a:noFill/>
        </p:spPr>
        <p:txBody>
          <a:bodyPr wrap="square" lIns="0" rIns="0" tIns="0" bIns="0" anchor="t">
            <a:spAutoFit/>
          </a:bodyPr>
          <a:lstStyle/>
          <a:p>
            <a:pPr algn="l"/>
            <a:r>
              <a:rPr sz="900" b="1">
                <a:solidFill>
                  <a:srgbClr val="D8A66A"/>
                </a:solidFill>
                <a:latin typeface="Consolas"/>
              </a:rPr>
              <a:t>AITER_SITUV2_A8W4 alone → no gain</a:t>
            </a:r>
            <a:r>
              <a:rPr sz="900" b="1">
                <a:solidFill>
                  <a:srgbClr val="7A8497"/>
                </a:solidFill>
                <a:latin typeface="Consolas"/>
              </a:rPr>
              <a:t>  ·  </a:t>
            </a:r>
            <a:r>
              <a:rPr sz="900" b="1">
                <a:solidFill>
                  <a:srgbClr val="8FE0AE"/>
                </a:solidFill>
                <a:latin typeface="Consolas"/>
              </a:rPr>
              <a:t>+ AITER_BF16_FP8_MOE_BOUND=0 → +4.97%</a:t>
            </a:r>
            <a:r>
              <a:rPr sz="900" b="1">
                <a:solidFill>
                  <a:srgbClr val="6E95AB"/>
                </a:solidFill>
                <a:latin typeface="Consolas"/>
              </a:rPr>
              <a:t>  ·  the method carried over from the Case 01 fp8 KV-cache work</a:t>
            </a:r>
          </a:p>
        </p:txBody>
      </p:sp>
      <p:sp>
        <p:nvSpPr>
          <p:cNvPr id="7" name="TextBox 6"/>
          <p:cNvSpPr txBox="1"/>
          <p:nvPr/>
        </p:nvSpPr>
        <p:spPr>
          <a:xfrm>
            <a:off x="9052560" y="91440"/>
            <a:ext cx="2679192" cy="365760"/>
          </a:xfrm>
          <a:prstGeom prst="rect">
            <a:avLst/>
          </a:prstGeom>
          <a:noFill/>
        </p:spPr>
        <p:txBody>
          <a:bodyPr wrap="square" lIns="0" rIns="0" tIns="0" bIns="0" anchor="ctr">
            <a:spAutoFit/>
          </a:bodyPr>
          <a:lstStyle/>
          <a:p>
            <a:pPr algn="r"/>
            <a:r>
              <a:rPr sz="800" b="0">
                <a:solidFill>
                  <a:srgbClr val="7A8497"/>
                </a:solidFill>
                <a:latin typeface="Consolas"/>
              </a:rPr>
              <a:t>8x MI355X gfx950 · TP8 · CONC 64</a:t>
            </a:r>
          </a:p>
        </p:txBody>
      </p:sp>
      <p:sp>
        <p:nvSpPr>
          <p:cNvPr id="8" name="Rounded Rectangle 7"/>
          <p:cNvSpPr/>
          <p:nvPr/>
        </p:nvSpPr>
        <p:spPr>
          <a:xfrm>
            <a:off x="457200" y="786384"/>
            <a:ext cx="2761488" cy="74980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859536"/>
            <a:ext cx="2761488" cy="365760"/>
          </a:xfrm>
          <a:prstGeom prst="rect">
            <a:avLst/>
          </a:prstGeom>
          <a:noFill/>
        </p:spPr>
        <p:txBody>
          <a:bodyPr wrap="square" lIns="0" rIns="0" tIns="0" bIns="0" anchor="t">
            <a:spAutoFit/>
          </a:bodyPr>
          <a:lstStyle/>
          <a:p>
            <a:pPr algn="ctr"/>
            <a:r>
              <a:rPr sz="1500" b="1">
                <a:solidFill>
                  <a:srgbClr val="8FE0AE"/>
                </a:solidFill>
                <a:latin typeface="Consolas"/>
              </a:rPr>
              <a:t>+4.97%</a:t>
            </a:r>
          </a:p>
        </p:txBody>
      </p:sp>
      <p:sp>
        <p:nvSpPr>
          <p:cNvPr id="10" name="TextBox 9"/>
          <p:cNvSpPr txBox="1"/>
          <p:nvPr/>
        </p:nvSpPr>
        <p:spPr>
          <a:xfrm>
            <a:off x="530352" y="1243584"/>
            <a:ext cx="2615184" cy="256032"/>
          </a:xfrm>
          <a:prstGeom prst="rect">
            <a:avLst/>
          </a:prstGeom>
          <a:noFill/>
        </p:spPr>
        <p:txBody>
          <a:bodyPr wrap="square" lIns="0" rIns="0" tIns="0" bIns="0" anchor="t">
            <a:spAutoFit/>
          </a:bodyPr>
          <a:lstStyle/>
          <a:p>
            <a:pPr algn="ctr"/>
            <a:r>
              <a:rPr sz="740" b="1">
                <a:solidFill>
                  <a:srgbClr val="C7D0DC"/>
                </a:solidFill>
                <a:latin typeface="Microsoft YaHei"/>
              </a:rPr>
              <a:t>the lever that had not landed, now validated</a:t>
            </a:r>
          </a:p>
        </p:txBody>
      </p:sp>
      <p:sp>
        <p:nvSpPr>
          <p:cNvPr id="11" name="Rounded Rectangle 10"/>
          <p:cNvSpPr/>
          <p:nvPr/>
        </p:nvSpPr>
        <p:spPr>
          <a:xfrm>
            <a:off x="3319272" y="786384"/>
            <a:ext cx="2761488" cy="74980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19272" y="859536"/>
            <a:ext cx="2761488" cy="365760"/>
          </a:xfrm>
          <a:prstGeom prst="rect">
            <a:avLst/>
          </a:prstGeom>
          <a:noFill/>
        </p:spPr>
        <p:txBody>
          <a:bodyPr wrap="square" lIns="0" rIns="0" tIns="0" bIns="0" anchor="t">
            <a:spAutoFit/>
          </a:bodyPr>
          <a:lstStyle/>
          <a:p>
            <a:pPr algn="ctr"/>
            <a:r>
              <a:rPr sz="1500" b="1">
                <a:solidFill>
                  <a:srgbClr val="8FE0AE"/>
                </a:solidFill>
                <a:latin typeface="Consolas"/>
              </a:rPr>
              <a:t>+9.43%</a:t>
            </a:r>
          </a:p>
        </p:txBody>
      </p:sp>
      <p:sp>
        <p:nvSpPr>
          <p:cNvPr id="13" name="TextBox 12"/>
          <p:cNvSpPr txBox="1"/>
          <p:nvPr/>
        </p:nvSpPr>
        <p:spPr>
          <a:xfrm>
            <a:off x="3392424" y="1243584"/>
            <a:ext cx="2615184" cy="256032"/>
          </a:xfrm>
          <a:prstGeom prst="rect">
            <a:avLst/>
          </a:prstGeom>
          <a:noFill/>
        </p:spPr>
        <p:txBody>
          <a:bodyPr wrap="square" lIns="0" rIns="0" tIns="0" bIns="0" anchor="t">
            <a:spAutoFit/>
          </a:bodyPr>
          <a:lstStyle/>
          <a:p>
            <a:pPr algn="ctr"/>
            <a:r>
              <a:rPr sz="740" b="1">
                <a:solidFill>
                  <a:srgbClr val="C7D0DC"/>
                </a:solidFill>
                <a:latin typeface="Microsoft YaHei"/>
              </a:rPr>
              <a:t>full validated stack vs session baseline</a:t>
            </a:r>
          </a:p>
        </p:txBody>
      </p:sp>
      <p:sp>
        <p:nvSpPr>
          <p:cNvPr id="14" name="Rounded Rectangle 13"/>
          <p:cNvSpPr/>
          <p:nvPr/>
        </p:nvSpPr>
        <p:spPr>
          <a:xfrm>
            <a:off x="6181344" y="786384"/>
            <a:ext cx="2761488" cy="74980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81344" y="859536"/>
            <a:ext cx="2761488" cy="365760"/>
          </a:xfrm>
          <a:prstGeom prst="rect">
            <a:avLst/>
          </a:prstGeom>
          <a:noFill/>
        </p:spPr>
        <p:txBody>
          <a:bodyPr wrap="square" lIns="0" rIns="0" tIns="0" bIns="0" anchor="t">
            <a:spAutoFit/>
          </a:bodyPr>
          <a:lstStyle/>
          <a:p>
            <a:pPr algn="ctr"/>
            <a:r>
              <a:rPr sz="1500" b="1">
                <a:solidFill>
                  <a:srgbClr val="8FE0AE"/>
                </a:solidFill>
                <a:latin typeface="Consolas"/>
              </a:rPr>
              <a:t>0.9704</a:t>
            </a:r>
            <a:r>
              <a:rPr sz="900" b="1">
                <a:solidFill>
                  <a:srgbClr val="7A8497"/>
                </a:solidFill>
                <a:latin typeface="Consolas"/>
              </a:rPr>
              <a:t>  GSM8K</a:t>
            </a:r>
          </a:p>
        </p:txBody>
      </p:sp>
      <p:sp>
        <p:nvSpPr>
          <p:cNvPr id="16" name="TextBox 15"/>
          <p:cNvSpPr txBox="1"/>
          <p:nvPr/>
        </p:nvSpPr>
        <p:spPr>
          <a:xfrm>
            <a:off x="6254496" y="1243584"/>
            <a:ext cx="2615184" cy="256032"/>
          </a:xfrm>
          <a:prstGeom prst="rect">
            <a:avLst/>
          </a:prstGeom>
          <a:noFill/>
        </p:spPr>
        <p:txBody>
          <a:bodyPr wrap="square" lIns="0" rIns="0" tIns="0" bIns="0" anchor="t">
            <a:spAutoFit/>
          </a:bodyPr>
          <a:lstStyle/>
          <a:p>
            <a:pPr algn="ctr"/>
            <a:r>
              <a:rPr sz="740" b="1">
                <a:solidFill>
                  <a:srgbClr val="C7D0DC"/>
                </a:solidFill>
                <a:latin typeface="Microsoft YaHei"/>
              </a:rPr>
              <a:t>strict-match — accuracy gate passed</a:t>
            </a:r>
          </a:p>
        </p:txBody>
      </p:sp>
      <p:sp>
        <p:nvSpPr>
          <p:cNvPr id="17" name="Rounded Rectangle 16"/>
          <p:cNvSpPr/>
          <p:nvPr/>
        </p:nvSpPr>
        <p:spPr>
          <a:xfrm>
            <a:off x="9043416" y="786384"/>
            <a:ext cx="2761488" cy="74980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43416" y="859536"/>
            <a:ext cx="2761488" cy="365760"/>
          </a:xfrm>
          <a:prstGeom prst="rect">
            <a:avLst/>
          </a:prstGeom>
          <a:noFill/>
        </p:spPr>
        <p:txBody>
          <a:bodyPr wrap="square" lIns="0" rIns="0" tIns="0" bIns="0" anchor="t">
            <a:spAutoFit/>
          </a:bodyPr>
          <a:lstStyle/>
          <a:p>
            <a:pPr algn="ctr"/>
            <a:r>
              <a:rPr sz="1500" b="1">
                <a:solidFill>
                  <a:srgbClr val="8FBFE0"/>
                </a:solidFill>
                <a:latin typeface="Consolas"/>
              </a:rPr>
              <a:t>0</a:t>
            </a:r>
            <a:r>
              <a:rPr sz="900" b="1">
                <a:solidFill>
                  <a:srgbClr val="7A8497"/>
                </a:solidFill>
                <a:latin typeface="Consolas"/>
              </a:rPr>
              <a:t>  lines of code</a:t>
            </a:r>
          </a:p>
        </p:txBody>
      </p:sp>
      <p:sp>
        <p:nvSpPr>
          <p:cNvPr id="19" name="TextBox 18"/>
          <p:cNvSpPr txBox="1"/>
          <p:nvPr/>
        </p:nvSpPr>
        <p:spPr>
          <a:xfrm>
            <a:off x="9116568" y="1243584"/>
            <a:ext cx="2615184" cy="256032"/>
          </a:xfrm>
          <a:prstGeom prst="rect">
            <a:avLst/>
          </a:prstGeom>
          <a:noFill/>
        </p:spPr>
        <p:txBody>
          <a:bodyPr wrap="square" lIns="0" rIns="0" tIns="0" bIns="0" anchor="t">
            <a:spAutoFit/>
          </a:bodyPr>
          <a:lstStyle/>
          <a:p>
            <a:pPr algn="ctr"/>
            <a:r>
              <a:rPr sz="740" b="1">
                <a:solidFill>
                  <a:srgbClr val="C7D0DC"/>
                </a:solidFill>
                <a:latin typeface="Microsoft YaHei"/>
              </a:rPr>
              <a:t>the fix was reading source, not writing it</a:t>
            </a:r>
          </a:p>
        </p:txBody>
      </p:sp>
      <p:sp>
        <p:nvSpPr>
          <p:cNvPr id="20" name="Rounded Rectangle 19"/>
          <p:cNvSpPr/>
          <p:nvPr/>
        </p:nvSpPr>
        <p:spPr>
          <a:xfrm>
            <a:off x="457200" y="1700784"/>
            <a:ext cx="11274552" cy="47548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1783080"/>
            <a:ext cx="2103120" cy="201168"/>
          </a:xfrm>
          <a:prstGeom prst="rect">
            <a:avLst/>
          </a:prstGeom>
          <a:noFill/>
        </p:spPr>
        <p:txBody>
          <a:bodyPr wrap="square" lIns="0" rIns="0" tIns="0" bIns="0" anchor="t">
            <a:spAutoFit/>
          </a:bodyPr>
          <a:lstStyle/>
          <a:p>
            <a:pPr algn="l"/>
            <a:r>
              <a:rPr sz="780" b="1">
                <a:solidFill>
                  <a:srgbClr val="8FBFE0"/>
                </a:solidFill>
                <a:latin typeface="Consolas"/>
              </a:rPr>
              <a:t>THE METHOD</a:t>
            </a:r>
          </a:p>
        </p:txBody>
      </p:sp>
      <p:sp>
        <p:nvSpPr>
          <p:cNvPr id="22" name="TextBox 21"/>
          <p:cNvSpPr txBox="1"/>
          <p:nvPr/>
        </p:nvSpPr>
        <p:spPr>
          <a:xfrm>
            <a:off x="2651760" y="1773936"/>
            <a:ext cx="8915400" cy="329184"/>
          </a:xfrm>
          <a:prstGeom prst="rect">
            <a:avLst/>
          </a:prstGeom>
          <a:noFill/>
        </p:spPr>
        <p:txBody>
          <a:bodyPr wrap="square" lIns="0" rIns="0" tIns="0" bIns="0" anchor="t">
            <a:spAutoFit/>
          </a:bodyPr>
          <a:lstStyle/>
          <a:p>
            <a:pPr algn="l"/>
            <a:r>
              <a:rPr sz="800" b="0">
                <a:solidFill>
                  <a:srgbClr val="C7D0DC"/>
                </a:solidFill>
                <a:latin typeface="Microsoft YaHei"/>
              </a:rPr>
              <a:t>On this stack an fp8 win is decided inside kernel dispatch, not by the env flag that appears to name it. Case 01 learned that on the KV cache. Turning it into a repeatable step — read the dispatch source, find the gate condition, then move the whole coupled set at once — is what made this lever land.</a:t>
            </a:r>
          </a:p>
        </p:txBody>
      </p:sp>
      <p:sp>
        <p:nvSpPr>
          <p:cNvPr id="23" name="Rounded Rectangle 22"/>
          <p:cNvSpPr/>
          <p:nvPr/>
        </p:nvSpPr>
        <p:spPr>
          <a:xfrm>
            <a:off x="457200" y="2322576"/>
            <a:ext cx="2715768" cy="239572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03504" y="2468880"/>
            <a:ext cx="310896" cy="237744"/>
          </a:xfrm>
          <a:prstGeom prst="roundRect">
            <a:avLst>
              <a:gd name="adj" fmla="val 2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3504" y="2468880"/>
            <a:ext cx="310896" cy="246888"/>
          </a:xfrm>
          <a:prstGeom prst="rect">
            <a:avLst/>
          </a:prstGeom>
          <a:noFill/>
        </p:spPr>
        <p:txBody>
          <a:bodyPr wrap="square" lIns="0" rIns="0" tIns="0" bIns="0" anchor="ctr">
            <a:spAutoFit/>
          </a:bodyPr>
          <a:lstStyle/>
          <a:p>
            <a:pPr algn="ctr"/>
            <a:r>
              <a:rPr sz="800" b="1">
                <a:solidFill>
                  <a:srgbClr val="8FE0AE"/>
                </a:solidFill>
                <a:latin typeface="Consolas"/>
              </a:rPr>
              <a:t>01</a:t>
            </a:r>
          </a:p>
        </p:txBody>
      </p:sp>
      <p:sp>
        <p:nvSpPr>
          <p:cNvPr id="26" name="TextBox 25"/>
          <p:cNvSpPr txBox="1"/>
          <p:nvPr/>
        </p:nvSpPr>
        <p:spPr>
          <a:xfrm>
            <a:off x="987552" y="2459736"/>
            <a:ext cx="2029968" cy="219456"/>
          </a:xfrm>
          <a:prstGeom prst="rect">
            <a:avLst/>
          </a:prstGeom>
          <a:noFill/>
        </p:spPr>
        <p:txBody>
          <a:bodyPr wrap="square" lIns="0" rIns="0" tIns="0" bIns="0" anchor="t">
            <a:spAutoFit/>
          </a:bodyPr>
          <a:lstStyle/>
          <a:p>
            <a:pPr algn="l"/>
            <a:r>
              <a:rPr sz="860" b="1">
                <a:solidFill>
                  <a:srgbClr val="E9EDF2"/>
                </a:solidFill>
                <a:latin typeface="Consolas"/>
              </a:rPr>
              <a:t>AITER_SITUV2_A8W4</a:t>
            </a:r>
          </a:p>
        </p:txBody>
      </p:sp>
      <p:sp>
        <p:nvSpPr>
          <p:cNvPr id="27" name="TextBox 26"/>
          <p:cNvSpPr txBox="1"/>
          <p:nvPr/>
        </p:nvSpPr>
        <p:spPr>
          <a:xfrm>
            <a:off x="987552" y="2651760"/>
            <a:ext cx="2029968" cy="182880"/>
          </a:xfrm>
          <a:prstGeom prst="rect">
            <a:avLst/>
          </a:prstGeom>
          <a:noFill/>
        </p:spPr>
        <p:txBody>
          <a:bodyPr wrap="square" lIns="0" rIns="0" tIns="0" bIns="0" anchor="t">
            <a:spAutoFit/>
          </a:bodyPr>
          <a:lstStyle/>
          <a:p>
            <a:pPr algn="l"/>
            <a:r>
              <a:rPr sz="680" b="0">
                <a:solidFill>
                  <a:srgbClr val="7A8497"/>
                </a:solidFill>
                <a:latin typeface="Consolas"/>
              </a:rPr>
              <a:t>aiter · fused_moe.py</a:t>
            </a:r>
          </a:p>
        </p:txBody>
      </p:sp>
      <p:sp>
        <p:nvSpPr>
          <p:cNvPr id="28" name="TextBox 27"/>
          <p:cNvSpPr txBox="1"/>
          <p:nvPr/>
        </p:nvSpPr>
        <p:spPr>
          <a:xfrm>
            <a:off x="603504" y="2926080"/>
            <a:ext cx="2423160" cy="201168"/>
          </a:xfrm>
          <a:prstGeom prst="rect">
            <a:avLst/>
          </a:prstGeom>
          <a:noFill/>
        </p:spPr>
        <p:txBody>
          <a:bodyPr wrap="square" lIns="0" rIns="0" tIns="0" bIns="0" anchor="t">
            <a:spAutoFit/>
          </a:bodyPr>
          <a:lstStyle/>
          <a:p>
            <a:pPr algn="l"/>
            <a:r>
              <a:rPr sz="680" b="1">
                <a:solidFill>
                  <a:srgbClr val="8FBFE0"/>
                </a:solidFill>
                <a:latin typeface="Consolas"/>
              </a:rPr>
              <a:t>SHIPPED, DEFAULT OFF</a:t>
            </a:r>
          </a:p>
        </p:txBody>
      </p:sp>
      <p:sp>
        <p:nvSpPr>
          <p:cNvPr id="29" name="TextBox 28"/>
          <p:cNvSpPr txBox="1"/>
          <p:nvPr/>
        </p:nvSpPr>
        <p:spPr>
          <a:xfrm>
            <a:off x="603504" y="3127248"/>
            <a:ext cx="2423160" cy="365760"/>
          </a:xfrm>
          <a:prstGeom prst="rect">
            <a:avLst/>
          </a:prstGeom>
          <a:noFill/>
        </p:spPr>
        <p:txBody>
          <a:bodyPr wrap="square" lIns="0" rIns="0" tIns="0" bIns="0" anchor="t">
            <a:spAutoFit/>
          </a:bodyPr>
          <a:lstStyle/>
          <a:p>
            <a:pPr algn="l"/>
            <a:r>
              <a:rPr sz="860" b="1">
                <a:solidFill>
                  <a:srgbClr val="E9EDF2"/>
                </a:solidFill>
                <a:latin typeface="Microsoft YaHei"/>
              </a:rPr>
              <a:t>Tuned a8w4 kernels ship switched off</a:t>
            </a:r>
          </a:p>
        </p:txBody>
      </p:sp>
      <p:sp>
        <p:nvSpPr>
          <p:cNvPr id="30" name="Rounded Rectangle 29"/>
          <p:cNvSpPr/>
          <p:nvPr/>
        </p:nvSpPr>
        <p:spPr>
          <a:xfrm>
            <a:off x="603504" y="3547872"/>
            <a:ext cx="2423160" cy="384048"/>
          </a:xfrm>
          <a:prstGeom prst="roundRect">
            <a:avLst>
              <a:gd name="adj" fmla="val 6000"/>
            </a:avLst>
          </a:prstGeom>
          <a:solidFill>
            <a:srgbClr val="0A0F18"/>
          </a:solidFill>
          <a:ln w="952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94944" y="3584448"/>
            <a:ext cx="2240280" cy="329184"/>
          </a:xfrm>
          <a:prstGeom prst="rect">
            <a:avLst/>
          </a:prstGeom>
          <a:noFill/>
        </p:spPr>
        <p:txBody>
          <a:bodyPr wrap="square" lIns="0" rIns="0" tIns="0" bIns="0" anchor="t">
            <a:spAutoFit/>
          </a:bodyPr>
          <a:lstStyle/>
          <a:p>
            <a:pPr algn="l"/>
            <a:r>
              <a:rPr sz="640" b="0">
                <a:solidFill>
                  <a:srgbClr val="8FBFE0"/>
                </a:solidFill>
                <a:latin typeface="Consolas"/>
              </a:rPr>
              <a:t>kimik3_a8w4_tuned_fmoe.csv
AITER_SITUV2_A8W4 = 0</a:t>
            </a:r>
          </a:p>
        </p:txBody>
      </p:sp>
      <p:sp>
        <p:nvSpPr>
          <p:cNvPr id="32" name="TextBox 31"/>
          <p:cNvSpPr txBox="1"/>
          <p:nvPr/>
        </p:nvSpPr>
        <p:spPr>
          <a:xfrm>
            <a:off x="603504" y="4041648"/>
            <a:ext cx="2423160" cy="640080"/>
          </a:xfrm>
          <a:prstGeom prst="rect">
            <a:avLst/>
          </a:prstGeom>
          <a:noFill/>
        </p:spPr>
        <p:txBody>
          <a:bodyPr wrap="square" lIns="0" rIns="0" tIns="0" bIns="0" anchor="t">
            <a:spAutoFit/>
          </a:bodyPr>
          <a:lstStyle/>
          <a:p>
            <a:pPr algn="l">
              <a:lnSpc>
                <a:spcPct val="115000"/>
              </a:lnSpc>
            </a:pPr>
            <a:r>
              <a:rPr sz="700" b="0">
                <a:solidFill>
                  <a:srgbClr val="C7D0DC"/>
                </a:solidFill>
                <a:latin typeface="Microsoft YaHei"/>
              </a:rPr>
              <a:t>Kimi-K3 ships per-arch a8w4 (fp8 activation × mxfp4 weights) flydsl MoE configs, 12–30% faster per kernel than the a16w4 default. vLLM never turns them on.</a:t>
            </a:r>
          </a:p>
        </p:txBody>
      </p:sp>
      <p:sp>
        <p:nvSpPr>
          <p:cNvPr id="33" name="Rounded Rectangle 32"/>
          <p:cNvSpPr/>
          <p:nvPr/>
        </p:nvSpPr>
        <p:spPr>
          <a:xfrm>
            <a:off x="3310128" y="2322576"/>
            <a:ext cx="2715768" cy="239572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3456432" y="2468880"/>
            <a:ext cx="310896" cy="237744"/>
          </a:xfrm>
          <a:prstGeom prst="roundRect">
            <a:avLst>
              <a:gd name="adj" fmla="val 2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456432" y="2468880"/>
            <a:ext cx="310896" cy="246888"/>
          </a:xfrm>
          <a:prstGeom prst="rect">
            <a:avLst/>
          </a:prstGeom>
          <a:noFill/>
        </p:spPr>
        <p:txBody>
          <a:bodyPr wrap="square" lIns="0" rIns="0" tIns="0" bIns="0" anchor="ctr">
            <a:spAutoFit/>
          </a:bodyPr>
          <a:lstStyle/>
          <a:p>
            <a:pPr algn="ctr"/>
            <a:r>
              <a:rPr sz="800" b="1">
                <a:solidFill>
                  <a:srgbClr val="8FE0AE"/>
                </a:solidFill>
                <a:latin typeface="Consolas"/>
              </a:rPr>
              <a:t>02</a:t>
            </a:r>
          </a:p>
        </p:txBody>
      </p:sp>
      <p:sp>
        <p:nvSpPr>
          <p:cNvPr id="36" name="TextBox 35"/>
          <p:cNvSpPr txBox="1"/>
          <p:nvPr/>
        </p:nvSpPr>
        <p:spPr>
          <a:xfrm>
            <a:off x="3840480" y="2459736"/>
            <a:ext cx="2029968" cy="219456"/>
          </a:xfrm>
          <a:prstGeom prst="rect">
            <a:avLst/>
          </a:prstGeom>
          <a:noFill/>
        </p:spPr>
        <p:txBody>
          <a:bodyPr wrap="square" lIns="0" rIns="0" tIns="0" bIns="0" anchor="t">
            <a:spAutoFit/>
          </a:bodyPr>
          <a:lstStyle/>
          <a:p>
            <a:pPr algn="l"/>
            <a:r>
              <a:rPr sz="860" b="1">
                <a:solidFill>
                  <a:srgbClr val="E9EDF2"/>
                </a:solidFill>
                <a:latin typeface="Consolas"/>
              </a:rPr>
              <a:t>a8w4 = 1, on its own</a:t>
            </a:r>
          </a:p>
        </p:txBody>
      </p:sp>
      <p:sp>
        <p:nvSpPr>
          <p:cNvPr id="37" name="TextBox 36"/>
          <p:cNvSpPr txBox="1"/>
          <p:nvPr/>
        </p:nvSpPr>
        <p:spPr>
          <a:xfrm>
            <a:off x="3840480" y="2651760"/>
            <a:ext cx="2029968" cy="182880"/>
          </a:xfrm>
          <a:prstGeom prst="rect">
            <a:avLst/>
          </a:prstGeom>
          <a:noFill/>
        </p:spPr>
        <p:txBody>
          <a:bodyPr wrap="square" lIns="0" rIns="0" tIns="0" bIns="0" anchor="t">
            <a:spAutoFit/>
          </a:bodyPr>
          <a:lstStyle/>
          <a:p>
            <a:pPr algn="l"/>
            <a:r>
              <a:rPr sz="680" b="0">
                <a:solidFill>
                  <a:srgbClr val="7A8497"/>
                </a:solidFill>
                <a:latin typeface="Consolas"/>
              </a:rPr>
              <a:t>5 explore rounds · 25 hours</a:t>
            </a:r>
          </a:p>
        </p:txBody>
      </p:sp>
      <p:sp>
        <p:nvSpPr>
          <p:cNvPr id="38" name="TextBox 37"/>
          <p:cNvSpPr txBox="1"/>
          <p:nvPr/>
        </p:nvSpPr>
        <p:spPr>
          <a:xfrm>
            <a:off x="3456432" y="2926080"/>
            <a:ext cx="2423160" cy="201168"/>
          </a:xfrm>
          <a:prstGeom prst="rect">
            <a:avLst/>
          </a:prstGeom>
          <a:noFill/>
        </p:spPr>
        <p:txBody>
          <a:bodyPr wrap="square" lIns="0" rIns="0" tIns="0" bIns="0" anchor="t">
            <a:spAutoFit/>
          </a:bodyPr>
          <a:lstStyle/>
          <a:p>
            <a:pPr algn="l"/>
            <a:r>
              <a:rPr sz="680" b="1">
                <a:solidFill>
                  <a:srgbClr val="D8A66A"/>
                </a:solidFill>
                <a:latin typeface="Consolas"/>
              </a:rPr>
              <a:t>THE OBVIOUS MOVE DOES NOT LAND</a:t>
            </a:r>
          </a:p>
        </p:txBody>
      </p:sp>
      <p:sp>
        <p:nvSpPr>
          <p:cNvPr id="39" name="TextBox 38"/>
          <p:cNvSpPr txBox="1"/>
          <p:nvPr/>
        </p:nvSpPr>
        <p:spPr>
          <a:xfrm>
            <a:off x="3456432" y="3127248"/>
            <a:ext cx="2423160" cy="365760"/>
          </a:xfrm>
          <a:prstGeom prst="rect">
            <a:avLst/>
          </a:prstGeom>
          <a:noFill/>
        </p:spPr>
        <p:txBody>
          <a:bodyPr wrap="square" lIns="0" rIns="0" tIns="0" bIns="0" anchor="t">
            <a:spAutoFit/>
          </a:bodyPr>
          <a:lstStyle/>
          <a:p>
            <a:pPr algn="l"/>
            <a:r>
              <a:rPr sz="860" b="1">
                <a:solidFill>
                  <a:srgbClr val="E9EDF2"/>
                </a:solidFill>
                <a:latin typeface="Microsoft YaHei"/>
              </a:rPr>
              <a:t>Flipping the flag moves nothing</a:t>
            </a:r>
          </a:p>
        </p:txBody>
      </p:sp>
      <p:sp>
        <p:nvSpPr>
          <p:cNvPr id="40" name="Rounded Rectangle 39"/>
          <p:cNvSpPr/>
          <p:nvPr/>
        </p:nvSpPr>
        <p:spPr>
          <a:xfrm>
            <a:off x="3456432" y="3547872"/>
            <a:ext cx="2423160" cy="384048"/>
          </a:xfrm>
          <a:prstGeom prst="roundRect">
            <a:avLst>
              <a:gd name="adj" fmla="val 6000"/>
            </a:avLst>
          </a:prstGeom>
          <a:solidFill>
            <a:srgbClr val="0A0F18"/>
          </a:solidFill>
          <a:ln w="952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547872" y="3584448"/>
            <a:ext cx="2240280" cy="329184"/>
          </a:xfrm>
          <a:prstGeom prst="rect">
            <a:avLst/>
          </a:prstGeom>
          <a:noFill/>
        </p:spPr>
        <p:txBody>
          <a:bodyPr wrap="square" lIns="0" rIns="0" tIns="0" bIns="0" anchor="t">
            <a:spAutoFit/>
          </a:bodyPr>
          <a:lstStyle/>
          <a:p>
            <a:pPr algn="l"/>
            <a:r>
              <a:rPr sz="640" b="0">
                <a:solidFill>
                  <a:srgbClr val="D8A66A"/>
                </a:solidFill>
                <a:latin typeface="Consolas"/>
              </a:rPr>
              <a:t>a8w4=1  →  INTERLEAVE
decode still bf16 activation</a:t>
            </a:r>
          </a:p>
        </p:txBody>
      </p:sp>
      <p:sp>
        <p:nvSpPr>
          <p:cNvPr id="42" name="TextBox 41"/>
          <p:cNvSpPr txBox="1"/>
          <p:nvPr/>
        </p:nvSpPr>
        <p:spPr>
          <a:xfrm>
            <a:off x="3456432" y="4041648"/>
            <a:ext cx="2423160" cy="640080"/>
          </a:xfrm>
          <a:prstGeom prst="rect">
            <a:avLst/>
          </a:prstGeom>
          <a:noFill/>
        </p:spPr>
        <p:txBody>
          <a:bodyPr wrap="square" lIns="0" rIns="0" tIns="0" bIns="0" anchor="t">
            <a:spAutoFit/>
          </a:bodyPr>
          <a:lstStyle/>
          <a:p>
            <a:pPr algn="l">
              <a:lnSpc>
                <a:spcPct val="115000"/>
              </a:lnSpc>
            </a:pPr>
            <a:r>
              <a:rPr sz="700" b="0">
                <a:solidFill>
                  <a:srgbClr val="C7D0DC"/>
                </a:solidFill>
                <a:latin typeface="Microsoft YaHei"/>
              </a:rPr>
              <a:t>The flag was enabled alone and against each neighbouring AITER flag. None of the rounds cleared the keep threshold — the flag by itself was not the capability.</a:t>
            </a:r>
          </a:p>
        </p:txBody>
      </p:sp>
      <p:sp>
        <p:nvSpPr>
          <p:cNvPr id="43" name="Rounded Rectangle 42"/>
          <p:cNvSpPr/>
          <p:nvPr/>
        </p:nvSpPr>
        <p:spPr>
          <a:xfrm>
            <a:off x="6163056" y="2322576"/>
            <a:ext cx="2715768" cy="239572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6309360" y="2468880"/>
            <a:ext cx="310896" cy="237744"/>
          </a:xfrm>
          <a:prstGeom prst="roundRect">
            <a:avLst>
              <a:gd name="adj" fmla="val 2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09360" y="2468880"/>
            <a:ext cx="310896" cy="246888"/>
          </a:xfrm>
          <a:prstGeom prst="rect">
            <a:avLst/>
          </a:prstGeom>
          <a:noFill/>
        </p:spPr>
        <p:txBody>
          <a:bodyPr wrap="square" lIns="0" rIns="0" tIns="0" bIns="0" anchor="ctr">
            <a:spAutoFit/>
          </a:bodyPr>
          <a:lstStyle/>
          <a:p>
            <a:pPr algn="ctr"/>
            <a:r>
              <a:rPr sz="800" b="1">
                <a:solidFill>
                  <a:srgbClr val="8FE0AE"/>
                </a:solidFill>
                <a:latin typeface="Consolas"/>
              </a:rPr>
              <a:t>03</a:t>
            </a:r>
          </a:p>
        </p:txBody>
      </p:sp>
      <p:sp>
        <p:nvSpPr>
          <p:cNvPr id="46" name="TextBox 45"/>
          <p:cNvSpPr txBox="1"/>
          <p:nvPr/>
        </p:nvSpPr>
        <p:spPr>
          <a:xfrm>
            <a:off x="6693408" y="2459736"/>
            <a:ext cx="2029968" cy="219456"/>
          </a:xfrm>
          <a:prstGeom prst="rect">
            <a:avLst/>
          </a:prstGeom>
          <a:noFill/>
        </p:spPr>
        <p:txBody>
          <a:bodyPr wrap="square" lIns="0" rIns="0" tIns="0" bIns="0" anchor="t">
            <a:spAutoFit/>
          </a:bodyPr>
          <a:lstStyle/>
          <a:p>
            <a:pPr algn="l"/>
            <a:r>
              <a:rPr sz="860" b="1">
                <a:solidFill>
                  <a:srgbClr val="E9EDF2"/>
                </a:solidFill>
                <a:latin typeface="Consolas"/>
              </a:rPr>
              <a:t>Read the dispatch</a:t>
            </a:r>
          </a:p>
        </p:txBody>
      </p:sp>
      <p:sp>
        <p:nvSpPr>
          <p:cNvPr id="47" name="TextBox 46"/>
          <p:cNvSpPr txBox="1"/>
          <p:nvPr/>
        </p:nvSpPr>
        <p:spPr>
          <a:xfrm>
            <a:off x="6693408" y="2651760"/>
            <a:ext cx="2029968" cy="182880"/>
          </a:xfrm>
          <a:prstGeom prst="rect">
            <a:avLst/>
          </a:prstGeom>
          <a:noFill/>
        </p:spPr>
        <p:txBody>
          <a:bodyPr wrap="square" lIns="0" rIns="0" tIns="0" bIns="0" anchor="t">
            <a:spAutoFit/>
          </a:bodyPr>
          <a:lstStyle/>
          <a:p>
            <a:pPr algn="l"/>
            <a:r>
              <a:rPr sz="680" b="0">
                <a:solidFill>
                  <a:srgbClr val="7A8497"/>
                </a:solidFill>
                <a:latin typeface="Consolas"/>
              </a:rPr>
              <a:t>method carried from Case 01</a:t>
            </a:r>
          </a:p>
        </p:txBody>
      </p:sp>
      <p:sp>
        <p:nvSpPr>
          <p:cNvPr id="48" name="TextBox 47"/>
          <p:cNvSpPr txBox="1"/>
          <p:nvPr/>
        </p:nvSpPr>
        <p:spPr>
          <a:xfrm>
            <a:off x="6309360" y="2926080"/>
            <a:ext cx="2423160" cy="201168"/>
          </a:xfrm>
          <a:prstGeom prst="rect">
            <a:avLst/>
          </a:prstGeom>
          <a:noFill/>
        </p:spPr>
        <p:txBody>
          <a:bodyPr wrap="square" lIns="0" rIns="0" tIns="0" bIns="0" anchor="t">
            <a:spAutoFit/>
          </a:bodyPr>
          <a:lstStyle/>
          <a:p>
            <a:pPr algn="l"/>
            <a:r>
              <a:rPr sz="680" b="1">
                <a:solidFill>
                  <a:srgbClr val="8FBFE0"/>
                </a:solidFill>
                <a:latin typeface="Consolas"/>
              </a:rPr>
              <a:t>THE fp8 KV METHOD, CODIFIED</a:t>
            </a:r>
          </a:p>
        </p:txBody>
      </p:sp>
      <p:sp>
        <p:nvSpPr>
          <p:cNvPr id="49" name="TextBox 48"/>
          <p:cNvSpPr txBox="1"/>
          <p:nvPr/>
        </p:nvSpPr>
        <p:spPr>
          <a:xfrm>
            <a:off x="6309360" y="3127248"/>
            <a:ext cx="2423160" cy="365760"/>
          </a:xfrm>
          <a:prstGeom prst="rect">
            <a:avLst/>
          </a:prstGeom>
          <a:noFill/>
        </p:spPr>
        <p:txBody>
          <a:bodyPr wrap="square" lIns="0" rIns="0" tIns="0" bIns="0" anchor="t">
            <a:spAutoFit/>
          </a:bodyPr>
          <a:lstStyle/>
          <a:p>
            <a:pPr algn="l"/>
            <a:r>
              <a:rPr sz="860" b="1">
                <a:solidFill>
                  <a:srgbClr val="E9EDF2"/>
                </a:solidFill>
                <a:latin typeface="Microsoft YaHei"/>
              </a:rPr>
              <a:t>Find the gate, not the flag</a:t>
            </a:r>
          </a:p>
        </p:txBody>
      </p:sp>
      <p:sp>
        <p:nvSpPr>
          <p:cNvPr id="50" name="Rounded Rectangle 49"/>
          <p:cNvSpPr/>
          <p:nvPr/>
        </p:nvSpPr>
        <p:spPr>
          <a:xfrm>
            <a:off x="6309360" y="3547872"/>
            <a:ext cx="2423160" cy="384048"/>
          </a:xfrm>
          <a:prstGeom prst="roundRect">
            <a:avLst>
              <a:gd name="adj" fmla="val 6000"/>
            </a:avLst>
          </a:prstGeom>
          <a:solidFill>
            <a:srgbClr val="0A0F18"/>
          </a:solidFill>
          <a:ln w="952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400800" y="3584448"/>
            <a:ext cx="2240280" cy="329184"/>
          </a:xfrm>
          <a:prstGeom prst="rect">
            <a:avLst/>
          </a:prstGeom>
          <a:noFill/>
        </p:spPr>
        <p:txBody>
          <a:bodyPr wrap="square" lIns="0" rIns="0" tIns="0" bIns="0" anchor="t">
            <a:spAutoFit/>
          </a:bodyPr>
          <a:lstStyle/>
          <a:p>
            <a:pPr algn="l"/>
            <a:r>
              <a:rPr sz="640" b="0">
                <a:solidFill>
                  <a:srgbClr val="8FBFE0"/>
                </a:solidFill>
                <a:latin typeface="Consolas"/>
              </a:rPr>
              <a:t>fused_moe.py:614
if M &gt;= AITER_BF16_FP8_MOE_BOUND</a:t>
            </a:r>
          </a:p>
        </p:txBody>
      </p:sp>
      <p:sp>
        <p:nvSpPr>
          <p:cNvPr id="52" name="TextBox 51"/>
          <p:cNvSpPr txBox="1"/>
          <p:nvPr/>
        </p:nvSpPr>
        <p:spPr>
          <a:xfrm>
            <a:off x="6309360" y="4041648"/>
            <a:ext cx="2423160" cy="640080"/>
          </a:xfrm>
          <a:prstGeom prst="rect">
            <a:avLst/>
          </a:prstGeom>
          <a:noFill/>
        </p:spPr>
        <p:txBody>
          <a:bodyPr wrap="square" lIns="0" rIns="0" tIns="0" bIns="0" anchor="t">
            <a:spAutoFit/>
          </a:bodyPr>
          <a:lstStyle/>
          <a:p>
            <a:pPr algn="l">
              <a:lnSpc>
                <a:spcPct val="115000"/>
              </a:lnSpc>
            </a:pPr>
            <a:r>
              <a:rPr sz="700" b="0">
                <a:solidFill>
                  <a:srgbClr val="C7D0DC"/>
                </a:solidFill>
                <a:latin typeface="Microsoft YaHei"/>
              </a:rPr>
              <a:t>Case 01 established that fp8 here is selected by in-kernel conditions. The same read applied to the MoE path exposed the gate: fp8 activation is taken only at M ≥ 256 — prefill only.</a:t>
            </a:r>
          </a:p>
        </p:txBody>
      </p:sp>
      <p:sp>
        <p:nvSpPr>
          <p:cNvPr id="53" name="Rounded Rectangle 52"/>
          <p:cNvSpPr/>
          <p:nvPr/>
        </p:nvSpPr>
        <p:spPr>
          <a:xfrm>
            <a:off x="9015984" y="2322576"/>
            <a:ext cx="2715768" cy="2395728"/>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9162288" y="2468880"/>
            <a:ext cx="310896" cy="237744"/>
          </a:xfrm>
          <a:prstGeom prst="roundRect">
            <a:avLst>
              <a:gd name="adj" fmla="val 20000"/>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162288" y="2468880"/>
            <a:ext cx="310896" cy="246888"/>
          </a:xfrm>
          <a:prstGeom prst="rect">
            <a:avLst/>
          </a:prstGeom>
          <a:noFill/>
        </p:spPr>
        <p:txBody>
          <a:bodyPr wrap="square" lIns="0" rIns="0" tIns="0" bIns="0" anchor="ctr">
            <a:spAutoFit/>
          </a:bodyPr>
          <a:lstStyle/>
          <a:p>
            <a:pPr algn="ctr"/>
            <a:r>
              <a:rPr sz="800" b="1">
                <a:solidFill>
                  <a:srgbClr val="8FE0AE"/>
                </a:solidFill>
                <a:latin typeface="Consolas"/>
              </a:rPr>
              <a:t>04</a:t>
            </a:r>
          </a:p>
        </p:txBody>
      </p:sp>
      <p:sp>
        <p:nvSpPr>
          <p:cNvPr id="56" name="TextBox 55"/>
          <p:cNvSpPr txBox="1"/>
          <p:nvPr/>
        </p:nvSpPr>
        <p:spPr>
          <a:xfrm>
            <a:off x="9546336" y="2459736"/>
            <a:ext cx="2029968" cy="219456"/>
          </a:xfrm>
          <a:prstGeom prst="rect">
            <a:avLst/>
          </a:prstGeom>
          <a:noFill/>
        </p:spPr>
        <p:txBody>
          <a:bodyPr wrap="square" lIns="0" rIns="0" tIns="0" bIns="0" anchor="t">
            <a:spAutoFit/>
          </a:bodyPr>
          <a:lstStyle/>
          <a:p>
            <a:pPr algn="l"/>
            <a:r>
              <a:rPr sz="860" b="1">
                <a:solidFill>
                  <a:srgbClr val="E9EDF2"/>
                </a:solidFill>
                <a:latin typeface="Consolas"/>
              </a:rPr>
              <a:t>+ ..._MOE_BOUND = 0</a:t>
            </a:r>
          </a:p>
        </p:txBody>
      </p:sp>
      <p:sp>
        <p:nvSpPr>
          <p:cNvPr id="57" name="TextBox 56"/>
          <p:cNvSpPr txBox="1"/>
          <p:nvPr/>
        </p:nvSpPr>
        <p:spPr>
          <a:xfrm>
            <a:off x="9546336" y="2651760"/>
            <a:ext cx="2029968" cy="182880"/>
          </a:xfrm>
          <a:prstGeom prst="rect">
            <a:avLst/>
          </a:prstGeom>
          <a:noFill/>
        </p:spPr>
        <p:txBody>
          <a:bodyPr wrap="square" lIns="0" rIns="0" tIns="0" bIns="0" anchor="t">
            <a:spAutoFit/>
          </a:bodyPr>
          <a:lstStyle/>
          <a:p>
            <a:pPr algn="l"/>
            <a:r>
              <a:rPr sz="680" b="0">
                <a:solidFill>
                  <a:srgbClr val="7A8497"/>
                </a:solidFill>
                <a:latin typeface="Consolas"/>
              </a:rPr>
              <a:t>the coupled pair, moved together</a:t>
            </a:r>
          </a:p>
        </p:txBody>
      </p:sp>
      <p:sp>
        <p:nvSpPr>
          <p:cNvPr id="58" name="TextBox 57"/>
          <p:cNvSpPr txBox="1"/>
          <p:nvPr/>
        </p:nvSpPr>
        <p:spPr>
          <a:xfrm>
            <a:off x="9162288" y="2926080"/>
            <a:ext cx="2423160" cy="201168"/>
          </a:xfrm>
          <a:prstGeom prst="rect">
            <a:avLst/>
          </a:prstGeom>
          <a:noFill/>
        </p:spPr>
        <p:txBody>
          <a:bodyPr wrap="square" lIns="0" rIns="0" tIns="0" bIns="0" anchor="t">
            <a:spAutoFit/>
          </a:bodyPr>
          <a:lstStyle/>
          <a:p>
            <a:pPr algn="l"/>
            <a:r>
              <a:rPr sz="680" b="1">
                <a:solidFill>
                  <a:srgbClr val="8FE0AE"/>
                </a:solidFill>
                <a:latin typeface="Consolas"/>
              </a:rPr>
              <a:t>A PREVIOUSLY FAILING LEVER LANDS</a:t>
            </a:r>
          </a:p>
        </p:txBody>
      </p:sp>
      <p:sp>
        <p:nvSpPr>
          <p:cNvPr id="59" name="TextBox 58"/>
          <p:cNvSpPr txBox="1"/>
          <p:nvPr/>
        </p:nvSpPr>
        <p:spPr>
          <a:xfrm>
            <a:off x="9162288" y="3127248"/>
            <a:ext cx="2423160" cy="365760"/>
          </a:xfrm>
          <a:prstGeom prst="rect">
            <a:avLst/>
          </a:prstGeom>
          <a:noFill/>
        </p:spPr>
        <p:txBody>
          <a:bodyPr wrap="square" lIns="0" rIns="0" tIns="0" bIns="0" anchor="t">
            <a:spAutoFit/>
          </a:bodyPr>
          <a:lstStyle/>
          <a:p>
            <a:pPr algn="l"/>
            <a:r>
              <a:rPr sz="860" b="1">
                <a:solidFill>
                  <a:srgbClr val="E9EDF2"/>
                </a:solidFill>
                <a:latin typeface="Microsoft YaHei"/>
              </a:rPr>
              <a:t>fp8 activation reaches decode</a:t>
            </a:r>
          </a:p>
        </p:txBody>
      </p:sp>
      <p:sp>
        <p:nvSpPr>
          <p:cNvPr id="60" name="Rounded Rectangle 59"/>
          <p:cNvSpPr/>
          <p:nvPr/>
        </p:nvSpPr>
        <p:spPr>
          <a:xfrm>
            <a:off x="9162288" y="3547872"/>
            <a:ext cx="2423160" cy="384048"/>
          </a:xfrm>
          <a:prstGeom prst="roundRect">
            <a:avLst>
              <a:gd name="adj" fmla="val 6000"/>
            </a:avLst>
          </a:prstGeom>
          <a:solidFill>
            <a:srgbClr val="0A0F18"/>
          </a:solidFill>
          <a:ln w="952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253728" y="3584448"/>
            <a:ext cx="2240280" cy="329184"/>
          </a:xfrm>
          <a:prstGeom prst="rect">
            <a:avLst/>
          </a:prstGeom>
          <a:noFill/>
        </p:spPr>
        <p:txBody>
          <a:bodyPr wrap="square" lIns="0" rIns="0" tIns="0" bIns="0" anchor="t">
            <a:spAutoFit/>
          </a:bodyPr>
          <a:lstStyle/>
          <a:p>
            <a:pPr algn="l"/>
            <a:r>
              <a:rPr sz="640" b="0">
                <a:solidFill>
                  <a:srgbClr val="8FE0AE"/>
                </a:solidFill>
                <a:latin typeface="Consolas"/>
              </a:rPr>
              <a:t>bound=0  →  fp8 at every M
818.61 → 859.31 tok/s/GPU</a:t>
            </a:r>
          </a:p>
        </p:txBody>
      </p:sp>
      <p:sp>
        <p:nvSpPr>
          <p:cNvPr id="62" name="TextBox 61"/>
          <p:cNvSpPr txBox="1"/>
          <p:nvPr/>
        </p:nvSpPr>
        <p:spPr>
          <a:xfrm>
            <a:off x="9162288" y="4041648"/>
            <a:ext cx="2423160" cy="640080"/>
          </a:xfrm>
          <a:prstGeom prst="rect">
            <a:avLst/>
          </a:prstGeom>
          <a:noFill/>
        </p:spPr>
        <p:txBody>
          <a:bodyPr wrap="square" lIns="0" rIns="0" tIns="0" bIns="0" anchor="t">
            <a:spAutoFit/>
          </a:bodyPr>
          <a:lstStyle/>
          <a:p>
            <a:pPr algn="l">
              <a:lnSpc>
                <a:spcPct val="115000"/>
              </a:lnSpc>
            </a:pPr>
            <a:r>
              <a:rPr sz="700" b="0">
                <a:solidFill>
                  <a:srgbClr val="C7D0DC"/>
                </a:solidFill>
                <a:latin typeface="Microsoft YaHei"/>
              </a:rPr>
              <a:t>Decode is where MoE GEMM time concentrates. Moved as a set the pair lands +4.97% with GSM8K neutral — apart, the same two variables are inert.</a:t>
            </a:r>
          </a:p>
        </p:txBody>
      </p:sp>
      <p:sp>
        <p:nvSpPr>
          <p:cNvPr id="63" name="Rounded Rectangle 62"/>
          <p:cNvSpPr/>
          <p:nvPr/>
        </p:nvSpPr>
        <p:spPr>
          <a:xfrm>
            <a:off x="457200" y="4864608"/>
            <a:ext cx="5532120" cy="1060704"/>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40080" y="4956048"/>
            <a:ext cx="5120640" cy="201168"/>
          </a:xfrm>
          <a:prstGeom prst="rect">
            <a:avLst/>
          </a:prstGeom>
          <a:noFill/>
        </p:spPr>
        <p:txBody>
          <a:bodyPr wrap="square" lIns="0" rIns="0" tIns="0" bIns="0" anchor="t">
            <a:spAutoFit/>
          </a:bodyPr>
          <a:lstStyle/>
          <a:p>
            <a:pPr algn="l"/>
            <a:r>
              <a:rPr sz="819" b="1">
                <a:solidFill>
                  <a:srgbClr val="E9EDF2"/>
                </a:solidFill>
                <a:latin typeface="Microsoft YaHei"/>
              </a:rPr>
              <a:t>MEASURED RESULT</a:t>
            </a:r>
            <a:r>
              <a:rPr sz="680" b="0">
                <a:solidFill>
                  <a:srgbClr val="7A8497"/>
                </a:solidFill>
                <a:latin typeface="Consolas"/>
              </a:rPr>
              <a:t>   8x MI355X · Kimi-K3 MXFP4 · ISL 8K / OSL 1K</a:t>
            </a:r>
          </a:p>
        </p:txBody>
      </p:sp>
      <p:sp>
        <p:nvSpPr>
          <p:cNvPr id="65" name="TextBox 64"/>
          <p:cNvSpPr txBox="1"/>
          <p:nvPr/>
        </p:nvSpPr>
        <p:spPr>
          <a:xfrm>
            <a:off x="658368" y="5193792"/>
            <a:ext cx="2286000" cy="182880"/>
          </a:xfrm>
          <a:prstGeom prst="rect">
            <a:avLst/>
          </a:prstGeom>
          <a:noFill/>
        </p:spPr>
        <p:txBody>
          <a:bodyPr wrap="square" lIns="0" rIns="0" tIns="0" bIns="0" anchor="t">
            <a:spAutoFit/>
          </a:bodyPr>
          <a:lstStyle/>
          <a:p>
            <a:pPr algn="l"/>
            <a:r>
              <a:rPr sz="760" b="1">
                <a:solidFill>
                  <a:srgbClr val="E9EDF2"/>
                </a:solidFill>
                <a:latin typeface="Microsoft YaHei"/>
              </a:rPr>
              <a:t>› a8w4 + bound=0, single lever</a:t>
            </a:r>
          </a:p>
        </p:txBody>
      </p:sp>
      <p:sp>
        <p:nvSpPr>
          <p:cNvPr id="66" name="TextBox 65"/>
          <p:cNvSpPr txBox="1"/>
          <p:nvPr/>
        </p:nvSpPr>
        <p:spPr>
          <a:xfrm>
            <a:off x="2999232" y="5193792"/>
            <a:ext cx="1737360" cy="182880"/>
          </a:xfrm>
          <a:prstGeom prst="rect">
            <a:avLst/>
          </a:prstGeom>
          <a:noFill/>
        </p:spPr>
        <p:txBody>
          <a:bodyPr wrap="square" lIns="0" rIns="0" tIns="0" bIns="0" anchor="t">
            <a:spAutoFit/>
          </a:bodyPr>
          <a:lstStyle/>
          <a:p>
            <a:pPr algn="l"/>
            <a:r>
              <a:rPr sz="700" b="0">
                <a:solidFill>
                  <a:srgbClr val="6E95AB"/>
                </a:solidFill>
                <a:latin typeface="Consolas"/>
              </a:rPr>
              <a:t>818.61 → 859.31 tok/s/GPU</a:t>
            </a:r>
          </a:p>
        </p:txBody>
      </p:sp>
      <p:sp>
        <p:nvSpPr>
          <p:cNvPr id="67" name="TextBox 66"/>
          <p:cNvSpPr txBox="1"/>
          <p:nvPr/>
        </p:nvSpPr>
        <p:spPr>
          <a:xfrm>
            <a:off x="4754880" y="5193792"/>
            <a:ext cx="1097280" cy="182880"/>
          </a:xfrm>
          <a:prstGeom prst="rect">
            <a:avLst/>
          </a:prstGeom>
          <a:noFill/>
        </p:spPr>
        <p:txBody>
          <a:bodyPr wrap="square" lIns="0" rIns="0" tIns="0" bIns="0" anchor="t">
            <a:spAutoFit/>
          </a:bodyPr>
          <a:lstStyle/>
          <a:p>
            <a:pPr algn="l"/>
            <a:r>
              <a:rPr sz="800" b="1">
                <a:solidFill>
                  <a:srgbClr val="8FE0AE"/>
                </a:solidFill>
                <a:latin typeface="Consolas"/>
              </a:rPr>
              <a:t>+4.97%</a:t>
            </a:r>
          </a:p>
        </p:txBody>
      </p:sp>
      <p:sp>
        <p:nvSpPr>
          <p:cNvPr id="68" name="TextBox 67"/>
          <p:cNvSpPr txBox="1"/>
          <p:nvPr/>
        </p:nvSpPr>
        <p:spPr>
          <a:xfrm>
            <a:off x="658368" y="5422392"/>
            <a:ext cx="2286000" cy="182880"/>
          </a:xfrm>
          <a:prstGeom prst="rect">
            <a:avLst/>
          </a:prstGeom>
          <a:noFill/>
        </p:spPr>
        <p:txBody>
          <a:bodyPr wrap="square" lIns="0" rIns="0" tIns="0" bIns="0" anchor="t">
            <a:spAutoFit/>
          </a:bodyPr>
          <a:lstStyle/>
          <a:p>
            <a:pPr algn="l"/>
            <a:r>
              <a:rPr sz="760" b="1">
                <a:solidFill>
                  <a:srgbClr val="E9EDF2"/>
                </a:solidFill>
                <a:latin typeface="Microsoft YaHei"/>
              </a:rPr>
              <a:t>› session baseline → stack</a:t>
            </a:r>
          </a:p>
        </p:txBody>
      </p:sp>
      <p:sp>
        <p:nvSpPr>
          <p:cNvPr id="69" name="TextBox 68"/>
          <p:cNvSpPr txBox="1"/>
          <p:nvPr/>
        </p:nvSpPr>
        <p:spPr>
          <a:xfrm>
            <a:off x="2999232" y="5422392"/>
            <a:ext cx="1737360" cy="182880"/>
          </a:xfrm>
          <a:prstGeom prst="rect">
            <a:avLst/>
          </a:prstGeom>
          <a:noFill/>
        </p:spPr>
        <p:txBody>
          <a:bodyPr wrap="square" lIns="0" rIns="0" tIns="0" bIns="0" anchor="t">
            <a:spAutoFit/>
          </a:bodyPr>
          <a:lstStyle/>
          <a:p>
            <a:pPr algn="l"/>
            <a:r>
              <a:rPr sz="700" b="0">
                <a:solidFill>
                  <a:srgbClr val="6E95AB"/>
                </a:solidFill>
                <a:latin typeface="Consolas"/>
              </a:rPr>
              <a:t>812.24 → 888.80 tok/s/GPU</a:t>
            </a:r>
          </a:p>
        </p:txBody>
      </p:sp>
      <p:sp>
        <p:nvSpPr>
          <p:cNvPr id="70" name="TextBox 69"/>
          <p:cNvSpPr txBox="1"/>
          <p:nvPr/>
        </p:nvSpPr>
        <p:spPr>
          <a:xfrm>
            <a:off x="4754880" y="5422392"/>
            <a:ext cx="1097280" cy="182880"/>
          </a:xfrm>
          <a:prstGeom prst="rect">
            <a:avLst/>
          </a:prstGeom>
          <a:noFill/>
        </p:spPr>
        <p:txBody>
          <a:bodyPr wrap="square" lIns="0" rIns="0" tIns="0" bIns="0" anchor="t">
            <a:spAutoFit/>
          </a:bodyPr>
          <a:lstStyle/>
          <a:p>
            <a:pPr algn="l"/>
            <a:r>
              <a:rPr sz="800" b="1">
                <a:solidFill>
                  <a:srgbClr val="8FE0AE"/>
                </a:solidFill>
                <a:latin typeface="Consolas"/>
              </a:rPr>
              <a:t>+9.43%</a:t>
            </a:r>
          </a:p>
        </p:txBody>
      </p:sp>
      <p:sp>
        <p:nvSpPr>
          <p:cNvPr id="71" name="TextBox 70"/>
          <p:cNvSpPr txBox="1"/>
          <p:nvPr/>
        </p:nvSpPr>
        <p:spPr>
          <a:xfrm>
            <a:off x="658368" y="5650992"/>
            <a:ext cx="2286000" cy="182880"/>
          </a:xfrm>
          <a:prstGeom prst="rect">
            <a:avLst/>
          </a:prstGeom>
          <a:noFill/>
        </p:spPr>
        <p:txBody>
          <a:bodyPr wrap="square" lIns="0" rIns="0" tIns="0" bIns="0" anchor="t">
            <a:spAutoFit/>
          </a:bodyPr>
          <a:lstStyle/>
          <a:p>
            <a:pPr algn="l"/>
            <a:r>
              <a:rPr sz="760" b="1">
                <a:solidFill>
                  <a:srgbClr val="E9EDF2"/>
                </a:solidFill>
                <a:latin typeface="Microsoft YaHei"/>
              </a:rPr>
              <a:t>› GSM8K strict-match</a:t>
            </a:r>
          </a:p>
        </p:txBody>
      </p:sp>
      <p:sp>
        <p:nvSpPr>
          <p:cNvPr id="72" name="TextBox 71"/>
          <p:cNvSpPr txBox="1"/>
          <p:nvPr/>
        </p:nvSpPr>
        <p:spPr>
          <a:xfrm>
            <a:off x="2999232" y="5650992"/>
            <a:ext cx="1737360" cy="182880"/>
          </a:xfrm>
          <a:prstGeom prst="rect">
            <a:avLst/>
          </a:prstGeom>
          <a:noFill/>
        </p:spPr>
        <p:txBody>
          <a:bodyPr wrap="square" lIns="0" rIns="0" tIns="0" bIns="0" anchor="t">
            <a:spAutoFit/>
          </a:bodyPr>
          <a:lstStyle/>
          <a:p>
            <a:pPr algn="l"/>
            <a:r>
              <a:rPr sz="700" b="0">
                <a:solidFill>
                  <a:srgbClr val="6E95AB"/>
                </a:solidFill>
                <a:latin typeface="Consolas"/>
              </a:rPr>
              <a:t>0.9689 → 0.9704</a:t>
            </a:r>
          </a:p>
        </p:txBody>
      </p:sp>
      <p:sp>
        <p:nvSpPr>
          <p:cNvPr id="73" name="TextBox 72"/>
          <p:cNvSpPr txBox="1"/>
          <p:nvPr/>
        </p:nvSpPr>
        <p:spPr>
          <a:xfrm>
            <a:off x="4754880" y="5650992"/>
            <a:ext cx="1097280" cy="182880"/>
          </a:xfrm>
          <a:prstGeom prst="rect">
            <a:avLst/>
          </a:prstGeom>
          <a:noFill/>
        </p:spPr>
        <p:txBody>
          <a:bodyPr wrap="square" lIns="0" rIns="0" tIns="0" bIns="0" anchor="t">
            <a:spAutoFit/>
          </a:bodyPr>
          <a:lstStyle/>
          <a:p>
            <a:pPr algn="l"/>
            <a:r>
              <a:rPr sz="660" b="1">
                <a:solidFill>
                  <a:srgbClr val="8FE0AE"/>
                </a:solidFill>
                <a:latin typeface="Consolas"/>
              </a:rPr>
              <a:t>gate passed</a:t>
            </a:r>
          </a:p>
        </p:txBody>
      </p:sp>
      <p:sp>
        <p:nvSpPr>
          <p:cNvPr id="74" name="Rounded Rectangle 73"/>
          <p:cNvSpPr/>
          <p:nvPr/>
        </p:nvSpPr>
        <p:spPr>
          <a:xfrm>
            <a:off x="6199632" y="4864608"/>
            <a:ext cx="5532120" cy="1060704"/>
          </a:xfrm>
          <a:prstGeom prst="roundRect">
            <a:avLst>
              <a:gd name="adj" fmla="val 6000"/>
            </a:avLst>
          </a:prstGeom>
          <a:solidFill>
            <a:srgbClr val="0E141E"/>
          </a:solidFill>
          <a:ln w="9525">
            <a:solidFill>
              <a:srgbClr val="1E28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382512" y="4956048"/>
            <a:ext cx="5120640" cy="201168"/>
          </a:xfrm>
          <a:prstGeom prst="rect">
            <a:avLst/>
          </a:prstGeom>
          <a:noFill/>
        </p:spPr>
        <p:txBody>
          <a:bodyPr wrap="square" lIns="0" rIns="0" tIns="0" bIns="0" anchor="t">
            <a:spAutoFit/>
          </a:bodyPr>
          <a:lstStyle/>
          <a:p>
            <a:pPr algn="l"/>
            <a:r>
              <a:rPr sz="819" b="1">
                <a:solidFill>
                  <a:srgbClr val="E9EDF2"/>
                </a:solidFill>
                <a:latin typeface="Microsoft YaHei"/>
              </a:rPr>
              <a:t>THE STEP THAT GENERALIZES</a:t>
            </a:r>
            <a:r>
              <a:rPr sz="680" b="0">
                <a:solidFill>
                  <a:srgbClr val="7A8497"/>
                </a:solidFill>
                <a:latin typeface="Consolas"/>
              </a:rPr>
              <a:t>   reusable on any framework env flag</a:t>
            </a:r>
          </a:p>
        </p:txBody>
      </p:sp>
      <p:sp>
        <p:nvSpPr>
          <p:cNvPr id="76" name="TextBox 75"/>
          <p:cNvSpPr txBox="1"/>
          <p:nvPr/>
        </p:nvSpPr>
        <p:spPr>
          <a:xfrm>
            <a:off x="6382512" y="5193792"/>
            <a:ext cx="731520" cy="182880"/>
          </a:xfrm>
          <a:prstGeom prst="rect">
            <a:avLst/>
          </a:prstGeom>
          <a:noFill/>
        </p:spPr>
        <p:txBody>
          <a:bodyPr wrap="square" lIns="0" rIns="0" tIns="0" bIns="0" anchor="t">
            <a:spAutoFit/>
          </a:bodyPr>
          <a:lstStyle/>
          <a:p>
            <a:pPr algn="l"/>
            <a:r>
              <a:rPr sz="700" b="1">
                <a:solidFill>
                  <a:srgbClr val="8FBFE0"/>
                </a:solidFill>
                <a:latin typeface="Consolas"/>
              </a:rPr>
              <a:t>Symptom</a:t>
            </a:r>
          </a:p>
        </p:txBody>
      </p:sp>
      <p:sp>
        <p:nvSpPr>
          <p:cNvPr id="77" name="TextBox 76"/>
          <p:cNvSpPr txBox="1"/>
          <p:nvPr/>
        </p:nvSpPr>
        <p:spPr>
          <a:xfrm>
            <a:off x="7187184" y="5184648"/>
            <a:ext cx="4389120" cy="201168"/>
          </a:xfrm>
          <a:prstGeom prst="rect">
            <a:avLst/>
          </a:prstGeom>
          <a:noFill/>
        </p:spPr>
        <p:txBody>
          <a:bodyPr wrap="square" lIns="0" rIns="0" tIns="0" bIns="0" anchor="t">
            <a:spAutoFit/>
          </a:bodyPr>
          <a:lstStyle/>
          <a:p>
            <a:pPr algn="l"/>
            <a:r>
              <a:rPr sz="680" b="0">
                <a:solidFill>
                  <a:srgbClr val="C7D0DC"/>
                </a:solidFill>
                <a:latin typeface="Microsoft YaHei"/>
              </a:rPr>
              <a:t>a documented env flag is enabled and nothing measurable changes</a:t>
            </a:r>
          </a:p>
        </p:txBody>
      </p:sp>
      <p:sp>
        <p:nvSpPr>
          <p:cNvPr id="78" name="TextBox 77"/>
          <p:cNvSpPr txBox="1"/>
          <p:nvPr/>
        </p:nvSpPr>
        <p:spPr>
          <a:xfrm>
            <a:off x="6382512" y="5422392"/>
            <a:ext cx="731520" cy="182880"/>
          </a:xfrm>
          <a:prstGeom prst="rect">
            <a:avLst/>
          </a:prstGeom>
          <a:noFill/>
        </p:spPr>
        <p:txBody>
          <a:bodyPr wrap="square" lIns="0" rIns="0" tIns="0" bIns="0" anchor="t">
            <a:spAutoFit/>
          </a:bodyPr>
          <a:lstStyle/>
          <a:p>
            <a:pPr algn="l"/>
            <a:r>
              <a:rPr sz="700" b="1">
                <a:solidFill>
                  <a:srgbClr val="8FBFE0"/>
                </a:solidFill>
                <a:latin typeface="Consolas"/>
              </a:rPr>
              <a:t>Step</a:t>
            </a:r>
          </a:p>
        </p:txBody>
      </p:sp>
      <p:sp>
        <p:nvSpPr>
          <p:cNvPr id="79" name="TextBox 78"/>
          <p:cNvSpPr txBox="1"/>
          <p:nvPr/>
        </p:nvSpPr>
        <p:spPr>
          <a:xfrm>
            <a:off x="7187184" y="5413248"/>
            <a:ext cx="4389120" cy="201168"/>
          </a:xfrm>
          <a:prstGeom prst="rect">
            <a:avLst/>
          </a:prstGeom>
          <a:noFill/>
        </p:spPr>
        <p:txBody>
          <a:bodyPr wrap="square" lIns="0" rIns="0" tIns="0" bIns="0" anchor="t">
            <a:spAutoFit/>
          </a:bodyPr>
          <a:lstStyle/>
          <a:p>
            <a:pPr algn="l"/>
            <a:r>
              <a:rPr sz="680" b="0">
                <a:solidFill>
                  <a:srgbClr val="C7D0DC"/>
                </a:solidFill>
                <a:latin typeface="Microsoft YaHei"/>
              </a:rPr>
              <a:t>read the kernel dispatch that the flag selects; locate its gate condition</a:t>
            </a:r>
          </a:p>
        </p:txBody>
      </p:sp>
      <p:sp>
        <p:nvSpPr>
          <p:cNvPr id="80" name="TextBox 79"/>
          <p:cNvSpPr txBox="1"/>
          <p:nvPr/>
        </p:nvSpPr>
        <p:spPr>
          <a:xfrm>
            <a:off x="6382512" y="5650992"/>
            <a:ext cx="731520" cy="182880"/>
          </a:xfrm>
          <a:prstGeom prst="rect">
            <a:avLst/>
          </a:prstGeom>
          <a:noFill/>
        </p:spPr>
        <p:txBody>
          <a:bodyPr wrap="square" lIns="0" rIns="0" tIns="0" bIns="0" anchor="t">
            <a:spAutoFit/>
          </a:bodyPr>
          <a:lstStyle/>
          <a:p>
            <a:pPr algn="l"/>
            <a:r>
              <a:rPr sz="700" b="1">
                <a:solidFill>
                  <a:srgbClr val="8FBFE0"/>
                </a:solidFill>
                <a:latin typeface="Consolas"/>
              </a:rPr>
              <a:t>Rule</a:t>
            </a:r>
          </a:p>
        </p:txBody>
      </p:sp>
      <p:sp>
        <p:nvSpPr>
          <p:cNvPr id="81" name="TextBox 80"/>
          <p:cNvSpPr txBox="1"/>
          <p:nvPr/>
        </p:nvSpPr>
        <p:spPr>
          <a:xfrm>
            <a:off x="7187184" y="5641848"/>
            <a:ext cx="4389120" cy="201168"/>
          </a:xfrm>
          <a:prstGeom prst="rect">
            <a:avLst/>
          </a:prstGeom>
          <a:noFill/>
        </p:spPr>
        <p:txBody>
          <a:bodyPr wrap="square" lIns="0" rIns="0" tIns="0" bIns="0" anchor="t">
            <a:spAutoFit/>
          </a:bodyPr>
          <a:lstStyle/>
          <a:p>
            <a:pPr algn="l"/>
            <a:r>
              <a:rPr sz="680" b="0">
                <a:solidFill>
                  <a:srgbClr val="C7D0DC"/>
                </a:solidFill>
                <a:latin typeface="Microsoft YaHei"/>
              </a:rPr>
              <a:t>the gate is a second variable — test the set atomically, never one at a time</a:t>
            </a:r>
          </a:p>
        </p:txBody>
      </p:sp>
      <p:sp>
        <p:nvSpPr>
          <p:cNvPr id="82" name="Rounded Rectangle 81"/>
          <p:cNvSpPr/>
          <p:nvPr/>
        </p:nvSpPr>
        <p:spPr>
          <a:xfrm>
            <a:off x="457200" y="6053328"/>
            <a:ext cx="11274552" cy="420624"/>
          </a:xfrm>
          <a:prstGeom prst="roundRect">
            <a:avLst>
              <a:gd name="adj" fmla="val 6000"/>
            </a:avLst>
          </a:prstGeom>
          <a:solidFill>
            <a:srgbClr val="0E141E"/>
          </a:solidFill>
          <a:ln w="9525">
            <a:solidFill>
              <a:srgbClr val="86B7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40080" y="6163056"/>
            <a:ext cx="10972800" cy="219456"/>
          </a:xfrm>
          <a:prstGeom prst="rect">
            <a:avLst/>
          </a:prstGeom>
          <a:noFill/>
        </p:spPr>
        <p:txBody>
          <a:bodyPr wrap="square" lIns="0" rIns="0" tIns="0" bIns="0" anchor="t">
            <a:spAutoFit/>
          </a:bodyPr>
          <a:lstStyle/>
          <a:p>
            <a:pPr algn="l"/>
            <a:r>
              <a:rPr sz="800" b="1">
                <a:solidFill>
                  <a:srgbClr val="86B7D6"/>
                </a:solidFill>
                <a:latin typeface="Consolas"/>
              </a:rPr>
              <a:t>THE COMPOUNDING EFFECT   </a:t>
            </a:r>
            <a:r>
              <a:rPr sz="960" b="1">
                <a:solidFill>
                  <a:srgbClr val="8FE0AE"/>
                </a:solidFill>
                <a:latin typeface="Microsoft YaHei"/>
              </a:rPr>
              <a:t>Case 01 did not just unlock an fp8 KV cache — it produced a method. </a:t>
            </a:r>
            <a:r>
              <a:rPr sz="960" b="0">
                <a:solidFill>
                  <a:srgbClr val="C7D0DC"/>
                </a:solidFill>
                <a:latin typeface="Microsoft YaHei"/>
              </a:rPr>
              <a:t>Case 03 runs it again on a different kernel family, at zero source cost.</a:t>
            </a:r>
          </a:p>
        </p:txBody>
      </p:sp>
      <p:sp>
        <p:nvSpPr>
          <p:cNvPr id="84" name="TextBox 83"/>
          <p:cNvSpPr txBox="1"/>
          <p:nvPr/>
        </p:nvSpPr>
        <p:spPr>
          <a:xfrm>
            <a:off x="457200" y="6620256"/>
            <a:ext cx="11274552" cy="164592"/>
          </a:xfrm>
          <a:prstGeom prst="rect">
            <a:avLst/>
          </a:prstGeom>
          <a:noFill/>
        </p:spPr>
        <p:txBody>
          <a:bodyPr wrap="square" lIns="0" rIns="0" tIns="0" bIns="0" anchor="t">
            <a:spAutoFit/>
          </a:bodyPr>
          <a:lstStyle/>
          <a:p>
            <a:pPr algn="l"/>
            <a:r>
              <a:rPr sz="650" b="0">
                <a:solidFill>
                  <a:srgbClr val="3B4760"/>
                </a:solidFill>
                <a:latin typeface="Consolas"/>
              </a:rPr>
              <a:t>Kimi-K3 MXFP4 · MoE GEMM is 20.3% of GPU time (gemm1 13.4% + gemm2 6.9%) · gate located and the coupled pair pre-validated by the kernel_switch GPU specialist on 8 leased cards, then accuracy-gated in-loop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198e8dea-a4f3-4850-b16a-fd6d2b1302b4}" enabled="1" method="Privileged" siteId="{3dd8961f-e488-4e60-8e11-a82d994e183d}" contentBits="1" removed="0"/>
</clbl:labelList>
</file>

<file path=docProps/app.xml><?xml version="1.0" encoding="utf-8"?>
<Properties xmlns="http://schemas.openxmlformats.org/officeDocument/2006/extended-properties" xmlns:vt="http://schemas.openxmlformats.org/officeDocument/2006/docPropsVTypes">
  <TotalTime>1</TotalTime>
  <Words>960</Words>
  <Application>Microsoft Office PowerPoint</Application>
  <PresentationFormat>Widescreen</PresentationFormat>
  <Paragraphs>93</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Microsoft YaHei</vt:lpstr>
      <vt:lpstr>Aptos</vt:lpstr>
      <vt:lpstr>Arial</vt:lpstr>
      <vt:lpstr>Calibri</vt:lpstr>
      <vt:lpstr>Consolas</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Gong, Zheng</cp:lastModifiedBy>
  <cp:revision>2</cp:revision>
  <dcterms:created xsi:type="dcterms:W3CDTF">2013-01-27T09:14:16Z</dcterms:created>
  <dcterms:modified xsi:type="dcterms:W3CDTF">2026-08-03T09:47:42Z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AMD General</vt:lpwstr>
  </property>
</Properties>
</file>